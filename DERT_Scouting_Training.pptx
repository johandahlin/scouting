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FF2992-AF2C-EBAF-9865-EA7C6E596936}">
          <p14:sldIdLst>
            <p14:sldId id="256"/>
            <p14:sldId id="257"/>
          </p14:sldIdLst>
        </p14:section>
        <p14:section name="Part 1 · Scouts" id="{5E417200-01A6-EA72-AE26-4D0E18B63E94}">
          <p14:sldIdLst>
            <p14:sldId id="258"/>
            <p14:sldId id="259"/>
            <p14:sldId id="260"/>
            <p14:sldId id="261"/>
            <p14:sldId id="262"/>
            <p14:sldId id="263"/>
            <p14:sldId id="264"/>
            <p14:sldId id="265"/>
          </p14:sldIdLst>
        </p14:section>
        <p14:section name="Part 2 · Data lead" id="{DF931B22-14CD-19E9-96D0-0AD5471B2899}">
          <p14:sldIdLst>
            <p14:sldId id="266"/>
            <p14:sldId id="267"/>
            <p14:sldId id="268"/>
            <p14:sldId id="269"/>
            <p14:sldId id="270"/>
            <p14:sldId id="271"/>
            <p14:sldId id="272"/>
            <p14:sldId id="273"/>
          </p14:sldIdLst>
        </p14:section>
        <p14:section name="Part 3 · Dashboard" id="{E9D409E7-3F90-F23E-38AD-D9F7937D84A6}">
          <p14:sldIdLst>
            <p14:sldId id="274"/>
            <p14:sldId id="275"/>
            <p14:sldId id="276"/>
            <p14:sldId id="277"/>
          </p14:sldIdLst>
        </p14:section>
        <p14:section name="Wrap-up" id="{DE8835B4-68BD-A9D1-662C-A0A65F547C50}">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256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014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training covers the whole scouting chain: scouts fill in the form on their phones, the data lead scans the QR codes into Excel, and the strategy team uses the dashboard to build the pick list. It takes about 20 minutes. Everyone should watch Part 1; data leads and strategy should stay for Parts 2 and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first. Each robot on the field has one scout watching it, so six scouts per match. The phone turns the answers into a QR code. The data lead scans that QR code with a scanner and it becomes one row in Excel. The dashboard reads the Excel file and ranks every team. No internet needed in the stands.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for every scout. By the end you should be able to install the app, fill in a match and hand over the QR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before the event, on Wi-Fi. The poster is in the pit. Adding it to the home screen makes it open like a normal app, and opening it once on Wi-Fi saves it on the phone so it works in the stands without signal. Android users: use Chrome and the three-dot menu.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top card while the robots are being set up. Match number and team number are on the match schedule and the field screen. Double-check the team number: a wrong team number puts the data on the wrong robot. The fields marked as staying are kept when you tap Next match, so you set them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answers. Counters for anything you count. Pick-one buttons: tapping the same answer again clears it. Pick-all buttons show a check mark. And the red star fields must be filled in, otherwise you get a red box and no QR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 is 2 minutes 40 seconds: 20 seconds of autonomous, then 2:20 of teleop, and the last 30 seconds is endgame. The form has a card for each part. Keep your eyes on your robot and tap as things happen. In teleop, only count fuel that goes in while your alliance's Hub is active.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the buzzer, while you still remember. Ratings are compared to the other robots you've seen today. The observations box is the most valuable part for alliance selection: write something a number can't show.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Submit and show QR. Take the phone to the data lead and keep it on screen until they say got it. Only then tap Next match: it keeps your name, alliance and station, adds one to the match number and clears the rest, including the team number, which changes every match.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mistake is tapping Next match before the QR code was scanned: that match is gone. Second most common: a wrong team number. If the app closes by accident, just open it again, the answers are saved on the phone.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is for the data lead. If you've never used Excel, that's fine: you only need to click one cell and pull a trigger. We'll go through the setup, scanning, and fixing mistakes.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scanner acts like a keyboard. When it reads the QR code it types each answer and presses Tab between them, and Enter at the end. In Excel, Tab moves one cell to the right and Enter goes to the next row, so one scan fills one row.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never used Excel: it's a big grid. Columns have letters, rows have numbers, and each box is a cell, named by its column and row, like A5. The green border shows the selected cell, and the Name Box in the top-left tells you which one it is. The tabs at the bottom switch between the sheets in the workbook.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do once per laptop. First, files that came from email or the internet open in Protected View, where you can't type or scan: click Enable Editing. Second, turn off AutoComplete. Otherwise Excel tries to finish what the scanner types, for example Depot becomes Depot; Outpost, and the data is wrong without anyone noticing.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first match, test the scanner in Notepad, where nothing can go wrong. Make a practice match on any phone and scan it. You should see the answers with gaps between them, and the cursor should jump to a new line. If you see strange characters, the scanner's keyboard language doesn't match Windows: check the scanner manual.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job during the event. Go to the Scans sheet, click the first empty cell in column A, and scan. The scanner types the whole match into that row and Excel jumps to the start of the next row by itself, so you can scan the next phone straight away. Save every few scans with Ctrl+S.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happen and they're easy to fix. Ctrl+Z undoes the last thing. To remove a whole row, right-click the grey row number on the left and choose Delete, then scan that phone again. Never change the teal header row: the formulas and the dashboard find the data by those names.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never type anything on these two sheets, they update by themselves after each scan. Team Summary has one row per team with averages, coloured from red to green. The pick list on the right of that sheet is sorted by average points. Team Lookup is the quickest way to answer what do we know about team X: type the number in the yellow cell.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is for whoever builds the pick list. The dashboard reads the same Excel file, so the data lead and strategy team just need to agree on where the file 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runs in a web browser and reads the saved Excel file. It does not update by itself: each time you want the latest data, save in Excel and load the file again. It's at johandahlin.github.io/Scouting/dashboard.html, or open dashboard.html from the Scouting folder if there's no internet.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gets a score from 0 to 100. Each stat is scaled from the worst team at this event to the best, and the sliders decide how much each stat counts. Start with a preset, then adjust. The check and cross marks are saved in this browser, which is handy during alliance selection.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 team in the pick list to open its card. The small boxes compare the team to the event average. The bar chart shows each match, so you can see if a team is getting better or had one bad match. Scout notes are listed under the chart. The scatter plot shows every team at once: top-right means strong in both auto and teleop.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handy at events. Most problems come from the cursor not being in column A or from AutoComplete. When in doubt: delete the row and scan again, the phone still has the QR code until the scout taps Next match.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Before the event: phones, laptop and scanner ready. During matches: scan right away and save often. Before alliance selection: load the newest file into the dashboard.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RT Title">
    <p:bg>
      <p:bgPr>
        <a:solidFill>
          <a:schemeClr val="tx1"/>
        </a:solidFill>
        <a:effectLst/>
      </p:bgPr>
    </p:bg>
    <p:spTree>
      <p:nvGrpSpPr>
        <p:cNvPr id="1" name=""/>
        <p:cNvGrpSpPr/>
        <p:nvPr/>
      </p:nvGrpSpPr>
      <p:grpSpPr>
        <a:xfrm>
          <a:off x="0" y="0"/>
          <a:ext cx="0" cy="0"/>
          <a:chOff x="0" y="0"/>
          <a:chExt cx="0" cy="0"/>
        </a:xfrm>
      </p:grpSpPr>
      <p:pic>
        <p:nvPicPr>
          <p:cNvPr id="2" name="Image 0" descr="D:/JD Projects/DERT/Scoutning/logo.png"/>
          <p:cNvPicPr>
            <a:picLocks noChangeAspect="1"/>
          </p:cNvPicPr>
          <p:nvPr/>
        </p:nvPicPr>
        <p:blipFill>
          <a:blip r:embed="rId2"/>
          <a:stretch>
            <a:fillRect/>
          </a:stretch>
        </p:blipFill>
        <p:spPr>
          <a:xfrm>
            <a:off x="731520" y="731520"/>
            <a:ext cx="1051560" cy="1078992"/>
          </a:xfrm>
          <a:prstGeom prst="rect">
            <a:avLst/>
          </a:prstGeom>
        </p:spPr>
      </p:pic>
      <p:sp>
        <p:nvSpPr>
          <p:cNvPr id="3" name="Text 0"/>
          <p:cNvSpPr>
            <a:spLocks noGrp="1"/>
          </p:cNvSpPr>
          <p:nvPr>
            <p:ph type="title" idx="101" hasCustomPrompt="1"/>
          </p:nvPr>
        </p:nvSpPr>
        <p:spPr>
          <a:xfrm>
            <a:off x="731520" y="2148840"/>
            <a:ext cx="6309360" cy="21031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4434840"/>
            <a:ext cx="6035040" cy="109728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RT 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011680"/>
            <a:ext cx="6400800" cy="457200"/>
          </a:xfrm>
          <a:prstGeom prst="rect">
            <a:avLst/>
          </a:prstGeom>
          <a:noFill/>
          <a:ln/>
        </p:spPr>
        <p:txBody>
          <a:bodyPr wrap="square" rtlCol="0"/>
          <a:lstStyle>
            <a:lvl1pPr marL="0" indent="0">
              <a:buNone/>
              <a:defRPr lang="en-US" sz="1800" b="1" kern="0" spc="300" dirty="0">
                <a:solidFill>
                  <a:schemeClr val="accent1"/>
                </a:solidFill>
              </a:defRPr>
            </a:lvl1pPr>
          </a:lstStyle>
          <a:p>
            <a:pPr marL="0" indent="0">
              <a:buNone/>
            </a:pPr>
            <a:endParaRPr lang="en-US" sz="1800" dirty="0"/>
          </a:p>
        </p:txBody>
      </p:sp>
      <p:sp>
        <p:nvSpPr>
          <p:cNvPr id="3" name="Text 0"/>
          <p:cNvSpPr>
            <a:spLocks noGrp="1"/>
          </p:cNvSpPr>
          <p:nvPr>
            <p:ph type="title" idx="101" hasCustomPrompt="1"/>
          </p:nvPr>
        </p:nvSpPr>
        <p:spPr>
          <a:xfrm>
            <a:off x="731520" y="2514600"/>
            <a:ext cx="6949440" cy="13716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4" name="Text 0"/>
          <p:cNvSpPr>
            <a:spLocks noGrp="1"/>
          </p:cNvSpPr>
          <p:nvPr>
            <p:ph type="body" idx="102" hasCustomPrompt="1"/>
          </p:nvPr>
        </p:nvSpPr>
        <p:spPr>
          <a:xfrm>
            <a:off x="731520" y="3977640"/>
            <a:ext cx="6583680" cy="100584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RT 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pic>
        <p:nvPicPr>
          <p:cNvPr id="3" name="Image 0" descr="D:/JD Projects/DERT/Scoutning/logo.png"/>
          <p:cNvPicPr>
            <a:picLocks noChangeAspect="1"/>
          </p:cNvPicPr>
          <p:nvPr/>
        </p:nvPicPr>
        <p:blipFill>
          <a:blip r:embed="rId2"/>
          <a:stretch>
            <a:fillRect/>
          </a:stretch>
        </p:blipFill>
        <p:spPr>
          <a:xfrm>
            <a:off x="548640" y="6400800"/>
            <a:ext cx="265176" cy="274320"/>
          </a:xfrm>
          <a:prstGeom prst="rect">
            <a:avLst/>
          </a:prstGeom>
        </p:spPr>
      </p:pic>
      <p:sp>
        <p:nvSpPr>
          <p:cNvPr id="4" name="Text 0"/>
          <p:cNvSpPr/>
          <p:nvPr/>
        </p:nvSpPr>
        <p:spPr>
          <a:xfrm>
            <a:off x="914400" y="6400800"/>
            <a:ext cx="4572000" cy="274320"/>
          </a:xfrm>
          <a:prstGeom prst="rect">
            <a:avLst/>
          </a:prstGeom>
          <a:noFill/>
          <a:ln/>
        </p:spPr>
        <p:txBody>
          <a:bodyPr wrap="square" lIns="0" tIns="0" rIns="0" bIns="0" rtlCol="0" anchor="ctr"/>
          <a:lstStyle/>
          <a:p>
            <a:pPr marL="0" indent="0">
              <a:buNone/>
            </a:pPr>
            <a:r>
              <a:rPr lang="en-US" sz="1000" dirty="0">
                <a:solidFill>
                  <a:schemeClr val="tx2"/>
                </a:solidFill>
              </a:rPr>
              <a:t>DERT #2040 · Scouting training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RT Dark 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pic>
        <p:nvPicPr>
          <p:cNvPr id="3" name="Image 0" descr="D:/JD Projects/DERT/Scoutning/logo.png"/>
          <p:cNvPicPr>
            <a:picLocks noChangeAspect="1"/>
          </p:cNvPicPr>
          <p:nvPr/>
        </p:nvPicPr>
        <p:blipFill>
          <a:blip r:embed="rId2"/>
          <a:stretch>
            <a:fillRect/>
          </a:stretch>
        </p:blipFill>
        <p:spPr>
          <a:xfrm>
            <a:off x="548640" y="6400800"/>
            <a:ext cx="265176" cy="274320"/>
          </a:xfrm>
          <a:prstGeom prst="rect">
            <a:avLst/>
          </a:prstGeom>
        </p:spPr>
      </p:pic>
      <p:sp>
        <p:nvSpPr>
          <p:cNvPr id="4" name="Text 0"/>
          <p:cNvSpPr/>
          <p:nvPr/>
        </p:nvSpPr>
        <p:spPr>
          <a:xfrm>
            <a:off x="914400" y="6400800"/>
            <a:ext cx="4572000" cy="274320"/>
          </a:xfrm>
          <a:prstGeom prst="rect">
            <a:avLst/>
          </a:prstGeom>
          <a:noFill/>
          <a:ln/>
        </p:spPr>
        <p:txBody>
          <a:bodyPr wrap="square" lIns="0" tIns="0" rIns="0" bIns="0" rtlCol="0" anchor="ctr"/>
          <a:lstStyle/>
          <a:p>
            <a:pPr marL="0" indent="0">
              <a:buNone/>
            </a:pPr>
            <a:r>
              <a:rPr lang="en-US" sz="1000" dirty="0">
                <a:solidFill>
                  <a:schemeClr val="bg2"/>
                </a:solidFill>
              </a:rPr>
              <a:t>DERT #2040 · Scouting training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5.png"/><Relationship Id="rId7"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45.png"/><Relationship Id="rId5" Type="http://schemas.openxmlformats.org/officeDocument/2006/relationships/image" Target="../media/image7.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731520" y="2148840"/>
            <a:ext cx="6309360" cy="2103120"/>
          </a:xfrm>
          <a:prstGeom prst="rect">
            <a:avLst/>
          </a:prstGeom>
          <a:noFill/>
          <a:ln/>
        </p:spPr>
        <p:txBody>
          <a:bodyPr wrap="square" lIns="0" tIns="0" rIns="0" bIns="0" rtlCol="0" anchor="b"/>
          <a:lstStyle/>
          <a:p>
            <a:pPr marL="0" indent="0" algn="l">
              <a:buNone/>
            </a:pPr>
            <a:r>
              <a:rPr lang="en-US" sz="4400" b="1" dirty="0">
                <a:solidFill>
                  <a:schemeClr val="bg1"/>
                </a:solidFill>
              </a:rPr>
              <a:t>Scouting: from the stands to the pick list</a:t>
            </a:r>
            <a:endParaRPr lang="en-US" sz="4400" dirty="0"/>
          </a:p>
        </p:txBody>
      </p:sp>
      <p:sp>
        <p:nvSpPr>
          <p:cNvPr id="4" name="Text 0"/>
          <p:cNvSpPr>
            <a:spLocks noGrp="1"/>
          </p:cNvSpPr>
          <p:nvPr>
            <p:ph type="body" idx="102" hasCustomPrompt="1"/>
          </p:nvPr>
        </p:nvSpPr>
        <p:spPr>
          <a:xfrm>
            <a:off x="731520" y="4434840"/>
            <a:ext cx="6035040" cy="1097280"/>
          </a:xfrm>
          <a:prstGeom prst="rect">
            <a:avLst/>
          </a:prstGeom>
          <a:noFill/>
          <a:ln/>
        </p:spPr>
        <p:txBody>
          <a:bodyPr wrap="square" lIns="0" tIns="0" rIns="0" bIns="0" rtlCol="0" anchor="t"/>
          <a:lstStyle/>
          <a:p>
            <a:pPr marL="0" indent="0">
              <a:buNone/>
            </a:pPr>
            <a:r>
              <a:rPr lang="en-US" sz="2000" dirty="0">
                <a:solidFill>
                  <a:schemeClr val="bg2"/>
                </a:solidFill>
              </a:rPr>
              <a:t>How to fill in the scouting form, scan QR codes into Excel and update the dashboard</a:t>
            </a:r>
            <a:endParaRPr lang="en-US" sz="2000" dirty="0"/>
          </a:p>
        </p:txBody>
      </p:sp>
      <p:sp>
        <p:nvSpPr>
          <p:cNvPr id="5" name="Text 2"/>
          <p:cNvSpPr txBox="1"/>
          <p:nvPr/>
        </p:nvSpPr>
        <p:spPr>
          <a:xfrm>
            <a:off x="2011680" y="1097280"/>
            <a:ext cx="4572000" cy="365760"/>
          </a:xfrm>
          <a:prstGeom prst="rect">
            <a:avLst/>
          </a:prstGeom>
          <a:noFill/>
          <a:ln/>
        </p:spPr>
        <p:txBody>
          <a:bodyPr wrap="square" lIns="0" tIns="0" rIns="0" bIns="0" rtlCol="0" anchor="ctr"/>
          <a:lstStyle/>
          <a:p>
            <a:pPr marL="0" indent="0">
              <a:buNone/>
            </a:pPr>
            <a:r>
              <a:rPr lang="en-US" sz="1600" b="1" kern="0" spc="200" dirty="0">
                <a:solidFill>
                  <a:schemeClr val="accent1"/>
                </a:solidFill>
              </a:rPr>
              <a:t>DERT #2040  ·  REBUILT 2026</a:t>
            </a:r>
            <a:endParaRPr lang="en-US" sz="1600" dirty="0"/>
          </a:p>
        </p:txBody>
      </p:sp>
      <p:sp>
        <p:nvSpPr>
          <p:cNvPr id="6" name="Scouting form on a phone phone"/>
          <p:cNvSpPr/>
          <p:nvPr/>
        </p:nvSpPr>
        <p:spPr>
          <a:xfrm>
            <a:off x="7278624" y="786384"/>
            <a:ext cx="2404005" cy="5010912"/>
          </a:xfrm>
          <a:prstGeom prst="roundRect">
            <a:avLst>
              <a:gd name="adj" fmla="val 7607"/>
            </a:avLst>
          </a:prstGeom>
          <a:solidFill>
            <a:schemeClr val="tx1"/>
          </a:solidFill>
          <a:ln w="9525">
            <a:solidFill>
              <a:srgbClr val="3A3A3A"/>
            </a:solidFill>
            <a:prstDash val="solid"/>
          </a:ln>
          <a:effectLst>
            <a:outerShdw blurRad="101600" dist="25400" dir="5400000" algn="bl" rotWithShape="0">
              <a:srgbClr val="000000">
                <a:alpha val="18000"/>
              </a:srgbClr>
            </a:outerShdw>
          </a:effectLst>
        </p:spPr>
        <p:txBody>
          <a:bodyPr/>
          <a:lstStyle/>
          <a:p>
            <a:endParaRPr lang="en-US"/>
          </a:p>
        </p:txBody>
      </p:sp>
      <p:pic>
        <p:nvPicPr>
          <p:cNvPr id="7" name="Scouting form on a phone" descr="Scouting form on a phone"/>
          <p:cNvPicPr>
            <a:picLocks noChangeAspect="1"/>
          </p:cNvPicPr>
          <p:nvPr/>
        </p:nvPicPr>
        <p:blipFill>
          <a:blip r:embed="rId3"/>
          <a:stretch>
            <a:fillRect/>
          </a:stretch>
        </p:blipFill>
        <p:spPr>
          <a:xfrm>
            <a:off x="7360920" y="868680"/>
            <a:ext cx="2239413" cy="4846320"/>
          </a:xfrm>
          <a:prstGeom prst="rect">
            <a:avLst/>
          </a:prstGeom>
        </p:spPr>
      </p:pic>
      <p:sp>
        <p:nvSpPr>
          <p:cNvPr id="8" name="QR code screen on a phone phone"/>
          <p:cNvSpPr/>
          <p:nvPr/>
        </p:nvSpPr>
        <p:spPr>
          <a:xfrm>
            <a:off x="9244584" y="1335024"/>
            <a:ext cx="2404005" cy="5010912"/>
          </a:xfrm>
          <a:prstGeom prst="roundRect">
            <a:avLst>
              <a:gd name="adj" fmla="val 7607"/>
            </a:avLst>
          </a:prstGeom>
          <a:solidFill>
            <a:schemeClr val="tx1"/>
          </a:solidFill>
          <a:ln w="9525">
            <a:solidFill>
              <a:srgbClr val="3A3A3A"/>
            </a:solidFill>
            <a:prstDash val="solid"/>
          </a:ln>
          <a:effectLst>
            <a:outerShdw blurRad="101600" dist="25400" dir="5400000" algn="bl" rotWithShape="0">
              <a:srgbClr val="000000">
                <a:alpha val="18000"/>
              </a:srgbClr>
            </a:outerShdw>
          </a:effectLst>
        </p:spPr>
        <p:txBody>
          <a:bodyPr/>
          <a:lstStyle/>
          <a:p>
            <a:endParaRPr lang="en-US"/>
          </a:p>
        </p:txBody>
      </p:sp>
      <p:pic>
        <p:nvPicPr>
          <p:cNvPr id="9" name="QR code screen on a phone" descr="QR code screen on a phone"/>
          <p:cNvPicPr>
            <a:picLocks noChangeAspect="1"/>
          </p:cNvPicPr>
          <p:nvPr/>
        </p:nvPicPr>
        <p:blipFill>
          <a:blip r:embed="rId4"/>
          <a:stretch>
            <a:fillRect/>
          </a:stretch>
        </p:blipFill>
        <p:spPr>
          <a:xfrm>
            <a:off x="9326880" y="1417320"/>
            <a:ext cx="2239413" cy="4846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How our scouting works</a:t>
            </a:r>
            <a:endParaRPr lang="en-US" sz="3600" dirty="0"/>
          </a:p>
        </p:txBody>
      </p:sp>
      <p:sp>
        <p:nvSpPr>
          <p:cNvPr id="4" name="Watch &amp; record circle"/>
          <p:cNvSpPr/>
          <p:nvPr/>
        </p:nvSpPr>
        <p:spPr>
          <a:xfrm>
            <a:off x="548640" y="1417320"/>
            <a:ext cx="1005840" cy="1005840"/>
          </a:xfrm>
          <a:prstGeom prst="ellipse">
            <a:avLst/>
          </a:prstGeom>
          <a:solidFill>
            <a:srgbClr val="12B4AF"/>
          </a:solidFill>
          <a:ln w="12700">
            <a:solidFill>
              <a:srgbClr val="12B4AF"/>
            </a:solidFill>
            <a:prstDash val="solid"/>
          </a:ln>
        </p:spPr>
        <p:txBody>
          <a:bodyPr/>
          <a:lstStyle/>
          <a:p>
            <a:endParaRPr lang="en-US"/>
          </a:p>
        </p:txBody>
      </p:sp>
      <p:pic>
        <p:nvPicPr>
          <p:cNvPr id="5" name="Watch &amp; record" descr="Watch &amp; record"/>
          <p:cNvPicPr>
            <a:picLocks noChangeAspect="1"/>
          </p:cNvPicPr>
          <p:nvPr/>
        </p:nvPicPr>
        <p:blipFill>
          <a:blip r:embed="rId3"/>
          <a:stretch>
            <a:fillRect/>
          </a:stretch>
        </p:blipFill>
        <p:spPr>
          <a:xfrm>
            <a:off x="790042" y="1658722"/>
            <a:ext cx="523037" cy="523037"/>
          </a:xfrm>
          <a:prstGeom prst="rect">
            <a:avLst/>
          </a:prstGeom>
        </p:spPr>
      </p:pic>
      <p:sp>
        <p:nvSpPr>
          <p:cNvPr id="6" name="Marker 1"/>
          <p:cNvSpPr txBox="1"/>
          <p:nvPr/>
        </p:nvSpPr>
        <p:spPr>
          <a:xfrm>
            <a:off x="1289304" y="1307592"/>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7" name="Text 3"/>
          <p:cNvSpPr txBox="1"/>
          <p:nvPr/>
        </p:nvSpPr>
        <p:spPr>
          <a:xfrm>
            <a:off x="548640" y="2606040"/>
            <a:ext cx="2377440" cy="365760"/>
          </a:xfrm>
          <a:prstGeom prst="rect">
            <a:avLst/>
          </a:prstGeom>
          <a:noFill/>
          <a:ln/>
        </p:spPr>
        <p:txBody>
          <a:bodyPr wrap="square" lIns="0" tIns="0" rIns="0" bIns="0" rtlCol="0" anchor="t"/>
          <a:lstStyle/>
          <a:p>
            <a:pPr marL="0" indent="0">
              <a:buNone/>
            </a:pPr>
            <a:r>
              <a:rPr lang="en-US" sz="1800" b="1" dirty="0">
                <a:solidFill>
                  <a:schemeClr val="tx1"/>
                </a:solidFill>
              </a:rPr>
              <a:t>Watch &amp; record</a:t>
            </a:r>
            <a:endParaRPr lang="en-US" sz="1800" dirty="0"/>
          </a:p>
        </p:txBody>
      </p:sp>
      <p:sp>
        <p:nvSpPr>
          <p:cNvPr id="8" name="Text 4"/>
          <p:cNvSpPr txBox="1"/>
          <p:nvPr/>
        </p:nvSpPr>
        <p:spPr>
          <a:xfrm>
            <a:off x="548640" y="2990088"/>
            <a:ext cx="2377440" cy="731520"/>
          </a:xfrm>
          <a:prstGeom prst="rect">
            <a:avLst/>
          </a:prstGeom>
          <a:noFill/>
          <a:ln/>
        </p:spPr>
        <p:txBody>
          <a:bodyPr wrap="square" lIns="0" tIns="0" rIns="0" bIns="0" rtlCol="0" anchor="t"/>
          <a:lstStyle/>
          <a:p>
            <a:pPr marL="0" indent="0">
              <a:buNone/>
            </a:pPr>
            <a:r>
              <a:rPr lang="en-US" sz="1400" dirty="0">
                <a:solidFill>
                  <a:schemeClr val="tx2"/>
                </a:solidFill>
              </a:rPr>
              <a:t>A scout watches one robot and fills in the form on a phone.</a:t>
            </a:r>
            <a:endParaRPr lang="en-US" sz="1400" dirty="0"/>
          </a:p>
        </p:txBody>
      </p:sp>
      <p:pic>
        <p:nvPicPr>
          <p:cNvPr id="9" name="Arrow" descr="then"/>
          <p:cNvPicPr>
            <a:picLocks noChangeAspect="1"/>
          </p:cNvPicPr>
          <p:nvPr/>
        </p:nvPicPr>
        <p:blipFill>
          <a:blip r:embed="rId4"/>
          <a:stretch>
            <a:fillRect/>
          </a:stretch>
        </p:blipFill>
        <p:spPr>
          <a:xfrm>
            <a:off x="2339797" y="1755648"/>
            <a:ext cx="329184" cy="329184"/>
          </a:xfrm>
          <a:prstGeom prst="rect">
            <a:avLst/>
          </a:prstGeom>
        </p:spPr>
      </p:pic>
      <p:sp>
        <p:nvSpPr>
          <p:cNvPr id="10" name="Show the QR code circle"/>
          <p:cNvSpPr/>
          <p:nvPr/>
        </p:nvSpPr>
        <p:spPr>
          <a:xfrm>
            <a:off x="3454298" y="1417320"/>
            <a:ext cx="1005840" cy="1005840"/>
          </a:xfrm>
          <a:prstGeom prst="ellipse">
            <a:avLst/>
          </a:prstGeom>
          <a:solidFill>
            <a:srgbClr val="12B4AF"/>
          </a:solidFill>
          <a:ln w="12700">
            <a:solidFill>
              <a:srgbClr val="12B4AF"/>
            </a:solidFill>
            <a:prstDash val="solid"/>
          </a:ln>
        </p:spPr>
        <p:txBody>
          <a:bodyPr/>
          <a:lstStyle/>
          <a:p>
            <a:endParaRPr lang="en-US"/>
          </a:p>
        </p:txBody>
      </p:sp>
      <p:pic>
        <p:nvPicPr>
          <p:cNvPr id="11" name="Show the QR code" descr="Show the QR code"/>
          <p:cNvPicPr>
            <a:picLocks noChangeAspect="1"/>
          </p:cNvPicPr>
          <p:nvPr/>
        </p:nvPicPr>
        <p:blipFill>
          <a:blip r:embed="rId5"/>
          <a:stretch>
            <a:fillRect/>
          </a:stretch>
        </p:blipFill>
        <p:spPr>
          <a:xfrm>
            <a:off x="3695700" y="1658722"/>
            <a:ext cx="523037" cy="523037"/>
          </a:xfrm>
          <a:prstGeom prst="rect">
            <a:avLst/>
          </a:prstGeom>
        </p:spPr>
      </p:pic>
      <p:sp>
        <p:nvSpPr>
          <p:cNvPr id="12" name="Marker 2"/>
          <p:cNvSpPr txBox="1"/>
          <p:nvPr/>
        </p:nvSpPr>
        <p:spPr>
          <a:xfrm>
            <a:off x="4194962" y="1307592"/>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13" name="Text 7"/>
          <p:cNvSpPr txBox="1"/>
          <p:nvPr/>
        </p:nvSpPr>
        <p:spPr>
          <a:xfrm>
            <a:off x="3454298" y="2606040"/>
            <a:ext cx="2377440" cy="365760"/>
          </a:xfrm>
          <a:prstGeom prst="rect">
            <a:avLst/>
          </a:prstGeom>
          <a:noFill/>
          <a:ln/>
        </p:spPr>
        <p:txBody>
          <a:bodyPr wrap="square" lIns="0" tIns="0" rIns="0" bIns="0" rtlCol="0" anchor="t"/>
          <a:lstStyle/>
          <a:p>
            <a:pPr marL="0" indent="0">
              <a:buNone/>
            </a:pPr>
            <a:r>
              <a:rPr lang="en-US" sz="1800" b="1" dirty="0">
                <a:solidFill>
                  <a:schemeClr val="tx1"/>
                </a:solidFill>
              </a:rPr>
              <a:t>Show the QR code</a:t>
            </a:r>
            <a:endParaRPr lang="en-US" sz="1800" dirty="0"/>
          </a:p>
        </p:txBody>
      </p:sp>
      <p:sp>
        <p:nvSpPr>
          <p:cNvPr id="14" name="Text 8"/>
          <p:cNvSpPr txBox="1"/>
          <p:nvPr/>
        </p:nvSpPr>
        <p:spPr>
          <a:xfrm>
            <a:off x="3454298" y="2990088"/>
            <a:ext cx="2377440" cy="731520"/>
          </a:xfrm>
          <a:prstGeom prst="rect">
            <a:avLst/>
          </a:prstGeom>
          <a:noFill/>
          <a:ln/>
        </p:spPr>
        <p:txBody>
          <a:bodyPr wrap="square" lIns="0" tIns="0" rIns="0" bIns="0" rtlCol="0" anchor="t"/>
          <a:lstStyle/>
          <a:p>
            <a:pPr marL="0" indent="0">
              <a:buNone/>
            </a:pPr>
            <a:r>
              <a:rPr lang="en-US" sz="1400" dirty="0">
                <a:solidFill>
                  <a:schemeClr val="tx2"/>
                </a:solidFill>
              </a:rPr>
              <a:t>After the match the phone turns the answers into a QR code.</a:t>
            </a:r>
            <a:endParaRPr lang="en-US" sz="1400" dirty="0"/>
          </a:p>
        </p:txBody>
      </p:sp>
      <p:pic>
        <p:nvPicPr>
          <p:cNvPr id="15" name="Arrow" descr="then"/>
          <p:cNvPicPr>
            <a:picLocks noChangeAspect="1"/>
          </p:cNvPicPr>
          <p:nvPr/>
        </p:nvPicPr>
        <p:blipFill>
          <a:blip r:embed="rId4"/>
          <a:stretch>
            <a:fillRect/>
          </a:stretch>
        </p:blipFill>
        <p:spPr>
          <a:xfrm>
            <a:off x="5245456" y="1755648"/>
            <a:ext cx="329184" cy="329184"/>
          </a:xfrm>
          <a:prstGeom prst="rect">
            <a:avLst/>
          </a:prstGeom>
        </p:spPr>
      </p:pic>
      <p:sp>
        <p:nvSpPr>
          <p:cNvPr id="16" name="Scan into Excel circle"/>
          <p:cNvSpPr/>
          <p:nvPr/>
        </p:nvSpPr>
        <p:spPr>
          <a:xfrm>
            <a:off x="6359957" y="1417320"/>
            <a:ext cx="1005840" cy="1005840"/>
          </a:xfrm>
          <a:prstGeom prst="ellipse">
            <a:avLst/>
          </a:prstGeom>
          <a:solidFill>
            <a:srgbClr val="12B4AF"/>
          </a:solidFill>
          <a:ln w="12700">
            <a:solidFill>
              <a:srgbClr val="12B4AF"/>
            </a:solidFill>
            <a:prstDash val="solid"/>
          </a:ln>
        </p:spPr>
        <p:txBody>
          <a:bodyPr/>
          <a:lstStyle/>
          <a:p>
            <a:endParaRPr lang="en-US"/>
          </a:p>
        </p:txBody>
      </p:sp>
      <p:pic>
        <p:nvPicPr>
          <p:cNvPr id="17" name="Scan into Excel" descr="Scan into Excel"/>
          <p:cNvPicPr>
            <a:picLocks noChangeAspect="1"/>
          </p:cNvPicPr>
          <p:nvPr/>
        </p:nvPicPr>
        <p:blipFill>
          <a:blip r:embed="rId6"/>
          <a:stretch>
            <a:fillRect/>
          </a:stretch>
        </p:blipFill>
        <p:spPr>
          <a:xfrm>
            <a:off x="6601358" y="1658722"/>
            <a:ext cx="523037" cy="523037"/>
          </a:xfrm>
          <a:prstGeom prst="rect">
            <a:avLst/>
          </a:prstGeom>
        </p:spPr>
      </p:pic>
      <p:sp>
        <p:nvSpPr>
          <p:cNvPr id="18" name="Marker 3"/>
          <p:cNvSpPr txBox="1"/>
          <p:nvPr/>
        </p:nvSpPr>
        <p:spPr>
          <a:xfrm>
            <a:off x="7100621" y="1307592"/>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19" name="Text 11"/>
          <p:cNvSpPr txBox="1"/>
          <p:nvPr/>
        </p:nvSpPr>
        <p:spPr>
          <a:xfrm>
            <a:off x="6359957" y="2606040"/>
            <a:ext cx="2377440" cy="365760"/>
          </a:xfrm>
          <a:prstGeom prst="rect">
            <a:avLst/>
          </a:prstGeom>
          <a:noFill/>
          <a:ln/>
        </p:spPr>
        <p:txBody>
          <a:bodyPr wrap="square" lIns="0" tIns="0" rIns="0" bIns="0" rtlCol="0" anchor="t"/>
          <a:lstStyle/>
          <a:p>
            <a:pPr marL="0" indent="0">
              <a:buNone/>
            </a:pPr>
            <a:r>
              <a:rPr lang="en-US" sz="1800" b="1" dirty="0">
                <a:solidFill>
                  <a:schemeClr val="tx1"/>
                </a:solidFill>
              </a:rPr>
              <a:t>Scan into Excel</a:t>
            </a:r>
            <a:endParaRPr lang="en-US" sz="1800" dirty="0"/>
          </a:p>
        </p:txBody>
      </p:sp>
      <p:sp>
        <p:nvSpPr>
          <p:cNvPr id="20" name="Text 12"/>
          <p:cNvSpPr txBox="1"/>
          <p:nvPr/>
        </p:nvSpPr>
        <p:spPr>
          <a:xfrm>
            <a:off x="6359957" y="2990088"/>
            <a:ext cx="2377440" cy="731520"/>
          </a:xfrm>
          <a:prstGeom prst="rect">
            <a:avLst/>
          </a:prstGeom>
          <a:noFill/>
          <a:ln/>
        </p:spPr>
        <p:txBody>
          <a:bodyPr wrap="square" lIns="0" tIns="0" rIns="0" bIns="0" rtlCol="0" anchor="t"/>
          <a:lstStyle/>
          <a:p>
            <a:pPr marL="0" indent="0">
              <a:buNone/>
            </a:pPr>
            <a:r>
              <a:rPr lang="en-US" sz="1400" dirty="0">
                <a:solidFill>
                  <a:schemeClr val="tx2"/>
                </a:solidFill>
              </a:rPr>
              <a:t>The data lead scans it. One row lands in the Excel workbook.</a:t>
            </a:r>
            <a:endParaRPr lang="en-US" sz="1400" dirty="0"/>
          </a:p>
        </p:txBody>
      </p:sp>
      <p:pic>
        <p:nvPicPr>
          <p:cNvPr id="21" name="Arrow" descr="then"/>
          <p:cNvPicPr>
            <a:picLocks noChangeAspect="1"/>
          </p:cNvPicPr>
          <p:nvPr/>
        </p:nvPicPr>
        <p:blipFill>
          <a:blip r:embed="rId4"/>
          <a:stretch>
            <a:fillRect/>
          </a:stretch>
        </p:blipFill>
        <p:spPr>
          <a:xfrm>
            <a:off x="8151114" y="1755648"/>
            <a:ext cx="329184" cy="329184"/>
          </a:xfrm>
          <a:prstGeom prst="rect">
            <a:avLst/>
          </a:prstGeom>
        </p:spPr>
      </p:pic>
      <p:sp>
        <p:nvSpPr>
          <p:cNvPr id="22" name="Pick the best circle"/>
          <p:cNvSpPr/>
          <p:nvPr/>
        </p:nvSpPr>
        <p:spPr>
          <a:xfrm>
            <a:off x="9265615" y="1417320"/>
            <a:ext cx="1005840" cy="1005840"/>
          </a:xfrm>
          <a:prstGeom prst="ellipse">
            <a:avLst/>
          </a:prstGeom>
          <a:solidFill>
            <a:srgbClr val="12B4AF"/>
          </a:solidFill>
          <a:ln w="12700">
            <a:solidFill>
              <a:srgbClr val="12B4AF"/>
            </a:solidFill>
            <a:prstDash val="solid"/>
          </a:ln>
        </p:spPr>
        <p:txBody>
          <a:bodyPr/>
          <a:lstStyle/>
          <a:p>
            <a:endParaRPr lang="en-US"/>
          </a:p>
        </p:txBody>
      </p:sp>
      <p:pic>
        <p:nvPicPr>
          <p:cNvPr id="23" name="Pick the best" descr="Pick the best"/>
          <p:cNvPicPr>
            <a:picLocks noChangeAspect="1"/>
          </p:cNvPicPr>
          <p:nvPr/>
        </p:nvPicPr>
        <p:blipFill>
          <a:blip r:embed="rId7"/>
          <a:stretch>
            <a:fillRect/>
          </a:stretch>
        </p:blipFill>
        <p:spPr>
          <a:xfrm>
            <a:off x="9507017" y="1658722"/>
            <a:ext cx="523037" cy="523037"/>
          </a:xfrm>
          <a:prstGeom prst="rect">
            <a:avLst/>
          </a:prstGeom>
        </p:spPr>
      </p:pic>
      <p:sp>
        <p:nvSpPr>
          <p:cNvPr id="24" name="Marker 4"/>
          <p:cNvSpPr txBox="1"/>
          <p:nvPr/>
        </p:nvSpPr>
        <p:spPr>
          <a:xfrm>
            <a:off x="10006279" y="1307592"/>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25" name="Text 15"/>
          <p:cNvSpPr txBox="1"/>
          <p:nvPr/>
        </p:nvSpPr>
        <p:spPr>
          <a:xfrm>
            <a:off x="9265615" y="2606040"/>
            <a:ext cx="2377440" cy="365760"/>
          </a:xfrm>
          <a:prstGeom prst="rect">
            <a:avLst/>
          </a:prstGeom>
          <a:noFill/>
          <a:ln/>
        </p:spPr>
        <p:txBody>
          <a:bodyPr wrap="square" lIns="0" tIns="0" rIns="0" bIns="0" rtlCol="0" anchor="t"/>
          <a:lstStyle/>
          <a:p>
            <a:pPr marL="0" indent="0">
              <a:buNone/>
            </a:pPr>
            <a:r>
              <a:rPr lang="en-US" sz="1800" b="1" dirty="0">
                <a:solidFill>
                  <a:schemeClr val="tx1"/>
                </a:solidFill>
              </a:rPr>
              <a:t>Pick the best</a:t>
            </a:r>
            <a:endParaRPr lang="en-US" sz="1800" dirty="0"/>
          </a:p>
        </p:txBody>
      </p:sp>
      <p:sp>
        <p:nvSpPr>
          <p:cNvPr id="26" name="Text 16"/>
          <p:cNvSpPr txBox="1"/>
          <p:nvPr/>
        </p:nvSpPr>
        <p:spPr>
          <a:xfrm>
            <a:off x="9265615" y="2990088"/>
            <a:ext cx="2377440" cy="731520"/>
          </a:xfrm>
          <a:prstGeom prst="rect">
            <a:avLst/>
          </a:prstGeom>
          <a:noFill/>
          <a:ln/>
        </p:spPr>
        <p:txBody>
          <a:bodyPr wrap="square" lIns="0" tIns="0" rIns="0" bIns="0" rtlCol="0" anchor="t"/>
          <a:lstStyle/>
          <a:p>
            <a:pPr marL="0" indent="0">
              <a:buNone/>
            </a:pPr>
            <a:r>
              <a:rPr lang="en-US" sz="1400" dirty="0">
                <a:solidFill>
                  <a:schemeClr val="tx2"/>
                </a:solidFill>
              </a:rPr>
              <a:t>The dashboard turns all the rows into rankings and a pick list.</a:t>
            </a:r>
            <a:endParaRPr lang="en-US" sz="1400" dirty="0"/>
          </a:p>
        </p:txBody>
      </p:sp>
      <p:sp>
        <p:nvSpPr>
          <p:cNvPr id="27" name="Text 17"/>
          <p:cNvSpPr txBox="1"/>
          <p:nvPr/>
        </p:nvSpPr>
        <p:spPr>
          <a:xfrm>
            <a:off x="548640" y="3931920"/>
            <a:ext cx="5486400" cy="365760"/>
          </a:xfrm>
          <a:prstGeom prst="rect">
            <a:avLst/>
          </a:prstGeom>
          <a:noFill/>
          <a:ln/>
        </p:spPr>
        <p:txBody>
          <a:bodyPr wrap="square" lIns="0" tIns="0" rIns="0" bIns="0" rtlCol="0" anchor="t"/>
          <a:lstStyle/>
          <a:p>
            <a:pPr marL="0" indent="0">
              <a:buNone/>
            </a:pPr>
            <a:r>
              <a:rPr lang="en-US" sz="2000" b="1" dirty="0">
                <a:solidFill>
                  <a:schemeClr val="tx1"/>
                </a:solidFill>
                <a:latin typeface="+mj-lt" pitchFamily="34" charset="0"/>
                <a:ea typeface="+mj-lt" pitchFamily="34" charset="-122"/>
                <a:cs typeface="+mj-lt" pitchFamily="34" charset="-120"/>
              </a:rPr>
              <a:t>Who does what</a:t>
            </a:r>
            <a:endParaRPr lang="en-US" sz="2000" dirty="0"/>
          </a:p>
        </p:txBody>
      </p:sp>
      <p:sp>
        <p:nvSpPr>
          <p:cNvPr id="28" name="Scouts card"/>
          <p:cNvSpPr/>
          <p:nvPr/>
        </p:nvSpPr>
        <p:spPr>
          <a:xfrm>
            <a:off x="548640" y="4434840"/>
            <a:ext cx="3515258" cy="178308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29" name="Scouts circle"/>
          <p:cNvSpPr/>
          <p:nvPr/>
        </p:nvSpPr>
        <p:spPr>
          <a:xfrm>
            <a:off x="777240" y="4617720"/>
            <a:ext cx="566928" cy="566928"/>
          </a:xfrm>
          <a:prstGeom prst="ellipse">
            <a:avLst/>
          </a:prstGeom>
          <a:solidFill>
            <a:srgbClr val="12B4AF"/>
          </a:solidFill>
          <a:ln w="12700">
            <a:solidFill>
              <a:srgbClr val="12B4AF"/>
            </a:solidFill>
            <a:prstDash val="solid"/>
          </a:ln>
        </p:spPr>
        <p:txBody>
          <a:bodyPr/>
          <a:lstStyle/>
          <a:p>
            <a:endParaRPr lang="en-US"/>
          </a:p>
        </p:txBody>
      </p:sp>
      <p:pic>
        <p:nvPicPr>
          <p:cNvPr id="30" name="Scouts" descr="Scouts"/>
          <p:cNvPicPr>
            <a:picLocks noChangeAspect="1"/>
          </p:cNvPicPr>
          <p:nvPr/>
        </p:nvPicPr>
        <p:blipFill>
          <a:blip r:embed="rId8"/>
          <a:stretch>
            <a:fillRect/>
          </a:stretch>
        </p:blipFill>
        <p:spPr>
          <a:xfrm>
            <a:off x="913303" y="4753783"/>
            <a:ext cx="294803" cy="294803"/>
          </a:xfrm>
          <a:prstGeom prst="rect">
            <a:avLst/>
          </a:prstGeom>
        </p:spPr>
      </p:pic>
      <p:sp>
        <p:nvSpPr>
          <p:cNvPr id="31" name="Text 20"/>
          <p:cNvSpPr txBox="1"/>
          <p:nvPr/>
        </p:nvSpPr>
        <p:spPr>
          <a:xfrm>
            <a:off x="1508760" y="4617720"/>
            <a:ext cx="2372258" cy="594360"/>
          </a:xfrm>
          <a:prstGeom prst="rect">
            <a:avLst/>
          </a:prstGeom>
          <a:noFill/>
          <a:ln/>
        </p:spPr>
        <p:txBody>
          <a:bodyPr wrap="square" lIns="0" tIns="0" rIns="0" bIns="0" rtlCol="0" anchor="t"/>
          <a:lstStyle/>
          <a:p>
            <a:pPr marL="0" indent="0">
              <a:buNone/>
            </a:pPr>
            <a:r>
              <a:rPr lang="en-US" sz="1800" b="1" dirty="0">
                <a:solidFill>
                  <a:schemeClr val="tx1"/>
                </a:solidFill>
              </a:rPr>
              <a:t>Scouts</a:t>
            </a:r>
            <a:endParaRPr lang="en-US" sz="1400" dirty="0"/>
          </a:p>
          <a:p>
            <a:pPr marL="0" indent="0">
              <a:buNone/>
            </a:pPr>
            <a:r>
              <a:rPr lang="en-US" sz="1200" b="1" dirty="0">
                <a:solidFill>
                  <a:schemeClr val="accent2"/>
                </a:solidFill>
              </a:rPr>
              <a:t>6 per match  ·  Part 1</a:t>
            </a:r>
            <a:endParaRPr lang="en-US" sz="1400" dirty="0"/>
          </a:p>
        </p:txBody>
      </p:sp>
      <p:sp>
        <p:nvSpPr>
          <p:cNvPr id="32" name="Text 21"/>
          <p:cNvSpPr txBox="1"/>
          <p:nvPr/>
        </p:nvSpPr>
        <p:spPr>
          <a:xfrm>
            <a:off x="777240" y="5303520"/>
            <a:ext cx="3058058" cy="822960"/>
          </a:xfrm>
          <a:prstGeom prst="rect">
            <a:avLst/>
          </a:prstGeom>
          <a:noFill/>
          <a:ln/>
        </p:spPr>
        <p:txBody>
          <a:bodyPr wrap="square" lIns="0" tIns="0" rIns="0" bIns="0" rtlCol="0" anchor="t"/>
          <a:lstStyle/>
          <a:p>
            <a:pPr marL="0" indent="0">
              <a:buNone/>
            </a:pPr>
            <a:r>
              <a:rPr lang="en-US" sz="1400" dirty="0">
                <a:solidFill>
                  <a:schemeClr val="tx2"/>
                </a:solidFill>
              </a:rPr>
              <a:t>Each scout watches one robot for the whole match and fills in the form.</a:t>
            </a:r>
            <a:endParaRPr lang="en-US" sz="1400" dirty="0"/>
          </a:p>
        </p:txBody>
      </p:sp>
      <p:sp>
        <p:nvSpPr>
          <p:cNvPr id="33" name="Data lead card"/>
          <p:cNvSpPr/>
          <p:nvPr/>
        </p:nvSpPr>
        <p:spPr>
          <a:xfrm>
            <a:off x="4338218" y="4434840"/>
            <a:ext cx="3515258" cy="178308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34" name="Data lead circle"/>
          <p:cNvSpPr/>
          <p:nvPr/>
        </p:nvSpPr>
        <p:spPr>
          <a:xfrm>
            <a:off x="4566818" y="4617720"/>
            <a:ext cx="566928" cy="566928"/>
          </a:xfrm>
          <a:prstGeom prst="ellipse">
            <a:avLst/>
          </a:prstGeom>
          <a:solidFill>
            <a:srgbClr val="12B4AF"/>
          </a:solidFill>
          <a:ln w="12700">
            <a:solidFill>
              <a:srgbClr val="12B4AF"/>
            </a:solidFill>
            <a:prstDash val="solid"/>
          </a:ln>
        </p:spPr>
        <p:txBody>
          <a:bodyPr/>
          <a:lstStyle/>
          <a:p>
            <a:endParaRPr lang="en-US"/>
          </a:p>
        </p:txBody>
      </p:sp>
      <p:pic>
        <p:nvPicPr>
          <p:cNvPr id="35" name="Data lead" descr="Data lead"/>
          <p:cNvPicPr>
            <a:picLocks noChangeAspect="1"/>
          </p:cNvPicPr>
          <p:nvPr/>
        </p:nvPicPr>
        <p:blipFill>
          <a:blip r:embed="rId9"/>
          <a:stretch>
            <a:fillRect/>
          </a:stretch>
        </p:blipFill>
        <p:spPr>
          <a:xfrm>
            <a:off x="4702881" y="4753783"/>
            <a:ext cx="294803" cy="294803"/>
          </a:xfrm>
          <a:prstGeom prst="rect">
            <a:avLst/>
          </a:prstGeom>
        </p:spPr>
      </p:pic>
      <p:sp>
        <p:nvSpPr>
          <p:cNvPr id="36" name="Text 24"/>
          <p:cNvSpPr txBox="1"/>
          <p:nvPr/>
        </p:nvSpPr>
        <p:spPr>
          <a:xfrm>
            <a:off x="5298338" y="4617720"/>
            <a:ext cx="2372258" cy="594360"/>
          </a:xfrm>
          <a:prstGeom prst="rect">
            <a:avLst/>
          </a:prstGeom>
          <a:noFill/>
          <a:ln/>
        </p:spPr>
        <p:txBody>
          <a:bodyPr wrap="square" lIns="0" tIns="0" rIns="0" bIns="0" rtlCol="0" anchor="t"/>
          <a:lstStyle/>
          <a:p>
            <a:pPr marL="0" indent="0">
              <a:buNone/>
            </a:pPr>
            <a:r>
              <a:rPr lang="en-US" sz="1800" b="1" dirty="0">
                <a:solidFill>
                  <a:schemeClr val="tx1"/>
                </a:solidFill>
              </a:rPr>
              <a:t>Data lead</a:t>
            </a:r>
            <a:endParaRPr lang="en-US" sz="1400" dirty="0"/>
          </a:p>
          <a:p>
            <a:pPr marL="0" indent="0">
              <a:buNone/>
            </a:pPr>
            <a:r>
              <a:rPr lang="en-US" sz="1200" b="1" dirty="0">
                <a:solidFill>
                  <a:schemeClr val="accent2"/>
                </a:solidFill>
              </a:rPr>
              <a:t>1 per event  ·  Part 2</a:t>
            </a:r>
            <a:endParaRPr lang="en-US" sz="1400" dirty="0"/>
          </a:p>
        </p:txBody>
      </p:sp>
      <p:sp>
        <p:nvSpPr>
          <p:cNvPr id="37" name="Text 25"/>
          <p:cNvSpPr txBox="1"/>
          <p:nvPr/>
        </p:nvSpPr>
        <p:spPr>
          <a:xfrm>
            <a:off x="4566818" y="5303520"/>
            <a:ext cx="3058058" cy="822960"/>
          </a:xfrm>
          <a:prstGeom prst="rect">
            <a:avLst/>
          </a:prstGeom>
          <a:noFill/>
          <a:ln/>
        </p:spPr>
        <p:txBody>
          <a:bodyPr wrap="square" lIns="0" tIns="0" rIns="0" bIns="0" rtlCol="0" anchor="t"/>
          <a:lstStyle/>
          <a:p>
            <a:pPr marL="0" indent="0">
              <a:buNone/>
            </a:pPr>
            <a:r>
              <a:rPr lang="en-US" sz="1400" dirty="0">
                <a:solidFill>
                  <a:schemeClr val="tx2"/>
                </a:solidFill>
              </a:rPr>
              <a:t>Has the laptop, the QR scanner and the Excel workbook. Scans every phone after each match.</a:t>
            </a:r>
            <a:endParaRPr lang="en-US" sz="1400" dirty="0"/>
          </a:p>
        </p:txBody>
      </p:sp>
      <p:sp>
        <p:nvSpPr>
          <p:cNvPr id="38" name="Strategy team card"/>
          <p:cNvSpPr/>
          <p:nvPr/>
        </p:nvSpPr>
        <p:spPr>
          <a:xfrm>
            <a:off x="8127797" y="4434840"/>
            <a:ext cx="3515258" cy="178308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39" name="Strategy team circle"/>
          <p:cNvSpPr/>
          <p:nvPr/>
        </p:nvSpPr>
        <p:spPr>
          <a:xfrm>
            <a:off x="8356397" y="4617720"/>
            <a:ext cx="566928" cy="566928"/>
          </a:xfrm>
          <a:prstGeom prst="ellipse">
            <a:avLst/>
          </a:prstGeom>
          <a:solidFill>
            <a:srgbClr val="12B4AF"/>
          </a:solidFill>
          <a:ln w="12700">
            <a:solidFill>
              <a:srgbClr val="12B4AF"/>
            </a:solidFill>
            <a:prstDash val="solid"/>
          </a:ln>
        </p:spPr>
        <p:txBody>
          <a:bodyPr/>
          <a:lstStyle/>
          <a:p>
            <a:endParaRPr lang="en-US"/>
          </a:p>
        </p:txBody>
      </p:sp>
      <p:pic>
        <p:nvPicPr>
          <p:cNvPr id="40" name="Strategy team" descr="Strategy team"/>
          <p:cNvPicPr>
            <a:picLocks noChangeAspect="1"/>
          </p:cNvPicPr>
          <p:nvPr/>
        </p:nvPicPr>
        <p:blipFill>
          <a:blip r:embed="rId10"/>
          <a:stretch>
            <a:fillRect/>
          </a:stretch>
        </p:blipFill>
        <p:spPr>
          <a:xfrm>
            <a:off x="8492460" y="4753783"/>
            <a:ext cx="294803" cy="294803"/>
          </a:xfrm>
          <a:prstGeom prst="rect">
            <a:avLst/>
          </a:prstGeom>
        </p:spPr>
      </p:pic>
      <p:sp>
        <p:nvSpPr>
          <p:cNvPr id="41" name="Text 28"/>
          <p:cNvSpPr txBox="1"/>
          <p:nvPr/>
        </p:nvSpPr>
        <p:spPr>
          <a:xfrm>
            <a:off x="9087917" y="4617720"/>
            <a:ext cx="2372258" cy="594360"/>
          </a:xfrm>
          <a:prstGeom prst="rect">
            <a:avLst/>
          </a:prstGeom>
          <a:noFill/>
          <a:ln/>
        </p:spPr>
        <p:txBody>
          <a:bodyPr wrap="square" lIns="0" tIns="0" rIns="0" bIns="0" rtlCol="0" anchor="t"/>
          <a:lstStyle/>
          <a:p>
            <a:pPr marL="0" indent="0">
              <a:buNone/>
            </a:pPr>
            <a:r>
              <a:rPr lang="en-US" sz="1800" b="1" dirty="0">
                <a:solidFill>
                  <a:schemeClr val="tx1"/>
                </a:solidFill>
              </a:rPr>
              <a:t>Strategy team</a:t>
            </a:r>
            <a:endParaRPr lang="en-US" sz="1400" dirty="0"/>
          </a:p>
          <a:p>
            <a:pPr marL="0" indent="0">
              <a:buNone/>
            </a:pPr>
            <a:r>
              <a:rPr lang="en-US" sz="1200" b="1" dirty="0">
                <a:solidFill>
                  <a:schemeClr val="accent2"/>
                </a:solidFill>
              </a:rPr>
              <a:t>Drive team &amp; mentors  ·  Part 3</a:t>
            </a:r>
            <a:endParaRPr lang="en-US" sz="1400" dirty="0"/>
          </a:p>
        </p:txBody>
      </p:sp>
      <p:sp>
        <p:nvSpPr>
          <p:cNvPr id="42" name="Text 29"/>
          <p:cNvSpPr txBox="1"/>
          <p:nvPr/>
        </p:nvSpPr>
        <p:spPr>
          <a:xfrm>
            <a:off x="8356397" y="5303520"/>
            <a:ext cx="3058058" cy="822960"/>
          </a:xfrm>
          <a:prstGeom prst="rect">
            <a:avLst/>
          </a:prstGeom>
          <a:noFill/>
          <a:ln/>
        </p:spPr>
        <p:txBody>
          <a:bodyPr wrap="square" lIns="0" tIns="0" rIns="0" bIns="0" rtlCol="0" anchor="t"/>
          <a:lstStyle/>
          <a:p>
            <a:pPr marL="0" indent="0">
              <a:buNone/>
            </a:pPr>
            <a:r>
              <a:rPr lang="en-US" sz="1400" dirty="0">
                <a:solidFill>
                  <a:schemeClr val="tx2"/>
                </a:solidFill>
              </a:rPr>
              <a:t>Loads the workbook into the dashboard and builds the pick list.</a:t>
            </a:r>
            <a:endParaRPr lang="en-US" sz="14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731520" y="2011680"/>
            <a:ext cx="6400800" cy="457200"/>
          </a:xfrm>
          <a:prstGeom prst="rect">
            <a:avLst/>
          </a:prstGeom>
          <a:noFill/>
          <a:ln/>
        </p:spPr>
        <p:txBody>
          <a:bodyPr wrap="square" lIns="0" tIns="0" rIns="0" bIns="0" rtlCol="0"/>
          <a:lstStyle/>
          <a:p>
            <a:pPr marL="0" indent="0">
              <a:buNone/>
            </a:pPr>
            <a:r>
              <a:rPr lang="en-US" sz="1800" b="1" kern="0" spc="300" dirty="0">
                <a:solidFill>
                  <a:schemeClr val="accent1"/>
                </a:solidFill>
              </a:rPr>
              <a:t>PART 1  ·  SCOUTS</a:t>
            </a:r>
            <a:endParaRPr lang="en-US" sz="1800" dirty="0"/>
          </a:p>
        </p:txBody>
      </p:sp>
      <p:sp>
        <p:nvSpPr>
          <p:cNvPr id="4" name="Text 0"/>
          <p:cNvSpPr>
            <a:spLocks noGrp="1"/>
          </p:cNvSpPr>
          <p:nvPr>
            <p:ph type="title" idx="101" hasCustomPrompt="1"/>
          </p:nvPr>
        </p:nvSpPr>
        <p:spPr>
          <a:xfrm>
            <a:off x="731520" y="2514600"/>
            <a:ext cx="6949440" cy="1371600"/>
          </a:xfrm>
          <a:prstGeom prst="rect">
            <a:avLst/>
          </a:prstGeom>
          <a:noFill/>
          <a:ln/>
        </p:spPr>
        <p:txBody>
          <a:bodyPr wrap="square" lIns="0" tIns="0" rIns="0" bIns="0" rtlCol="0" anchor="t"/>
          <a:lstStyle/>
          <a:p>
            <a:pPr marL="0" indent="0" algn="l">
              <a:buNone/>
            </a:pPr>
            <a:r>
              <a:rPr lang="en-US" sz="4800" b="1" dirty="0">
                <a:solidFill>
                  <a:schemeClr val="bg1"/>
                </a:solidFill>
              </a:rPr>
              <a:t>The scouting form</a:t>
            </a:r>
            <a:endParaRPr lang="en-US" sz="4800" dirty="0"/>
          </a:p>
        </p:txBody>
      </p:sp>
      <p:sp>
        <p:nvSpPr>
          <p:cNvPr id="5" name="Text 0"/>
          <p:cNvSpPr>
            <a:spLocks noGrp="1"/>
          </p:cNvSpPr>
          <p:nvPr>
            <p:ph type="body" idx="102" hasCustomPrompt="1"/>
          </p:nvPr>
        </p:nvSpPr>
        <p:spPr>
          <a:xfrm>
            <a:off x="731520" y="3977640"/>
            <a:ext cx="6583680" cy="1005840"/>
          </a:xfrm>
          <a:prstGeom prst="rect">
            <a:avLst/>
          </a:prstGeom>
          <a:noFill/>
          <a:ln/>
        </p:spPr>
        <p:txBody>
          <a:bodyPr wrap="square" lIns="0" tIns="0" rIns="0" bIns="0" rtlCol="0" anchor="t"/>
          <a:lstStyle/>
          <a:p>
            <a:pPr marL="0" indent="0">
              <a:buNone/>
            </a:pPr>
            <a:r>
              <a:rPr lang="en-US" sz="2000" dirty="0">
                <a:solidFill>
                  <a:schemeClr val="bg2"/>
                </a:solidFill>
              </a:rPr>
              <a:t>For everyone in the stands: get the app, fill it in during the match, and hand over your QR code.</a:t>
            </a:r>
            <a:endParaRPr lang="en-US" sz="2000" dirty="0"/>
          </a:p>
        </p:txBody>
      </p:sp>
      <p:sp>
        <p:nvSpPr>
          <p:cNvPr id="6" name="The scouting form circle"/>
          <p:cNvSpPr/>
          <p:nvPr/>
        </p:nvSpPr>
        <p:spPr>
          <a:xfrm>
            <a:off x="8138160" y="1691640"/>
            <a:ext cx="3017520" cy="3017520"/>
          </a:xfrm>
          <a:prstGeom prst="ellipse">
            <a:avLst/>
          </a:prstGeom>
          <a:solidFill>
            <a:srgbClr val="12B4AF"/>
          </a:solidFill>
          <a:ln w="12700">
            <a:solidFill>
              <a:srgbClr val="12B4AF"/>
            </a:solidFill>
            <a:prstDash val="solid"/>
          </a:ln>
        </p:spPr>
        <p:txBody>
          <a:bodyPr/>
          <a:lstStyle/>
          <a:p>
            <a:endParaRPr lang="en-US"/>
          </a:p>
        </p:txBody>
      </p:sp>
      <p:pic>
        <p:nvPicPr>
          <p:cNvPr id="7" name="The scouting form" descr="The scouting form"/>
          <p:cNvPicPr>
            <a:picLocks noChangeAspect="1"/>
          </p:cNvPicPr>
          <p:nvPr/>
        </p:nvPicPr>
        <p:blipFill>
          <a:blip r:embed="rId3"/>
          <a:stretch>
            <a:fillRect/>
          </a:stretch>
        </p:blipFill>
        <p:spPr>
          <a:xfrm>
            <a:off x="8862365" y="2415845"/>
            <a:ext cx="1569110" cy="156911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Put the form on your phone</a:t>
            </a:r>
            <a:endParaRPr lang="en-US" sz="3600" dirty="0"/>
          </a:p>
        </p:txBody>
      </p:sp>
      <p:sp>
        <p:nvSpPr>
          <p:cNvPr id="4" name="Pit poster frame"/>
          <p:cNvSpPr/>
          <p:nvPr/>
        </p:nvSpPr>
        <p:spPr>
          <a:xfrm>
            <a:off x="548640" y="1371600"/>
            <a:ext cx="4747074" cy="4526280"/>
          </a:xfrm>
          <a:prstGeom prst="rect">
            <a:avLst/>
          </a:prstGeom>
          <a:solidFill>
            <a:srgbClr val="FFFFFF"/>
          </a:solidFill>
          <a:ln w="9525">
            <a:solidFill>
              <a:srgbClr val="D9D9D9"/>
            </a:solidFill>
            <a:prstDash val="solid"/>
          </a:ln>
          <a:effectLst>
            <a:outerShdw blurRad="101600" dist="25400" dir="5400000" algn="bl" rotWithShape="0">
              <a:srgbClr val="000000">
                <a:alpha val="18000"/>
              </a:srgbClr>
            </a:outerShdw>
          </a:effectLst>
        </p:spPr>
        <p:txBody>
          <a:bodyPr/>
          <a:lstStyle/>
          <a:p>
            <a:endParaRPr lang="en-US"/>
          </a:p>
        </p:txBody>
      </p:sp>
      <p:pic>
        <p:nvPicPr>
          <p:cNvPr id="5" name="Pit poster" descr="Pit poster with the QR code for the scouting app"/>
          <p:cNvPicPr>
            <a:picLocks noChangeAspect="1"/>
          </p:cNvPicPr>
          <p:nvPr/>
        </p:nvPicPr>
        <p:blipFill>
          <a:blip r:embed="rId3"/>
          <a:stretch>
            <a:fillRect/>
          </a:stretch>
        </p:blipFill>
        <p:spPr>
          <a:xfrm>
            <a:off x="548640" y="1371600"/>
            <a:ext cx="4747074" cy="4526280"/>
          </a:xfrm>
          <a:prstGeom prst="rect">
            <a:avLst/>
          </a:prstGeom>
        </p:spPr>
      </p:pic>
      <p:sp>
        <p:nvSpPr>
          <p:cNvPr id="6" name="Marker 1"/>
          <p:cNvSpPr txBox="1"/>
          <p:nvPr/>
        </p:nvSpPr>
        <p:spPr>
          <a:xfrm>
            <a:off x="5935794" y="14538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Text 3"/>
          <p:cNvSpPr txBox="1"/>
          <p:nvPr/>
        </p:nvSpPr>
        <p:spPr>
          <a:xfrm>
            <a:off x="6466146" y="1481328"/>
            <a:ext cx="5174166" cy="106984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Scan the poster's QR code with your camera</a:t>
            </a:r>
            <a:endParaRPr lang="en-US" sz="1400" dirty="0"/>
          </a:p>
          <a:p>
            <a:pPr marL="0" indent="0">
              <a:spcAft>
                <a:spcPts val="200"/>
              </a:spcAft>
              <a:buNone/>
            </a:pPr>
            <a:r>
              <a:rPr lang="en-US" sz="1400" dirty="0">
                <a:solidFill>
                  <a:schemeClr val="tx2"/>
                </a:solidFill>
              </a:rPr>
              <a:t>Or type johandahlin.github.io/Scouting in the browser.</a:t>
            </a:r>
            <a:endParaRPr lang="en-US" sz="1400" dirty="0"/>
          </a:p>
        </p:txBody>
      </p:sp>
      <p:sp>
        <p:nvSpPr>
          <p:cNvPr id="8" name="Marker 2"/>
          <p:cNvSpPr txBox="1"/>
          <p:nvPr/>
        </p:nvSpPr>
        <p:spPr>
          <a:xfrm>
            <a:off x="5935794" y="25968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9" name="Text 5"/>
          <p:cNvSpPr txBox="1"/>
          <p:nvPr/>
        </p:nvSpPr>
        <p:spPr>
          <a:xfrm>
            <a:off x="6466146" y="2624328"/>
            <a:ext cx="5174166" cy="106984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Open the link</a:t>
            </a:r>
            <a:endParaRPr lang="en-US" sz="1400" dirty="0"/>
          </a:p>
          <a:p>
            <a:pPr marL="0" indent="0">
              <a:spcAft>
                <a:spcPts val="200"/>
              </a:spcAft>
              <a:buNone/>
            </a:pPr>
            <a:r>
              <a:rPr lang="en-US" sz="1400" dirty="0">
                <a:solidFill>
                  <a:schemeClr val="tx2"/>
                </a:solidFill>
              </a:rPr>
              <a:t>iPhone: Safari.  Android: Chrome.</a:t>
            </a:r>
            <a:endParaRPr lang="en-US" sz="1400" dirty="0"/>
          </a:p>
        </p:txBody>
      </p:sp>
      <p:sp>
        <p:nvSpPr>
          <p:cNvPr id="10" name="Marker 3"/>
          <p:cNvSpPr txBox="1"/>
          <p:nvPr/>
        </p:nvSpPr>
        <p:spPr>
          <a:xfrm>
            <a:off x="5935794" y="37398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1" name="Text 7"/>
          <p:cNvSpPr txBox="1"/>
          <p:nvPr/>
        </p:nvSpPr>
        <p:spPr>
          <a:xfrm>
            <a:off x="6466146" y="3767328"/>
            <a:ext cx="5174166" cy="106984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Add it to your home screen</a:t>
            </a:r>
            <a:endParaRPr lang="en-US" sz="1400" dirty="0"/>
          </a:p>
          <a:p>
            <a:pPr marL="0" indent="0">
              <a:spcAft>
                <a:spcPts val="200"/>
              </a:spcAft>
              <a:buNone/>
            </a:pPr>
            <a:r>
              <a:rPr lang="en-US" sz="1400" dirty="0">
                <a:solidFill>
                  <a:schemeClr val="tx2"/>
                </a:solidFill>
              </a:rPr>
              <a:t>iPhone: Share → Add to Home Screen</a:t>
            </a:r>
            <a:endParaRPr lang="en-US" sz="1400" dirty="0"/>
          </a:p>
          <a:p>
            <a:pPr marL="0" indent="0">
              <a:spcAft>
                <a:spcPts val="200"/>
              </a:spcAft>
              <a:buNone/>
            </a:pPr>
            <a:r>
              <a:rPr lang="en-US" sz="1400" dirty="0">
                <a:solidFill>
                  <a:schemeClr val="tx2"/>
                </a:solidFill>
              </a:rPr>
              <a:t>Android: three-dot menu → Add to Home screen</a:t>
            </a:r>
            <a:endParaRPr lang="en-US" sz="1400" dirty="0"/>
          </a:p>
        </p:txBody>
      </p:sp>
      <p:sp>
        <p:nvSpPr>
          <p:cNvPr id="12" name="Marker 4"/>
          <p:cNvSpPr txBox="1"/>
          <p:nvPr/>
        </p:nvSpPr>
        <p:spPr>
          <a:xfrm>
            <a:off x="5935794" y="48828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3" name="Text 9"/>
          <p:cNvSpPr txBox="1"/>
          <p:nvPr/>
        </p:nvSpPr>
        <p:spPr>
          <a:xfrm>
            <a:off x="6466146" y="4910328"/>
            <a:ext cx="5174166" cy="106984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Open it once on Wi-Fi</a:t>
            </a:r>
            <a:endParaRPr lang="en-US" sz="1400" dirty="0"/>
          </a:p>
          <a:p>
            <a:pPr marL="0" indent="0">
              <a:spcAft>
                <a:spcPts val="200"/>
              </a:spcAft>
              <a:buNone/>
            </a:pPr>
            <a:r>
              <a:rPr lang="en-US" sz="1400" dirty="0">
                <a:solidFill>
                  <a:schemeClr val="tx2"/>
                </a:solidFill>
              </a:rPr>
              <a:t>After that it works in the stands, even with no signal.</a:t>
            </a:r>
            <a:endParaRPr lang="en-US" sz="1400" dirty="0"/>
          </a:p>
        </p:txBody>
      </p:sp>
      <p:pic>
        <p:nvPicPr>
          <p:cNvPr id="14" name="App icon" descr="DERT Scout app icon"/>
          <p:cNvPicPr>
            <a:picLocks noChangeAspect="1"/>
          </p:cNvPicPr>
          <p:nvPr/>
        </p:nvPicPr>
        <p:blipFill>
          <a:blip r:embed="rId4"/>
          <a:stretch>
            <a:fillRect/>
          </a:stretch>
        </p:blipFill>
        <p:spPr>
          <a:xfrm>
            <a:off x="10652760" y="3794760"/>
            <a:ext cx="868680" cy="868680"/>
          </a:xfrm>
          <a:prstGeom prst="rect">
            <a:avLst/>
          </a:prstGeom>
        </p:spPr>
      </p:pic>
      <p:sp>
        <p:nvSpPr>
          <p:cNvPr id="15" name="Text 10"/>
          <p:cNvSpPr txBox="1"/>
          <p:nvPr/>
        </p:nvSpPr>
        <p:spPr>
          <a:xfrm>
            <a:off x="10424160" y="4709160"/>
            <a:ext cx="1325880" cy="274320"/>
          </a:xfrm>
          <a:prstGeom prst="rect">
            <a:avLst/>
          </a:prstGeom>
          <a:noFill/>
          <a:ln/>
        </p:spPr>
        <p:txBody>
          <a:bodyPr wrap="square" lIns="0" tIns="0" rIns="0" bIns="0" rtlCol="0" anchor="t"/>
          <a:lstStyle/>
          <a:p>
            <a:pPr marL="0" indent="0" algn="ctr">
              <a:buNone/>
            </a:pPr>
            <a:r>
              <a:rPr lang="en-US" sz="1200" b="1" dirty="0">
                <a:solidFill>
                  <a:schemeClr val="tx1"/>
                </a:solidFill>
              </a:rPr>
              <a:t>DERT Scout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Before the match starts</a:t>
            </a:r>
            <a:endParaRPr lang="en-US" sz="3600" dirty="0"/>
          </a:p>
        </p:txBody>
      </p:sp>
      <p:sp>
        <p:nvSpPr>
          <p:cNvPr id="4" name="Pre-Match section phone"/>
          <p:cNvSpPr/>
          <p:nvPr/>
        </p:nvSpPr>
        <p:spPr>
          <a:xfrm>
            <a:off x="877824" y="1289304"/>
            <a:ext cx="2332098" cy="5010912"/>
          </a:xfrm>
          <a:prstGeom prst="roundRect">
            <a:avLst>
              <a:gd name="adj" fmla="val 7842"/>
            </a:avLst>
          </a:prstGeom>
          <a:solidFill>
            <a:schemeClr val="tx1"/>
          </a:solidFill>
          <a:ln w="9525">
            <a:solidFill>
              <a:srgbClr val="3A3A3A"/>
            </a:solidFill>
            <a:prstDash val="solid"/>
          </a:ln>
          <a:effectLst>
            <a:outerShdw blurRad="101600" dist="25400" dir="5400000" algn="bl" rotWithShape="0">
              <a:srgbClr val="000000">
                <a:alpha val="18000"/>
              </a:srgbClr>
            </a:outerShdw>
          </a:effectLst>
        </p:spPr>
        <p:txBody>
          <a:bodyPr/>
          <a:lstStyle/>
          <a:p>
            <a:endParaRPr lang="en-US"/>
          </a:p>
        </p:txBody>
      </p:sp>
      <p:pic>
        <p:nvPicPr>
          <p:cNvPr id="5" name="Pre-Match section" descr="Pre-Match section"/>
          <p:cNvPicPr>
            <a:picLocks noChangeAspect="1"/>
          </p:cNvPicPr>
          <p:nvPr/>
        </p:nvPicPr>
        <p:blipFill>
          <a:blip r:embed="rId3"/>
          <a:stretch>
            <a:fillRect/>
          </a:stretch>
        </p:blipFill>
        <p:spPr>
          <a:xfrm>
            <a:off x="960120" y="1371600"/>
            <a:ext cx="2167506" cy="4846320"/>
          </a:xfrm>
          <a:prstGeom prst="rect">
            <a:avLst/>
          </a:prstGeom>
        </p:spPr>
      </p:pic>
      <p:sp>
        <p:nvSpPr>
          <p:cNvPr id="6" name="Marker 1"/>
          <p:cNvSpPr txBox="1"/>
          <p:nvPr/>
        </p:nvSpPr>
        <p:spPr>
          <a:xfrm>
            <a:off x="493776" y="234330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Marker 2"/>
          <p:cNvSpPr txBox="1"/>
          <p:nvPr/>
        </p:nvSpPr>
        <p:spPr>
          <a:xfrm>
            <a:off x="493776" y="2837943"/>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8" name="Marker 3"/>
          <p:cNvSpPr txBox="1"/>
          <p:nvPr/>
        </p:nvSpPr>
        <p:spPr>
          <a:xfrm>
            <a:off x="493776" y="346596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9" name="Marker 4"/>
          <p:cNvSpPr txBox="1"/>
          <p:nvPr/>
        </p:nvSpPr>
        <p:spPr>
          <a:xfrm>
            <a:off x="493776" y="4093985"/>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0" name="Marker 5"/>
          <p:cNvSpPr txBox="1"/>
          <p:nvPr/>
        </p:nvSpPr>
        <p:spPr>
          <a:xfrm>
            <a:off x="493776" y="4588621"/>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11" name="Marker 6"/>
          <p:cNvSpPr txBox="1"/>
          <p:nvPr/>
        </p:nvSpPr>
        <p:spPr>
          <a:xfrm>
            <a:off x="493776" y="5392317"/>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6</a:t>
            </a:r>
            <a:endParaRPr lang="en-US" sz="1500" dirty="0"/>
          </a:p>
        </p:txBody>
      </p:sp>
      <p:sp>
        <p:nvSpPr>
          <p:cNvPr id="12" name="Marker 1"/>
          <p:cNvSpPr txBox="1"/>
          <p:nvPr/>
        </p:nvSpPr>
        <p:spPr>
          <a:xfrm>
            <a:off x="4206240" y="13624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3" name="Text 9"/>
          <p:cNvSpPr txBox="1"/>
          <p:nvPr/>
        </p:nvSpPr>
        <p:spPr>
          <a:xfrm>
            <a:off x="4736592" y="1389888"/>
            <a:ext cx="6876288" cy="7315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Match type</a:t>
            </a:r>
            <a:endParaRPr lang="en-US" sz="1400" dirty="0"/>
          </a:p>
          <a:p>
            <a:pPr marL="0" indent="0">
              <a:spcAft>
                <a:spcPts val="200"/>
              </a:spcAft>
              <a:buNone/>
            </a:pPr>
            <a:r>
              <a:rPr lang="en-US" sz="1400" dirty="0">
                <a:solidFill>
                  <a:schemeClr val="tx2"/>
                </a:solidFill>
              </a:rPr>
              <a:t>Usually Qual. Stays for the next match.</a:t>
            </a:r>
            <a:endParaRPr lang="en-US" sz="1400" dirty="0"/>
          </a:p>
        </p:txBody>
      </p:sp>
      <p:sp>
        <p:nvSpPr>
          <p:cNvPr id="14" name="Marker 2"/>
          <p:cNvSpPr txBox="1"/>
          <p:nvPr/>
        </p:nvSpPr>
        <p:spPr>
          <a:xfrm>
            <a:off x="4206240" y="216712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5" name="Text 11"/>
          <p:cNvSpPr txBox="1"/>
          <p:nvPr/>
        </p:nvSpPr>
        <p:spPr>
          <a:xfrm>
            <a:off x="4736592" y="2194560"/>
            <a:ext cx="6876288" cy="7315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Match # and Team #</a:t>
            </a:r>
            <a:endParaRPr lang="en-US" sz="1400" dirty="0"/>
          </a:p>
          <a:p>
            <a:pPr marL="0" indent="0">
              <a:spcAft>
                <a:spcPts val="200"/>
              </a:spcAft>
              <a:buNone/>
            </a:pPr>
            <a:r>
              <a:rPr lang="en-US" sz="1400" dirty="0">
                <a:solidFill>
                  <a:schemeClr val="tx2"/>
                </a:solidFill>
              </a:rPr>
              <a:t>From the schedule or the field screen. Red * = must fill in.</a:t>
            </a:r>
            <a:endParaRPr lang="en-US" sz="1400" dirty="0"/>
          </a:p>
        </p:txBody>
      </p:sp>
      <p:sp>
        <p:nvSpPr>
          <p:cNvPr id="16" name="Marker 3"/>
          <p:cNvSpPr txBox="1"/>
          <p:nvPr/>
        </p:nvSpPr>
        <p:spPr>
          <a:xfrm>
            <a:off x="4206240" y="297180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7" name="Text 13"/>
          <p:cNvSpPr txBox="1"/>
          <p:nvPr/>
        </p:nvSpPr>
        <p:spPr>
          <a:xfrm>
            <a:off x="4736592" y="2999232"/>
            <a:ext cx="6876288" cy="7315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Alliance and Station</a:t>
            </a:r>
            <a:endParaRPr lang="en-US" sz="1400" dirty="0"/>
          </a:p>
          <a:p>
            <a:pPr marL="0" indent="0">
              <a:spcAft>
                <a:spcPts val="200"/>
              </a:spcAft>
              <a:buNone/>
            </a:pPr>
            <a:r>
              <a:rPr lang="en-US" sz="1400" dirty="0">
                <a:solidFill>
                  <a:schemeClr val="tx2"/>
                </a:solidFill>
              </a:rPr>
              <a:t>Your seat: Red or Blue, 1 to 3. Stays for the next match.</a:t>
            </a:r>
            <a:endParaRPr lang="en-US" sz="1400" dirty="0"/>
          </a:p>
        </p:txBody>
      </p:sp>
      <p:sp>
        <p:nvSpPr>
          <p:cNvPr id="18" name="Marker 4"/>
          <p:cNvSpPr txBox="1"/>
          <p:nvPr/>
        </p:nvSpPr>
        <p:spPr>
          <a:xfrm>
            <a:off x="4206240" y="377647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9" name="Text 15"/>
          <p:cNvSpPr txBox="1"/>
          <p:nvPr/>
        </p:nvSpPr>
        <p:spPr>
          <a:xfrm>
            <a:off x="4736592" y="3803904"/>
            <a:ext cx="6876288" cy="7315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Scout name</a:t>
            </a:r>
            <a:endParaRPr lang="en-US" sz="1400" dirty="0"/>
          </a:p>
          <a:p>
            <a:pPr marL="0" indent="0">
              <a:spcAft>
                <a:spcPts val="200"/>
              </a:spcAft>
              <a:buNone/>
            </a:pPr>
            <a:r>
              <a:rPr lang="en-US" sz="1400" dirty="0">
                <a:solidFill>
                  <a:schemeClr val="tx2"/>
                </a:solidFill>
              </a:rPr>
              <a:t>Your name, so we know who to ask. Stays.</a:t>
            </a:r>
            <a:endParaRPr lang="en-US" sz="1400" dirty="0"/>
          </a:p>
        </p:txBody>
      </p:sp>
      <p:sp>
        <p:nvSpPr>
          <p:cNvPr id="20" name="Marker 5"/>
          <p:cNvSpPr txBox="1"/>
          <p:nvPr/>
        </p:nvSpPr>
        <p:spPr>
          <a:xfrm>
            <a:off x="4206240" y="458114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21" name="Text 17"/>
          <p:cNvSpPr txBox="1"/>
          <p:nvPr/>
        </p:nvSpPr>
        <p:spPr>
          <a:xfrm>
            <a:off x="4736592" y="4608576"/>
            <a:ext cx="6876288" cy="7315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Robot on field?</a:t>
            </a:r>
            <a:endParaRPr lang="en-US" sz="1400" dirty="0"/>
          </a:p>
          <a:p>
            <a:pPr marL="0" indent="0">
              <a:spcAft>
                <a:spcPts val="200"/>
              </a:spcAft>
              <a:buNone/>
            </a:pPr>
            <a:r>
              <a:rPr lang="en-US" sz="1400" dirty="0">
                <a:solidFill>
                  <a:schemeClr val="tx2"/>
                </a:solidFill>
              </a:rPr>
              <a:t>Tap No show if the robot isn't there.</a:t>
            </a:r>
            <a:endParaRPr lang="en-US" sz="1400" dirty="0"/>
          </a:p>
        </p:txBody>
      </p:sp>
      <p:sp>
        <p:nvSpPr>
          <p:cNvPr id="22" name="Marker 6"/>
          <p:cNvSpPr txBox="1"/>
          <p:nvPr/>
        </p:nvSpPr>
        <p:spPr>
          <a:xfrm>
            <a:off x="4206240" y="538581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6</a:t>
            </a:r>
            <a:endParaRPr lang="en-US" sz="1500" dirty="0"/>
          </a:p>
        </p:txBody>
      </p:sp>
      <p:sp>
        <p:nvSpPr>
          <p:cNvPr id="23" name="Text 19"/>
          <p:cNvSpPr txBox="1"/>
          <p:nvPr/>
        </p:nvSpPr>
        <p:spPr>
          <a:xfrm>
            <a:off x="4736592" y="5413248"/>
            <a:ext cx="6876288" cy="7315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Starting position &amp; preload</a:t>
            </a:r>
            <a:endParaRPr lang="en-US" sz="1400" dirty="0"/>
          </a:p>
          <a:p>
            <a:pPr marL="0" indent="0">
              <a:spcAft>
                <a:spcPts val="200"/>
              </a:spcAft>
              <a:buNone/>
            </a:pPr>
            <a:r>
              <a:rPr lang="en-US" sz="1400" dirty="0">
                <a:solidFill>
                  <a:schemeClr val="tx2"/>
                </a:solidFill>
              </a:rPr>
              <a:t>Where it starts (seen from your driver station) and how much fuel it holds.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How the buttons work</a:t>
            </a:r>
            <a:endParaRPr lang="en-US" sz="3600" dirty="0"/>
          </a:p>
        </p:txBody>
      </p:sp>
      <p:sp>
        <p:nvSpPr>
          <p:cNvPr id="4" name="Counters card"/>
          <p:cNvSpPr/>
          <p:nvPr/>
        </p:nvSpPr>
        <p:spPr>
          <a:xfrm>
            <a:off x="548640" y="1371600"/>
            <a:ext cx="5410048"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5" name="Counters frame"/>
          <p:cNvSpPr/>
          <p:nvPr/>
        </p:nvSpPr>
        <p:spPr>
          <a:xfrm>
            <a:off x="777240" y="2148179"/>
            <a:ext cx="2697480" cy="732841"/>
          </a:xfrm>
          <a:prstGeom prst="rect">
            <a:avLst/>
          </a:prstGeom>
          <a:solidFill>
            <a:srgbClr val="FFFFFF"/>
          </a:solidFill>
          <a:ln w="6350">
            <a:solidFill>
              <a:srgbClr val="D9D9D9"/>
            </a:solidFill>
            <a:prstDash val="solid"/>
          </a:ln>
        </p:spPr>
        <p:txBody>
          <a:bodyPr/>
          <a:lstStyle/>
          <a:p>
            <a:endParaRPr lang="en-US"/>
          </a:p>
        </p:txBody>
      </p:sp>
      <p:pic>
        <p:nvPicPr>
          <p:cNvPr id="6" name="Counters example" descr="Counters example from the form"/>
          <p:cNvPicPr>
            <a:picLocks noChangeAspect="1"/>
          </p:cNvPicPr>
          <p:nvPr/>
        </p:nvPicPr>
        <p:blipFill>
          <a:blip r:embed="rId3"/>
          <a:stretch>
            <a:fillRect/>
          </a:stretch>
        </p:blipFill>
        <p:spPr>
          <a:xfrm>
            <a:off x="777240" y="2148179"/>
            <a:ext cx="2697480" cy="732841"/>
          </a:xfrm>
          <a:prstGeom prst="rect">
            <a:avLst/>
          </a:prstGeom>
        </p:spPr>
      </p:pic>
      <p:sp>
        <p:nvSpPr>
          <p:cNvPr id="7" name="Text 3"/>
          <p:cNvSpPr txBox="1"/>
          <p:nvPr/>
        </p:nvSpPr>
        <p:spPr>
          <a:xfrm>
            <a:off x="3749040" y="1645920"/>
            <a:ext cx="2026768" cy="173736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Counters</a:t>
            </a:r>
            <a:endParaRPr lang="en-US" sz="1400" dirty="0"/>
          </a:p>
          <a:p>
            <a:pPr marL="0" indent="0">
              <a:spcAft>
                <a:spcPts val="400"/>
              </a:spcAft>
              <a:buNone/>
            </a:pPr>
            <a:r>
              <a:rPr lang="en-US" sz="1400" dirty="0">
                <a:solidFill>
                  <a:schemeClr val="tx2"/>
                </a:solidFill>
              </a:rPr>
              <a:t>Tap +1, +5 or +10 to add. Tap − to take one away.</a:t>
            </a:r>
            <a:endParaRPr lang="en-US" sz="1400" dirty="0"/>
          </a:p>
        </p:txBody>
      </p:sp>
      <p:sp>
        <p:nvSpPr>
          <p:cNvPr id="8" name="Pick one card"/>
          <p:cNvSpPr/>
          <p:nvPr/>
        </p:nvSpPr>
        <p:spPr>
          <a:xfrm>
            <a:off x="6233008" y="1371600"/>
            <a:ext cx="5410048"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9" name="Pick one frame"/>
          <p:cNvSpPr/>
          <p:nvPr/>
        </p:nvSpPr>
        <p:spPr>
          <a:xfrm>
            <a:off x="6461608" y="2078014"/>
            <a:ext cx="2697480" cy="873173"/>
          </a:xfrm>
          <a:prstGeom prst="rect">
            <a:avLst/>
          </a:prstGeom>
          <a:solidFill>
            <a:srgbClr val="FFFFFF"/>
          </a:solidFill>
          <a:ln w="6350">
            <a:solidFill>
              <a:srgbClr val="D9D9D9"/>
            </a:solidFill>
            <a:prstDash val="solid"/>
          </a:ln>
        </p:spPr>
        <p:txBody>
          <a:bodyPr/>
          <a:lstStyle/>
          <a:p>
            <a:endParaRPr lang="en-US"/>
          </a:p>
        </p:txBody>
      </p:sp>
      <p:pic>
        <p:nvPicPr>
          <p:cNvPr id="10" name="Pick one example" descr="Pick one example from the form"/>
          <p:cNvPicPr>
            <a:picLocks noChangeAspect="1"/>
          </p:cNvPicPr>
          <p:nvPr/>
        </p:nvPicPr>
        <p:blipFill>
          <a:blip r:embed="rId4"/>
          <a:stretch>
            <a:fillRect/>
          </a:stretch>
        </p:blipFill>
        <p:spPr>
          <a:xfrm>
            <a:off x="6461608" y="2078014"/>
            <a:ext cx="2697480" cy="873173"/>
          </a:xfrm>
          <a:prstGeom prst="rect">
            <a:avLst/>
          </a:prstGeom>
        </p:spPr>
      </p:pic>
      <p:sp>
        <p:nvSpPr>
          <p:cNvPr id="11" name="Text 6"/>
          <p:cNvSpPr txBox="1"/>
          <p:nvPr/>
        </p:nvSpPr>
        <p:spPr>
          <a:xfrm>
            <a:off x="9433408" y="1645920"/>
            <a:ext cx="2026768" cy="173736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Pick one</a:t>
            </a:r>
            <a:endParaRPr lang="en-US" sz="1400" dirty="0"/>
          </a:p>
          <a:p>
            <a:pPr marL="0" indent="0">
              <a:spcAft>
                <a:spcPts val="400"/>
              </a:spcAft>
              <a:buNone/>
            </a:pPr>
            <a:r>
              <a:rPr lang="en-US" sz="1400" dirty="0">
                <a:solidFill>
                  <a:schemeClr val="tx2"/>
                </a:solidFill>
              </a:rPr>
              <a:t>Tap one answer. Tap it again to unselect it.</a:t>
            </a:r>
            <a:endParaRPr lang="en-US" sz="1400" dirty="0"/>
          </a:p>
        </p:txBody>
      </p:sp>
      <p:sp>
        <p:nvSpPr>
          <p:cNvPr id="12" name="Pick all that apply card"/>
          <p:cNvSpPr/>
          <p:nvPr/>
        </p:nvSpPr>
        <p:spPr>
          <a:xfrm>
            <a:off x="548640" y="3931920"/>
            <a:ext cx="5410048"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13" name="Pick all that apply frame"/>
          <p:cNvSpPr/>
          <p:nvPr/>
        </p:nvSpPr>
        <p:spPr>
          <a:xfrm>
            <a:off x="777240" y="4536983"/>
            <a:ext cx="2697480" cy="1075874"/>
          </a:xfrm>
          <a:prstGeom prst="rect">
            <a:avLst/>
          </a:prstGeom>
          <a:solidFill>
            <a:srgbClr val="FFFFFF"/>
          </a:solidFill>
          <a:ln w="6350">
            <a:solidFill>
              <a:srgbClr val="D9D9D9"/>
            </a:solidFill>
            <a:prstDash val="solid"/>
          </a:ln>
        </p:spPr>
        <p:txBody>
          <a:bodyPr/>
          <a:lstStyle/>
          <a:p>
            <a:endParaRPr lang="en-US"/>
          </a:p>
        </p:txBody>
      </p:sp>
      <p:pic>
        <p:nvPicPr>
          <p:cNvPr id="14" name="Pick all that apply example" descr="Pick all that apply example from the form"/>
          <p:cNvPicPr>
            <a:picLocks noChangeAspect="1"/>
          </p:cNvPicPr>
          <p:nvPr/>
        </p:nvPicPr>
        <p:blipFill>
          <a:blip r:embed="rId5"/>
          <a:stretch>
            <a:fillRect/>
          </a:stretch>
        </p:blipFill>
        <p:spPr>
          <a:xfrm>
            <a:off x="777240" y="4536983"/>
            <a:ext cx="2697480" cy="1075874"/>
          </a:xfrm>
          <a:prstGeom prst="rect">
            <a:avLst/>
          </a:prstGeom>
        </p:spPr>
      </p:pic>
      <p:sp>
        <p:nvSpPr>
          <p:cNvPr id="15" name="Text 9"/>
          <p:cNvSpPr txBox="1"/>
          <p:nvPr/>
        </p:nvSpPr>
        <p:spPr>
          <a:xfrm>
            <a:off x="3749040" y="4206240"/>
            <a:ext cx="2026768" cy="173736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Pick all that apply</a:t>
            </a:r>
            <a:endParaRPr lang="en-US" sz="1400" dirty="0"/>
          </a:p>
          <a:p>
            <a:pPr marL="0" indent="0">
              <a:spcAft>
                <a:spcPts val="400"/>
              </a:spcAft>
              <a:buNone/>
            </a:pPr>
            <a:r>
              <a:rPr lang="en-US" sz="1400" dirty="0">
                <a:solidFill>
                  <a:schemeClr val="tx2"/>
                </a:solidFill>
              </a:rPr>
              <a:t>Tap every answer that happened. A ✓ shows what's selected.</a:t>
            </a:r>
            <a:endParaRPr lang="en-US" sz="1400" dirty="0"/>
          </a:p>
        </p:txBody>
      </p:sp>
      <p:sp>
        <p:nvSpPr>
          <p:cNvPr id="16" name="Required fields  * card"/>
          <p:cNvSpPr/>
          <p:nvPr/>
        </p:nvSpPr>
        <p:spPr>
          <a:xfrm>
            <a:off x="6233008" y="3931920"/>
            <a:ext cx="5410048"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17" name="Required fields  * frame"/>
          <p:cNvSpPr/>
          <p:nvPr/>
        </p:nvSpPr>
        <p:spPr>
          <a:xfrm>
            <a:off x="6461608" y="4708499"/>
            <a:ext cx="2697480" cy="732841"/>
          </a:xfrm>
          <a:prstGeom prst="rect">
            <a:avLst/>
          </a:prstGeom>
          <a:solidFill>
            <a:srgbClr val="FFFFFF"/>
          </a:solidFill>
          <a:ln w="6350">
            <a:solidFill>
              <a:srgbClr val="D9D9D9"/>
            </a:solidFill>
            <a:prstDash val="solid"/>
          </a:ln>
        </p:spPr>
        <p:txBody>
          <a:bodyPr/>
          <a:lstStyle/>
          <a:p>
            <a:endParaRPr lang="en-US"/>
          </a:p>
        </p:txBody>
      </p:sp>
      <p:pic>
        <p:nvPicPr>
          <p:cNvPr id="18" name="Required fields  * example" descr="Required fields  * example from the form"/>
          <p:cNvPicPr>
            <a:picLocks noChangeAspect="1"/>
          </p:cNvPicPr>
          <p:nvPr/>
        </p:nvPicPr>
        <p:blipFill>
          <a:blip r:embed="rId6"/>
          <a:stretch>
            <a:fillRect/>
          </a:stretch>
        </p:blipFill>
        <p:spPr>
          <a:xfrm>
            <a:off x="6461608" y="4708499"/>
            <a:ext cx="2697480" cy="732841"/>
          </a:xfrm>
          <a:prstGeom prst="rect">
            <a:avLst/>
          </a:prstGeom>
        </p:spPr>
      </p:pic>
      <p:sp>
        <p:nvSpPr>
          <p:cNvPr id="19" name="Text 12"/>
          <p:cNvSpPr txBox="1"/>
          <p:nvPr/>
        </p:nvSpPr>
        <p:spPr>
          <a:xfrm>
            <a:off x="9433408" y="4206240"/>
            <a:ext cx="2026768" cy="173736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Required fields  *</a:t>
            </a:r>
            <a:endParaRPr lang="en-US" sz="1400" dirty="0"/>
          </a:p>
          <a:p>
            <a:pPr marL="0" indent="0">
              <a:spcAft>
                <a:spcPts val="400"/>
              </a:spcAft>
              <a:buNone/>
            </a:pPr>
            <a:r>
              <a:rPr lang="en-US" sz="1400" dirty="0">
                <a:solidFill>
                  <a:schemeClr val="tx2"/>
                </a:solidFill>
              </a:rPr>
              <a:t>Must be filled in. If one is empty you get a red box and no QR code.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During the match: watch only your robot</a:t>
            </a:r>
            <a:endParaRPr lang="en-US" sz="3600" dirty="0"/>
          </a:p>
        </p:txBody>
      </p:sp>
      <p:sp>
        <p:nvSpPr>
          <p:cNvPr id="4" name="Auto segment"/>
          <p:cNvSpPr txBox="1"/>
          <p:nvPr/>
        </p:nvSpPr>
        <p:spPr>
          <a:xfrm>
            <a:off x="548640" y="1371600"/>
            <a:ext cx="1386802" cy="502920"/>
          </a:xfrm>
          <a:prstGeom prst="rect">
            <a:avLst/>
          </a:prstGeom>
          <a:solidFill>
            <a:schemeClr val="accent1"/>
          </a:solidFill>
          <a:ln w="12700">
            <a:solidFill>
              <a:schemeClr val="bg1"/>
            </a:solidFill>
          </a:ln>
        </p:spPr>
        <p:txBody>
          <a:bodyPr wrap="square" lIns="0" tIns="0" rIns="0" bIns="0" rtlCol="0" anchor="ctr"/>
          <a:lstStyle/>
          <a:p>
            <a:pPr marL="0" indent="0" algn="ctr">
              <a:buNone/>
            </a:pPr>
            <a:r>
              <a:rPr lang="en-US" sz="1400" b="1" dirty="0">
                <a:solidFill>
                  <a:schemeClr val="tx1"/>
                </a:solidFill>
              </a:rPr>
              <a:t>AUTO</a:t>
            </a:r>
            <a:endParaRPr lang="en-US" sz="1400" dirty="0"/>
          </a:p>
        </p:txBody>
      </p:sp>
      <p:sp>
        <p:nvSpPr>
          <p:cNvPr id="5" name="Teleop segment"/>
          <p:cNvSpPr txBox="1"/>
          <p:nvPr/>
        </p:nvSpPr>
        <p:spPr>
          <a:xfrm>
            <a:off x="1935442" y="1371600"/>
            <a:ext cx="7627410" cy="502920"/>
          </a:xfrm>
          <a:prstGeom prst="rect">
            <a:avLst/>
          </a:prstGeom>
          <a:solidFill>
            <a:schemeClr val="bg2"/>
          </a:solidFill>
          <a:ln w="12700">
            <a:solidFill>
              <a:schemeClr val="bg1"/>
            </a:solidFill>
          </a:ln>
        </p:spPr>
        <p:txBody>
          <a:bodyPr wrap="square" lIns="0" tIns="0" rIns="0" bIns="0" rtlCol="0" anchor="ctr"/>
          <a:lstStyle/>
          <a:p>
            <a:pPr marL="0" indent="0" algn="ctr">
              <a:buNone/>
            </a:pPr>
            <a:r>
              <a:rPr lang="en-US" sz="1400" b="1" dirty="0">
                <a:solidFill>
                  <a:schemeClr val="tx1"/>
                </a:solidFill>
              </a:rPr>
              <a:t>TELEOP  ·  2:20</a:t>
            </a:r>
            <a:endParaRPr lang="en-US" sz="1400" dirty="0"/>
          </a:p>
        </p:txBody>
      </p:sp>
      <p:sp>
        <p:nvSpPr>
          <p:cNvPr id="6" name="Endgame segment"/>
          <p:cNvSpPr txBox="1"/>
          <p:nvPr/>
        </p:nvSpPr>
        <p:spPr>
          <a:xfrm>
            <a:off x="9562852" y="1371600"/>
            <a:ext cx="2080203" cy="502920"/>
          </a:xfrm>
          <a:prstGeom prst="rect">
            <a:avLst/>
          </a:prstGeom>
          <a:solidFill>
            <a:schemeClr val="tx1"/>
          </a:solidFill>
          <a:ln w="12700">
            <a:solidFill>
              <a:schemeClr val="bg1"/>
            </a:solidFill>
          </a:ln>
        </p:spPr>
        <p:txBody>
          <a:bodyPr wrap="square" lIns="0" tIns="0" rIns="0" bIns="0" rtlCol="0" anchor="ctr"/>
          <a:lstStyle/>
          <a:p>
            <a:pPr marL="0" indent="0" algn="ctr">
              <a:buNone/>
            </a:pPr>
            <a:r>
              <a:rPr lang="en-US" sz="1400" b="1" dirty="0">
                <a:solidFill>
                  <a:schemeClr val="bg1"/>
                </a:solidFill>
              </a:rPr>
              <a:t>ENDGAME</a:t>
            </a:r>
            <a:endParaRPr lang="en-US" sz="1400" dirty="0"/>
          </a:p>
        </p:txBody>
      </p:sp>
      <p:sp>
        <p:nvSpPr>
          <p:cNvPr id="7" name="Text 4"/>
          <p:cNvSpPr txBox="1"/>
          <p:nvPr/>
        </p:nvSpPr>
        <p:spPr>
          <a:xfrm>
            <a:off x="182880" y="1901952"/>
            <a:ext cx="731520" cy="228600"/>
          </a:xfrm>
          <a:prstGeom prst="rect">
            <a:avLst/>
          </a:prstGeom>
          <a:noFill/>
          <a:ln/>
        </p:spPr>
        <p:txBody>
          <a:bodyPr wrap="square" lIns="0" tIns="0" rIns="0" bIns="0" rtlCol="0" anchor="t"/>
          <a:lstStyle/>
          <a:p>
            <a:pPr marL="0" indent="0" algn="ctr">
              <a:buNone/>
            </a:pPr>
            <a:r>
              <a:rPr lang="en-US" sz="1100" dirty="0">
                <a:solidFill>
                  <a:schemeClr val="tx2"/>
                </a:solidFill>
              </a:rPr>
              <a:t>0:00</a:t>
            </a:r>
            <a:endParaRPr lang="en-US" sz="1100" dirty="0"/>
          </a:p>
        </p:txBody>
      </p:sp>
      <p:sp>
        <p:nvSpPr>
          <p:cNvPr id="8" name="Text 5"/>
          <p:cNvSpPr txBox="1"/>
          <p:nvPr/>
        </p:nvSpPr>
        <p:spPr>
          <a:xfrm>
            <a:off x="1569682" y="1901952"/>
            <a:ext cx="731520" cy="228600"/>
          </a:xfrm>
          <a:prstGeom prst="rect">
            <a:avLst/>
          </a:prstGeom>
          <a:noFill/>
          <a:ln/>
        </p:spPr>
        <p:txBody>
          <a:bodyPr wrap="square" lIns="0" tIns="0" rIns="0" bIns="0" rtlCol="0" anchor="t"/>
          <a:lstStyle/>
          <a:p>
            <a:pPr marL="0" indent="0" algn="ctr">
              <a:buNone/>
            </a:pPr>
            <a:r>
              <a:rPr lang="en-US" sz="1100" dirty="0">
                <a:solidFill>
                  <a:schemeClr val="tx2"/>
                </a:solidFill>
              </a:rPr>
              <a:t>0:20</a:t>
            </a:r>
            <a:endParaRPr lang="en-US" sz="1100" dirty="0"/>
          </a:p>
        </p:txBody>
      </p:sp>
      <p:sp>
        <p:nvSpPr>
          <p:cNvPr id="9" name="Text 6"/>
          <p:cNvSpPr txBox="1"/>
          <p:nvPr/>
        </p:nvSpPr>
        <p:spPr>
          <a:xfrm>
            <a:off x="9197092" y="1901952"/>
            <a:ext cx="731520" cy="228600"/>
          </a:xfrm>
          <a:prstGeom prst="rect">
            <a:avLst/>
          </a:prstGeom>
          <a:noFill/>
          <a:ln/>
        </p:spPr>
        <p:txBody>
          <a:bodyPr wrap="square" lIns="0" tIns="0" rIns="0" bIns="0" rtlCol="0" anchor="t"/>
          <a:lstStyle/>
          <a:p>
            <a:pPr marL="0" indent="0" algn="ctr">
              <a:buNone/>
            </a:pPr>
            <a:r>
              <a:rPr lang="en-US" sz="1100" dirty="0">
                <a:solidFill>
                  <a:schemeClr val="tx2"/>
                </a:solidFill>
              </a:rPr>
              <a:t>2:10</a:t>
            </a:r>
            <a:endParaRPr lang="en-US" sz="1100" dirty="0"/>
          </a:p>
        </p:txBody>
      </p:sp>
      <p:sp>
        <p:nvSpPr>
          <p:cNvPr id="10" name="Text 7"/>
          <p:cNvSpPr txBox="1"/>
          <p:nvPr/>
        </p:nvSpPr>
        <p:spPr>
          <a:xfrm>
            <a:off x="11277295" y="1901952"/>
            <a:ext cx="731520" cy="228600"/>
          </a:xfrm>
          <a:prstGeom prst="rect">
            <a:avLst/>
          </a:prstGeom>
          <a:noFill/>
          <a:ln/>
        </p:spPr>
        <p:txBody>
          <a:bodyPr wrap="square" lIns="0" tIns="0" rIns="0" bIns="0" rtlCol="0" anchor="t"/>
          <a:lstStyle/>
          <a:p>
            <a:pPr marL="0" indent="0" algn="ctr">
              <a:buNone/>
            </a:pPr>
            <a:r>
              <a:rPr lang="en-US" sz="1100" dirty="0">
                <a:solidFill>
                  <a:schemeClr val="tx2"/>
                </a:solidFill>
              </a:rPr>
              <a:t>2:40</a:t>
            </a:r>
            <a:endParaRPr lang="en-US" sz="1100" dirty="0"/>
          </a:p>
        </p:txBody>
      </p:sp>
      <p:sp>
        <p:nvSpPr>
          <p:cNvPr id="11" name="Autonomous card"/>
          <p:cNvSpPr/>
          <p:nvPr/>
        </p:nvSpPr>
        <p:spPr>
          <a:xfrm>
            <a:off x="548640" y="2377440"/>
            <a:ext cx="3515258"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12" name="Autonomous circle"/>
          <p:cNvSpPr/>
          <p:nvPr/>
        </p:nvSpPr>
        <p:spPr>
          <a:xfrm>
            <a:off x="777240" y="2606040"/>
            <a:ext cx="548640" cy="548640"/>
          </a:xfrm>
          <a:prstGeom prst="ellipse">
            <a:avLst/>
          </a:prstGeom>
          <a:solidFill>
            <a:srgbClr val="12B4AF"/>
          </a:solidFill>
          <a:ln w="12700">
            <a:solidFill>
              <a:srgbClr val="12B4AF"/>
            </a:solidFill>
            <a:prstDash val="solid"/>
          </a:ln>
        </p:spPr>
        <p:txBody>
          <a:bodyPr/>
          <a:lstStyle/>
          <a:p>
            <a:endParaRPr lang="en-US"/>
          </a:p>
        </p:txBody>
      </p:sp>
      <p:pic>
        <p:nvPicPr>
          <p:cNvPr id="13" name="Autonomous" descr="Autonomous"/>
          <p:cNvPicPr>
            <a:picLocks noChangeAspect="1"/>
          </p:cNvPicPr>
          <p:nvPr/>
        </p:nvPicPr>
        <p:blipFill>
          <a:blip r:embed="rId3"/>
          <a:stretch>
            <a:fillRect/>
          </a:stretch>
        </p:blipFill>
        <p:spPr>
          <a:xfrm>
            <a:off x="908914" y="2737714"/>
            <a:ext cx="285293" cy="285293"/>
          </a:xfrm>
          <a:prstGeom prst="rect">
            <a:avLst/>
          </a:prstGeom>
        </p:spPr>
      </p:pic>
      <p:sp>
        <p:nvSpPr>
          <p:cNvPr id="14" name="Text 10"/>
          <p:cNvSpPr txBox="1"/>
          <p:nvPr/>
        </p:nvSpPr>
        <p:spPr>
          <a:xfrm>
            <a:off x="1463040" y="2606040"/>
            <a:ext cx="2417978" cy="594360"/>
          </a:xfrm>
          <a:prstGeom prst="rect">
            <a:avLst/>
          </a:prstGeom>
          <a:noFill/>
          <a:ln/>
        </p:spPr>
        <p:txBody>
          <a:bodyPr wrap="square" lIns="0" tIns="0" rIns="0" bIns="0" rtlCol="0" anchor="t"/>
          <a:lstStyle/>
          <a:p>
            <a:pPr marL="0" indent="0">
              <a:buNone/>
            </a:pPr>
            <a:r>
              <a:rPr lang="en-US" sz="1800" b="1" dirty="0">
                <a:solidFill>
                  <a:schemeClr val="tx1"/>
                </a:solidFill>
              </a:rPr>
              <a:t>Autonomous</a:t>
            </a:r>
            <a:endParaRPr lang="en-US" sz="1400" dirty="0"/>
          </a:p>
          <a:p>
            <a:pPr marL="0" indent="0">
              <a:buNone/>
            </a:pPr>
            <a:r>
              <a:rPr lang="en-US" sz="1200" b="1" dirty="0">
                <a:solidFill>
                  <a:schemeClr val="accent2"/>
                </a:solidFill>
              </a:rPr>
              <a:t>first 20 sec</a:t>
            </a:r>
            <a:endParaRPr lang="en-US" sz="1400" dirty="0"/>
          </a:p>
        </p:txBody>
      </p:sp>
      <p:sp>
        <p:nvSpPr>
          <p:cNvPr id="15" name="Text 11"/>
          <p:cNvSpPr txBox="1"/>
          <p:nvPr/>
        </p:nvSpPr>
        <p:spPr>
          <a:xfrm>
            <a:off x="777240" y="3337560"/>
            <a:ext cx="3103778" cy="1920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Fuel scored and missed</a:t>
            </a:r>
            <a:endParaRPr lang="en-US" sz="1400" dirty="0"/>
          </a:p>
          <a:p>
            <a:pPr marL="177800" indent="-177800">
              <a:spcAft>
                <a:spcPts val="500"/>
              </a:spcAft>
              <a:buSzPct val="100000"/>
              <a:buChar char="•"/>
            </a:pPr>
            <a:r>
              <a:rPr lang="en-US" sz="1400" dirty="0">
                <a:solidFill>
                  <a:schemeClr val="tx1"/>
                </a:solidFill>
              </a:rPr>
              <a:t>Its path: start line, Neutral Zone, Bump, Trench</a:t>
            </a:r>
            <a:endParaRPr lang="en-US" sz="1400" dirty="0"/>
          </a:p>
          <a:p>
            <a:pPr marL="177800" indent="-177800">
              <a:spcAft>
                <a:spcPts val="500"/>
              </a:spcAft>
              <a:buSzPct val="100000"/>
              <a:buChar char="•"/>
            </a:pPr>
            <a:r>
              <a:rPr lang="en-US" sz="1400" dirty="0">
                <a:solidFill>
                  <a:schemeClr val="tx1"/>
                </a:solidFill>
              </a:rPr>
              <a:t>Where it picked up fuel</a:t>
            </a:r>
            <a:endParaRPr lang="en-US" sz="1400" dirty="0"/>
          </a:p>
          <a:p>
            <a:pPr marL="177800" indent="-177800">
              <a:spcAft>
                <a:spcPts val="500"/>
              </a:spcAft>
              <a:buSzPct val="100000"/>
              <a:buChar char="•"/>
            </a:pPr>
            <a:r>
              <a:rPr lang="en-US" sz="1400" dirty="0">
                <a:solidFill>
                  <a:schemeClr val="tx1"/>
                </a:solidFill>
              </a:rPr>
              <a:t>Did it climb to Level 1? (15 pts)</a:t>
            </a:r>
            <a:endParaRPr lang="en-US" sz="1400" dirty="0"/>
          </a:p>
        </p:txBody>
      </p:sp>
      <p:sp>
        <p:nvSpPr>
          <p:cNvPr id="16" name="Teleop card"/>
          <p:cNvSpPr/>
          <p:nvPr/>
        </p:nvSpPr>
        <p:spPr>
          <a:xfrm>
            <a:off x="4338218" y="2377440"/>
            <a:ext cx="3515258"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17" name="Teleop circle"/>
          <p:cNvSpPr/>
          <p:nvPr/>
        </p:nvSpPr>
        <p:spPr>
          <a:xfrm>
            <a:off x="4566818" y="2606040"/>
            <a:ext cx="548640" cy="548640"/>
          </a:xfrm>
          <a:prstGeom prst="ellipse">
            <a:avLst/>
          </a:prstGeom>
          <a:solidFill>
            <a:srgbClr val="12B4AF"/>
          </a:solidFill>
          <a:ln w="12700">
            <a:solidFill>
              <a:srgbClr val="12B4AF"/>
            </a:solidFill>
            <a:prstDash val="solid"/>
          </a:ln>
        </p:spPr>
        <p:txBody>
          <a:bodyPr/>
          <a:lstStyle/>
          <a:p>
            <a:endParaRPr lang="en-US"/>
          </a:p>
        </p:txBody>
      </p:sp>
      <p:pic>
        <p:nvPicPr>
          <p:cNvPr id="18" name="Teleop" descr="Teleop"/>
          <p:cNvPicPr>
            <a:picLocks noChangeAspect="1"/>
          </p:cNvPicPr>
          <p:nvPr/>
        </p:nvPicPr>
        <p:blipFill>
          <a:blip r:embed="rId4"/>
          <a:stretch>
            <a:fillRect/>
          </a:stretch>
        </p:blipFill>
        <p:spPr>
          <a:xfrm>
            <a:off x="4698492" y="2737714"/>
            <a:ext cx="285293" cy="285293"/>
          </a:xfrm>
          <a:prstGeom prst="rect">
            <a:avLst/>
          </a:prstGeom>
        </p:spPr>
      </p:pic>
      <p:sp>
        <p:nvSpPr>
          <p:cNvPr id="19" name="Text 14"/>
          <p:cNvSpPr txBox="1"/>
          <p:nvPr/>
        </p:nvSpPr>
        <p:spPr>
          <a:xfrm>
            <a:off x="5252618" y="2606040"/>
            <a:ext cx="2417978" cy="594360"/>
          </a:xfrm>
          <a:prstGeom prst="rect">
            <a:avLst/>
          </a:prstGeom>
          <a:noFill/>
          <a:ln/>
        </p:spPr>
        <p:txBody>
          <a:bodyPr wrap="square" lIns="0" tIns="0" rIns="0" bIns="0" rtlCol="0" anchor="t"/>
          <a:lstStyle/>
          <a:p>
            <a:pPr marL="0" indent="0">
              <a:buNone/>
            </a:pPr>
            <a:r>
              <a:rPr lang="en-US" sz="1800" b="1" dirty="0">
                <a:solidFill>
                  <a:schemeClr val="tx1"/>
                </a:solidFill>
              </a:rPr>
              <a:t>Teleop</a:t>
            </a:r>
            <a:endParaRPr lang="en-US" sz="1400" dirty="0"/>
          </a:p>
          <a:p>
            <a:pPr marL="0" indent="0">
              <a:buNone/>
            </a:pPr>
            <a:r>
              <a:rPr lang="en-US" sz="1200" b="1" dirty="0">
                <a:solidFill>
                  <a:schemeClr val="accent2"/>
                </a:solidFill>
              </a:rPr>
              <a:t>2:20</a:t>
            </a:r>
            <a:endParaRPr lang="en-US" sz="1400" dirty="0"/>
          </a:p>
        </p:txBody>
      </p:sp>
      <p:sp>
        <p:nvSpPr>
          <p:cNvPr id="20" name="Text 15"/>
          <p:cNvSpPr txBox="1"/>
          <p:nvPr/>
        </p:nvSpPr>
        <p:spPr>
          <a:xfrm>
            <a:off x="4566818" y="3337560"/>
            <a:ext cx="3103778" cy="1920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Fuel scored, only while your Hub is active</a:t>
            </a:r>
            <a:endParaRPr lang="en-US" sz="1400" dirty="0"/>
          </a:p>
          <a:p>
            <a:pPr marL="177800" indent="-177800">
              <a:spcAft>
                <a:spcPts val="500"/>
              </a:spcAft>
              <a:buSzPct val="100000"/>
              <a:buChar char="•"/>
            </a:pPr>
            <a:r>
              <a:rPr lang="en-US" sz="1400" dirty="0">
                <a:solidFill>
                  <a:schemeClr val="tx1"/>
                </a:solidFill>
              </a:rPr>
              <a:t>Fuel missed</a:t>
            </a:r>
            <a:endParaRPr lang="en-US" sz="1400" dirty="0"/>
          </a:p>
          <a:p>
            <a:pPr marL="177800" indent="-177800">
              <a:spcAft>
                <a:spcPts val="500"/>
              </a:spcAft>
              <a:buSzPct val="100000"/>
              <a:buChar char="•"/>
            </a:pPr>
            <a:r>
              <a:rPr lang="en-US" sz="1400" dirty="0">
                <a:solidFill>
                  <a:schemeClr val="tx1"/>
                </a:solidFill>
              </a:rPr>
              <a:t>Where it gets fuel and shoots from</a:t>
            </a:r>
            <a:endParaRPr lang="en-US" sz="1400" dirty="0"/>
          </a:p>
          <a:p>
            <a:pPr marL="177800" indent="-177800">
              <a:spcAft>
                <a:spcPts val="500"/>
              </a:spcAft>
              <a:buSzPct val="100000"/>
              <a:buChar char="•"/>
            </a:pPr>
            <a:r>
              <a:rPr lang="en-US" sz="1400" dirty="0">
                <a:solidFill>
                  <a:schemeClr val="tx1"/>
                </a:solidFill>
              </a:rPr>
              <a:t>What it does while the Hub is inactive</a:t>
            </a:r>
            <a:endParaRPr lang="en-US" sz="1400" dirty="0"/>
          </a:p>
          <a:p>
            <a:pPr marL="177800" indent="-177800">
              <a:spcAft>
                <a:spcPts val="500"/>
              </a:spcAft>
              <a:buSzPct val="100000"/>
              <a:buChar char="•"/>
            </a:pPr>
            <a:r>
              <a:rPr lang="en-US" sz="1400" dirty="0">
                <a:solidFill>
                  <a:schemeClr val="tx1"/>
                </a:solidFill>
              </a:rPr>
              <a:t>Defense: played it or received it</a:t>
            </a:r>
            <a:endParaRPr lang="en-US" sz="1400" dirty="0"/>
          </a:p>
        </p:txBody>
      </p:sp>
      <p:sp>
        <p:nvSpPr>
          <p:cNvPr id="21" name="Endgame card"/>
          <p:cNvSpPr/>
          <p:nvPr/>
        </p:nvSpPr>
        <p:spPr>
          <a:xfrm>
            <a:off x="8127797" y="2377440"/>
            <a:ext cx="3515258"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22" name="Endgame circle"/>
          <p:cNvSpPr/>
          <p:nvPr/>
        </p:nvSpPr>
        <p:spPr>
          <a:xfrm>
            <a:off x="8356397" y="2606040"/>
            <a:ext cx="548640" cy="548640"/>
          </a:xfrm>
          <a:prstGeom prst="ellipse">
            <a:avLst/>
          </a:prstGeom>
          <a:solidFill>
            <a:srgbClr val="12B4AF"/>
          </a:solidFill>
          <a:ln w="12700">
            <a:solidFill>
              <a:srgbClr val="12B4AF"/>
            </a:solidFill>
            <a:prstDash val="solid"/>
          </a:ln>
        </p:spPr>
        <p:txBody>
          <a:bodyPr/>
          <a:lstStyle/>
          <a:p>
            <a:endParaRPr lang="en-US"/>
          </a:p>
        </p:txBody>
      </p:sp>
      <p:pic>
        <p:nvPicPr>
          <p:cNvPr id="23" name="Endgame" descr="Endgame"/>
          <p:cNvPicPr>
            <a:picLocks noChangeAspect="1"/>
          </p:cNvPicPr>
          <p:nvPr/>
        </p:nvPicPr>
        <p:blipFill>
          <a:blip r:embed="rId5"/>
          <a:stretch>
            <a:fillRect/>
          </a:stretch>
        </p:blipFill>
        <p:spPr>
          <a:xfrm>
            <a:off x="8488070" y="2737714"/>
            <a:ext cx="285293" cy="285293"/>
          </a:xfrm>
          <a:prstGeom prst="rect">
            <a:avLst/>
          </a:prstGeom>
        </p:spPr>
      </p:pic>
      <p:sp>
        <p:nvSpPr>
          <p:cNvPr id="24" name="Text 18"/>
          <p:cNvSpPr txBox="1"/>
          <p:nvPr/>
        </p:nvSpPr>
        <p:spPr>
          <a:xfrm>
            <a:off x="9042197" y="2606040"/>
            <a:ext cx="2417978" cy="594360"/>
          </a:xfrm>
          <a:prstGeom prst="rect">
            <a:avLst/>
          </a:prstGeom>
          <a:noFill/>
          <a:ln/>
        </p:spPr>
        <p:txBody>
          <a:bodyPr wrap="square" lIns="0" tIns="0" rIns="0" bIns="0" rtlCol="0" anchor="t"/>
          <a:lstStyle/>
          <a:p>
            <a:pPr marL="0" indent="0">
              <a:buNone/>
            </a:pPr>
            <a:r>
              <a:rPr lang="en-US" sz="1800" b="1" dirty="0">
                <a:solidFill>
                  <a:schemeClr val="tx1"/>
                </a:solidFill>
              </a:rPr>
              <a:t>Endgame</a:t>
            </a:r>
            <a:endParaRPr lang="en-US" sz="1400" dirty="0"/>
          </a:p>
          <a:p>
            <a:pPr marL="0" indent="0">
              <a:buNone/>
            </a:pPr>
            <a:r>
              <a:rPr lang="en-US" sz="1200" b="1" dirty="0">
                <a:solidFill>
                  <a:schemeClr val="accent2"/>
                </a:solidFill>
              </a:rPr>
              <a:t>last 30 sec</a:t>
            </a:r>
            <a:endParaRPr lang="en-US" sz="1400" dirty="0"/>
          </a:p>
        </p:txBody>
      </p:sp>
      <p:sp>
        <p:nvSpPr>
          <p:cNvPr id="25" name="Text 19"/>
          <p:cNvSpPr txBox="1"/>
          <p:nvPr/>
        </p:nvSpPr>
        <p:spPr>
          <a:xfrm>
            <a:off x="8356397" y="3337560"/>
            <a:ext cx="3103778" cy="1920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Tower climb: None, Attempted, Level 1, 2 or 3</a:t>
            </a:r>
            <a:endParaRPr lang="en-US" sz="1400" dirty="0"/>
          </a:p>
          <a:p>
            <a:pPr marL="177800" indent="-177800">
              <a:spcAft>
                <a:spcPts val="500"/>
              </a:spcAft>
              <a:buSzPct val="100000"/>
              <a:buChar char="•"/>
            </a:pPr>
            <a:r>
              <a:rPr lang="en-US" sz="1400" dirty="0">
                <a:solidFill>
                  <a:schemeClr val="tx1"/>
                </a:solidFill>
              </a:rPr>
              <a:t>How long the climb took</a:t>
            </a:r>
            <a:endParaRPr lang="en-US" sz="1400" dirty="0"/>
          </a:p>
        </p:txBody>
      </p:sp>
      <p:sp>
        <p:nvSpPr>
          <p:cNvPr id="26" name="Tip box"/>
          <p:cNvSpPr/>
          <p:nvPr/>
        </p:nvSpPr>
        <p:spPr>
          <a:xfrm>
            <a:off x="548640" y="5577840"/>
            <a:ext cx="11094415" cy="640080"/>
          </a:xfrm>
          <a:prstGeom prst="roundRect">
            <a:avLst>
              <a:gd name="adj" fmla="val 17143"/>
            </a:avLst>
          </a:prstGeom>
          <a:solidFill>
            <a:schemeClr val="bg2"/>
          </a:solidFill>
          <a:ln w="12700">
            <a:solidFill>
              <a:schemeClr val="bg2"/>
            </a:solidFill>
            <a:prstDash val="solid"/>
          </a:ln>
        </p:spPr>
        <p:txBody>
          <a:bodyPr/>
          <a:lstStyle/>
          <a:p>
            <a:endParaRPr lang="en-US"/>
          </a:p>
        </p:txBody>
      </p:sp>
      <p:pic>
        <p:nvPicPr>
          <p:cNvPr id="27" name="Tip icon" descr="Tip"/>
          <p:cNvPicPr>
            <a:picLocks noChangeAspect="1"/>
          </p:cNvPicPr>
          <p:nvPr/>
        </p:nvPicPr>
        <p:blipFill>
          <a:blip r:embed="rId6"/>
          <a:stretch>
            <a:fillRect/>
          </a:stretch>
        </p:blipFill>
        <p:spPr>
          <a:xfrm>
            <a:off x="777240" y="5715000"/>
            <a:ext cx="365760" cy="365760"/>
          </a:xfrm>
          <a:prstGeom prst="rect">
            <a:avLst/>
          </a:prstGeom>
        </p:spPr>
      </p:pic>
      <p:sp>
        <p:nvSpPr>
          <p:cNvPr id="28" name="Text 21"/>
          <p:cNvSpPr txBox="1"/>
          <p:nvPr/>
        </p:nvSpPr>
        <p:spPr>
          <a:xfrm>
            <a:off x="1325880" y="5577840"/>
            <a:ext cx="10088575" cy="640080"/>
          </a:xfrm>
          <a:prstGeom prst="rect">
            <a:avLst/>
          </a:prstGeom>
          <a:noFill/>
          <a:ln/>
        </p:spPr>
        <p:txBody>
          <a:bodyPr wrap="square" lIns="0" tIns="0" rIns="0" bIns="0" rtlCol="0" anchor="ctr"/>
          <a:lstStyle/>
          <a:p>
            <a:pPr marL="0" indent="0">
              <a:buNone/>
            </a:pPr>
            <a:r>
              <a:rPr lang="en-US" sz="1500" b="1" dirty="0">
                <a:solidFill>
                  <a:schemeClr val="tx1"/>
                </a:solidFill>
              </a:rPr>
              <a:t>Tip: </a:t>
            </a:r>
            <a:r>
              <a:rPr lang="en-US" sz="1500" dirty="0">
                <a:solidFill>
                  <a:schemeClr val="tx1"/>
                </a:solidFill>
              </a:rPr>
              <a:t>keep your eyes on the field. Tap +1 as each fuel goes in, and use +5 or +10 to catch up after a burst.</a:t>
            </a:r>
            <a:endParaRPr lang="en-US" sz="15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After the match: rate it and add notes</a:t>
            </a:r>
            <a:endParaRPr lang="en-US" sz="3600" dirty="0"/>
          </a:p>
        </p:txBody>
      </p:sp>
      <p:sp>
        <p:nvSpPr>
          <p:cNvPr id="4" name="Post-Match section phone"/>
          <p:cNvSpPr/>
          <p:nvPr/>
        </p:nvSpPr>
        <p:spPr>
          <a:xfrm>
            <a:off x="877824" y="1289304"/>
            <a:ext cx="2207905" cy="5010912"/>
          </a:xfrm>
          <a:prstGeom prst="roundRect">
            <a:avLst>
              <a:gd name="adj" fmla="val 8283"/>
            </a:avLst>
          </a:prstGeom>
          <a:solidFill>
            <a:schemeClr val="tx1"/>
          </a:solidFill>
          <a:ln w="9525">
            <a:solidFill>
              <a:srgbClr val="3A3A3A"/>
            </a:solidFill>
            <a:prstDash val="solid"/>
          </a:ln>
          <a:effectLst>
            <a:outerShdw blurRad="101600" dist="25400" dir="5400000" algn="bl" rotWithShape="0">
              <a:srgbClr val="000000">
                <a:alpha val="18000"/>
              </a:srgbClr>
            </a:outerShdw>
          </a:effectLst>
        </p:spPr>
        <p:txBody>
          <a:bodyPr/>
          <a:lstStyle/>
          <a:p>
            <a:endParaRPr lang="en-US"/>
          </a:p>
        </p:txBody>
      </p:sp>
      <p:pic>
        <p:nvPicPr>
          <p:cNvPr id="5" name="Post-Match section" descr="Post-Match section"/>
          <p:cNvPicPr>
            <a:picLocks noChangeAspect="1"/>
          </p:cNvPicPr>
          <p:nvPr/>
        </p:nvPicPr>
        <p:blipFill>
          <a:blip r:embed="rId3"/>
          <a:stretch>
            <a:fillRect/>
          </a:stretch>
        </p:blipFill>
        <p:spPr>
          <a:xfrm>
            <a:off x="960120" y="1371600"/>
            <a:ext cx="2043313" cy="4846320"/>
          </a:xfrm>
          <a:prstGeom prst="rect">
            <a:avLst/>
          </a:prstGeom>
        </p:spPr>
      </p:pic>
      <p:sp>
        <p:nvSpPr>
          <p:cNvPr id="6" name="Marker 1"/>
          <p:cNvSpPr txBox="1"/>
          <p:nvPr/>
        </p:nvSpPr>
        <p:spPr>
          <a:xfrm>
            <a:off x="493776" y="2112165"/>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Marker 2"/>
          <p:cNvSpPr txBox="1"/>
          <p:nvPr/>
        </p:nvSpPr>
        <p:spPr>
          <a:xfrm>
            <a:off x="493776" y="327528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8" name="Marker 3"/>
          <p:cNvSpPr txBox="1"/>
          <p:nvPr/>
        </p:nvSpPr>
        <p:spPr>
          <a:xfrm>
            <a:off x="493776" y="410308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9" name="Marker 4"/>
          <p:cNvSpPr txBox="1"/>
          <p:nvPr/>
        </p:nvSpPr>
        <p:spPr>
          <a:xfrm>
            <a:off x="493776" y="488897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0" name="Marker 5"/>
          <p:cNvSpPr txBox="1"/>
          <p:nvPr/>
        </p:nvSpPr>
        <p:spPr>
          <a:xfrm>
            <a:off x="493776" y="557008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11" name="Marker 1"/>
          <p:cNvSpPr txBox="1"/>
          <p:nvPr/>
        </p:nvSpPr>
        <p:spPr>
          <a:xfrm>
            <a:off x="4206240" y="13624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8"/>
          <p:cNvSpPr txBox="1"/>
          <p:nvPr/>
        </p:nvSpPr>
        <p:spPr>
          <a:xfrm>
            <a:off x="4736592" y="1389888"/>
            <a:ext cx="6876288" cy="768096"/>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Ratings from 1 to 5</a:t>
            </a:r>
            <a:endParaRPr lang="en-US" sz="1400" dirty="0"/>
          </a:p>
          <a:p>
            <a:pPr marL="0" indent="0">
              <a:spcAft>
                <a:spcPts val="200"/>
              </a:spcAft>
              <a:buNone/>
            </a:pPr>
            <a:r>
              <a:rPr lang="en-US" sz="1400" dirty="0">
                <a:solidFill>
                  <a:schemeClr val="tx2"/>
                </a:solidFill>
              </a:rPr>
              <a:t>Driver skill, speed and accuracy. 1 = poor, 5 = great.</a:t>
            </a:r>
            <a:endParaRPr lang="en-US" sz="1400" dirty="0"/>
          </a:p>
        </p:txBody>
      </p:sp>
      <p:sp>
        <p:nvSpPr>
          <p:cNvPr id="13" name="Marker 2"/>
          <p:cNvSpPr txBox="1"/>
          <p:nvPr/>
        </p:nvSpPr>
        <p:spPr>
          <a:xfrm>
            <a:off x="4206240" y="220370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4" name="Text 10"/>
          <p:cNvSpPr txBox="1"/>
          <p:nvPr/>
        </p:nvSpPr>
        <p:spPr>
          <a:xfrm>
            <a:off x="4736592" y="2231136"/>
            <a:ext cx="6876288" cy="768096"/>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Problems</a:t>
            </a:r>
            <a:endParaRPr lang="en-US" sz="1400" dirty="0"/>
          </a:p>
          <a:p>
            <a:pPr marL="0" indent="0">
              <a:spcAft>
                <a:spcPts val="200"/>
              </a:spcAft>
              <a:buNone/>
            </a:pPr>
            <a:r>
              <a:rPr lang="en-US" sz="1400" dirty="0">
                <a:solidFill>
                  <a:schemeClr val="tx2"/>
                </a:solidFill>
              </a:rPr>
              <a:t>Tap everything that went wrong: died, lost comms, tipped, jams…</a:t>
            </a:r>
            <a:endParaRPr lang="en-US" sz="1400" dirty="0"/>
          </a:p>
        </p:txBody>
      </p:sp>
      <p:sp>
        <p:nvSpPr>
          <p:cNvPr id="15" name="Marker 3"/>
          <p:cNvSpPr txBox="1"/>
          <p:nvPr/>
        </p:nvSpPr>
        <p:spPr>
          <a:xfrm>
            <a:off x="4206240" y="304495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6" name="Text 12"/>
          <p:cNvSpPr txBox="1"/>
          <p:nvPr/>
        </p:nvSpPr>
        <p:spPr>
          <a:xfrm>
            <a:off x="4736592" y="3072384"/>
            <a:ext cx="6876288" cy="768096"/>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Fouls and cards</a:t>
            </a:r>
            <a:endParaRPr lang="en-US" sz="1400" dirty="0"/>
          </a:p>
          <a:p>
            <a:pPr marL="0" indent="0">
              <a:spcAft>
                <a:spcPts val="200"/>
              </a:spcAft>
              <a:buNone/>
            </a:pPr>
            <a:r>
              <a:rPr lang="en-US" sz="1400" dirty="0">
                <a:solidFill>
                  <a:schemeClr val="tx2"/>
                </a:solidFill>
              </a:rPr>
              <a:t>Count the fouls the refs called on this robot.</a:t>
            </a:r>
            <a:endParaRPr lang="en-US" sz="1400" dirty="0"/>
          </a:p>
        </p:txBody>
      </p:sp>
      <p:sp>
        <p:nvSpPr>
          <p:cNvPr id="17" name="Marker 4"/>
          <p:cNvSpPr txBox="1"/>
          <p:nvPr/>
        </p:nvSpPr>
        <p:spPr>
          <a:xfrm>
            <a:off x="4206240" y="388620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8" name="Text 14"/>
          <p:cNvSpPr txBox="1"/>
          <p:nvPr/>
        </p:nvSpPr>
        <p:spPr>
          <a:xfrm>
            <a:off x="4736592" y="3913632"/>
            <a:ext cx="6876288" cy="768096"/>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Would you pick it?</a:t>
            </a:r>
            <a:endParaRPr lang="en-US" sz="1400" dirty="0"/>
          </a:p>
          <a:p>
            <a:pPr marL="0" indent="0">
              <a:spcAft>
                <a:spcPts val="200"/>
              </a:spcAft>
              <a:buNone/>
            </a:pPr>
            <a:r>
              <a:rPr lang="en-US" sz="1400" dirty="0">
                <a:solidFill>
                  <a:schemeClr val="tx2"/>
                </a:solidFill>
              </a:rPr>
              <a:t>Your gut feeling: Yes, Maybe or No.</a:t>
            </a:r>
            <a:endParaRPr lang="en-US" sz="1400" dirty="0"/>
          </a:p>
        </p:txBody>
      </p:sp>
      <p:sp>
        <p:nvSpPr>
          <p:cNvPr id="19" name="Marker 5"/>
          <p:cNvSpPr txBox="1"/>
          <p:nvPr/>
        </p:nvSpPr>
        <p:spPr>
          <a:xfrm>
            <a:off x="4206240" y="472744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20" name="Text 16"/>
          <p:cNvSpPr txBox="1"/>
          <p:nvPr/>
        </p:nvSpPr>
        <p:spPr>
          <a:xfrm>
            <a:off x="4736592" y="4754880"/>
            <a:ext cx="6876288" cy="768096"/>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Observations</a:t>
            </a:r>
            <a:endParaRPr lang="en-US" sz="1400" dirty="0"/>
          </a:p>
          <a:p>
            <a:pPr marL="0" indent="0">
              <a:spcAft>
                <a:spcPts val="200"/>
              </a:spcAft>
              <a:buNone/>
            </a:pPr>
            <a:r>
              <a:rPr lang="en-US" sz="1400" dirty="0">
                <a:solidFill>
                  <a:schemeClr val="tx2"/>
                </a:solidFill>
              </a:rPr>
              <a:t>Good: "Fast shooter, always climbs L3."  Not useful: "good".</a:t>
            </a:r>
            <a:endParaRPr lang="en-US" sz="1400" dirty="0"/>
          </a:p>
        </p:txBody>
      </p:sp>
      <p:sp>
        <p:nvSpPr>
          <p:cNvPr id="21" name="Score note"/>
          <p:cNvSpPr/>
          <p:nvPr/>
        </p:nvSpPr>
        <p:spPr>
          <a:xfrm>
            <a:off x="4206240" y="5623560"/>
            <a:ext cx="7434072" cy="594360"/>
          </a:xfrm>
          <a:prstGeom prst="roundRect">
            <a:avLst>
              <a:gd name="adj" fmla="val 18462"/>
            </a:avLst>
          </a:prstGeom>
          <a:solidFill>
            <a:schemeClr val="bg2"/>
          </a:solidFill>
          <a:ln w="12700">
            <a:solidFill>
              <a:schemeClr val="bg2"/>
            </a:solidFill>
            <a:prstDash val="solid"/>
          </a:ln>
        </p:spPr>
        <p:txBody>
          <a:bodyPr/>
          <a:lstStyle/>
          <a:p>
            <a:endParaRPr lang="en-US"/>
          </a:p>
        </p:txBody>
      </p:sp>
      <p:sp>
        <p:nvSpPr>
          <p:cNvPr id="22" name="Text 18"/>
          <p:cNvSpPr txBox="1"/>
          <p:nvPr/>
        </p:nvSpPr>
        <p:spPr>
          <a:xfrm>
            <a:off x="4434840" y="5623560"/>
            <a:ext cx="7040880" cy="594360"/>
          </a:xfrm>
          <a:prstGeom prst="rect">
            <a:avLst/>
          </a:prstGeom>
          <a:noFill/>
          <a:ln/>
        </p:spPr>
        <p:txBody>
          <a:bodyPr wrap="square" lIns="0" tIns="0" rIns="0" bIns="0" rtlCol="0" anchor="ctr"/>
          <a:lstStyle/>
          <a:p>
            <a:pPr marL="0" indent="0">
              <a:buNone/>
            </a:pPr>
            <a:r>
              <a:rPr lang="en-US" sz="1500" b="1" dirty="0">
                <a:solidFill>
                  <a:schemeClr val="tx1"/>
                </a:solidFill>
              </a:rPr>
              <a:t>Above the Submit button, </a:t>
            </a:r>
            <a:r>
              <a:rPr lang="en-US" sz="1500" dirty="0">
                <a:solidFill>
                  <a:schemeClr val="tx1"/>
                </a:solidFill>
              </a:rPr>
              <a:t>black boxes add up the points for you. A quick way to spot a typo.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Submit and show your QR code</a:t>
            </a:r>
            <a:endParaRPr lang="en-US" sz="3600" dirty="0"/>
          </a:p>
        </p:txBody>
      </p:sp>
      <p:sp>
        <p:nvSpPr>
          <p:cNvPr id="4" name="Submit button frame"/>
          <p:cNvSpPr/>
          <p:nvPr/>
        </p:nvSpPr>
        <p:spPr>
          <a:xfrm>
            <a:off x="530352" y="2176272"/>
            <a:ext cx="3145536" cy="1316736"/>
          </a:xfrm>
          <a:prstGeom prst="rect">
            <a:avLst/>
          </a:prstGeom>
          <a:solidFill>
            <a:srgbClr val="D9D9D9"/>
          </a:solidFill>
          <a:ln w="12700">
            <a:solidFill>
              <a:srgbClr val="D9D9D9"/>
            </a:solidFill>
            <a:prstDash val="solid"/>
          </a:ln>
          <a:effectLst>
            <a:outerShdw blurRad="101600" dist="25400" dir="5400000" algn="bl" rotWithShape="0">
              <a:srgbClr val="000000">
                <a:alpha val="18000"/>
              </a:srgbClr>
            </a:outerShdw>
          </a:effectLst>
        </p:spPr>
        <p:txBody>
          <a:bodyPr/>
          <a:lstStyle/>
          <a:p>
            <a:endParaRPr lang="en-US"/>
          </a:p>
        </p:txBody>
      </p:sp>
      <p:pic>
        <p:nvPicPr>
          <p:cNvPr id="5" name="Submit button" descr="Submit button"/>
          <p:cNvPicPr>
            <a:picLocks noChangeAspect="1"/>
          </p:cNvPicPr>
          <p:nvPr/>
        </p:nvPicPr>
        <p:blipFill>
          <a:blip r:embed="rId3"/>
          <a:stretch>
            <a:fillRect/>
          </a:stretch>
        </p:blipFill>
        <p:spPr>
          <a:xfrm>
            <a:off x="548640" y="2194560"/>
            <a:ext cx="3108960" cy="1280160"/>
          </a:xfrm>
          <a:prstGeom prst="rect">
            <a:avLst/>
          </a:prstGeom>
        </p:spPr>
      </p:pic>
      <p:sp>
        <p:nvSpPr>
          <p:cNvPr id="6" name="Marker 1"/>
          <p:cNvSpPr txBox="1"/>
          <p:nvPr/>
        </p:nvSpPr>
        <p:spPr>
          <a:xfrm>
            <a:off x="3374136" y="30540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Text 3"/>
          <p:cNvSpPr txBox="1"/>
          <p:nvPr/>
        </p:nvSpPr>
        <p:spPr>
          <a:xfrm>
            <a:off x="548640" y="3584448"/>
            <a:ext cx="3108960" cy="274320"/>
          </a:xfrm>
          <a:prstGeom prst="rect">
            <a:avLst/>
          </a:prstGeom>
          <a:noFill/>
          <a:ln/>
        </p:spPr>
        <p:txBody>
          <a:bodyPr wrap="square" lIns="0" tIns="0" rIns="0" bIns="0" rtlCol="0" anchor="t"/>
          <a:lstStyle/>
          <a:p>
            <a:pPr marL="0" indent="0">
              <a:buNone/>
            </a:pPr>
            <a:r>
              <a:rPr lang="en-US" sz="1200" dirty="0">
                <a:solidFill>
                  <a:schemeClr val="tx2"/>
                </a:solidFill>
              </a:rPr>
              <a:t>Bottom of the form</a:t>
            </a:r>
            <a:endParaRPr lang="en-US" sz="1200" dirty="0"/>
          </a:p>
        </p:txBody>
      </p:sp>
      <p:pic>
        <p:nvPicPr>
          <p:cNvPr id="8" name="Arrow" descr="then"/>
          <p:cNvPicPr>
            <a:picLocks noChangeAspect="1"/>
          </p:cNvPicPr>
          <p:nvPr/>
        </p:nvPicPr>
        <p:blipFill>
          <a:blip r:embed="rId4"/>
          <a:stretch>
            <a:fillRect/>
          </a:stretch>
        </p:blipFill>
        <p:spPr>
          <a:xfrm>
            <a:off x="3886200" y="2743200"/>
            <a:ext cx="411480" cy="411480"/>
          </a:xfrm>
          <a:prstGeom prst="rect">
            <a:avLst/>
          </a:prstGeom>
        </p:spPr>
      </p:pic>
      <p:sp>
        <p:nvSpPr>
          <p:cNvPr id="9" name="QR code screen phone"/>
          <p:cNvSpPr/>
          <p:nvPr/>
        </p:nvSpPr>
        <p:spPr>
          <a:xfrm>
            <a:off x="4489704" y="1289304"/>
            <a:ext cx="1882833" cy="5010912"/>
          </a:xfrm>
          <a:prstGeom prst="roundRect">
            <a:avLst>
              <a:gd name="adj" fmla="val 9713"/>
            </a:avLst>
          </a:prstGeom>
          <a:solidFill>
            <a:schemeClr val="tx1"/>
          </a:solidFill>
          <a:ln w="9525">
            <a:solidFill>
              <a:srgbClr val="3A3A3A"/>
            </a:solidFill>
            <a:prstDash val="solid"/>
          </a:ln>
          <a:effectLst>
            <a:outerShdw blurRad="101600" dist="25400" dir="5400000" algn="bl" rotWithShape="0">
              <a:srgbClr val="000000">
                <a:alpha val="18000"/>
              </a:srgbClr>
            </a:outerShdw>
          </a:effectLst>
        </p:spPr>
        <p:txBody>
          <a:bodyPr/>
          <a:lstStyle/>
          <a:p>
            <a:endParaRPr lang="en-US"/>
          </a:p>
        </p:txBody>
      </p:sp>
      <p:pic>
        <p:nvPicPr>
          <p:cNvPr id="10" name="QR code screen" descr="QR code screen"/>
          <p:cNvPicPr>
            <a:picLocks noChangeAspect="1"/>
          </p:cNvPicPr>
          <p:nvPr/>
        </p:nvPicPr>
        <p:blipFill>
          <a:blip r:embed="rId5"/>
          <a:stretch>
            <a:fillRect/>
          </a:stretch>
        </p:blipFill>
        <p:spPr>
          <a:xfrm>
            <a:off x="4572000" y="1371600"/>
            <a:ext cx="1718241" cy="4846320"/>
          </a:xfrm>
          <a:prstGeom prst="rect">
            <a:avLst/>
          </a:prstGeom>
        </p:spPr>
      </p:pic>
      <p:sp>
        <p:nvSpPr>
          <p:cNvPr id="11" name="Marker 2"/>
          <p:cNvSpPr txBox="1"/>
          <p:nvPr/>
        </p:nvSpPr>
        <p:spPr>
          <a:xfrm>
            <a:off x="6143937" y="2681453"/>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2" name="Marker 4"/>
          <p:cNvSpPr txBox="1"/>
          <p:nvPr/>
        </p:nvSpPr>
        <p:spPr>
          <a:xfrm>
            <a:off x="6143937" y="5270793"/>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3" name="Marker 5"/>
          <p:cNvSpPr txBox="1"/>
          <p:nvPr/>
        </p:nvSpPr>
        <p:spPr>
          <a:xfrm>
            <a:off x="6171369" y="5571381"/>
            <a:ext cx="329184" cy="329184"/>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14" name="Marker 1"/>
          <p:cNvSpPr txBox="1"/>
          <p:nvPr/>
        </p:nvSpPr>
        <p:spPr>
          <a:xfrm>
            <a:off x="7178040" y="13624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5" name="Text 9"/>
          <p:cNvSpPr txBox="1"/>
          <p:nvPr/>
        </p:nvSpPr>
        <p:spPr>
          <a:xfrm>
            <a:off x="7708392" y="1389888"/>
            <a:ext cx="3931920" cy="877824"/>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Tap Submit &amp; show QR</a:t>
            </a:r>
            <a:endParaRPr lang="en-US" sz="1400" dirty="0"/>
          </a:p>
          <a:p>
            <a:pPr marL="0" indent="0">
              <a:spcAft>
                <a:spcPts val="200"/>
              </a:spcAft>
              <a:buNone/>
            </a:pPr>
            <a:r>
              <a:rPr lang="en-US" sz="1400" dirty="0">
                <a:solidFill>
                  <a:schemeClr val="tx2"/>
                </a:solidFill>
              </a:rPr>
              <a:t>If something is missing, the form shows you what.</a:t>
            </a:r>
            <a:endParaRPr lang="en-US" sz="1400" dirty="0"/>
          </a:p>
        </p:txBody>
      </p:sp>
      <p:sp>
        <p:nvSpPr>
          <p:cNvPr id="16" name="Marker 2"/>
          <p:cNvSpPr txBox="1"/>
          <p:nvPr/>
        </p:nvSpPr>
        <p:spPr>
          <a:xfrm>
            <a:off x="7178040" y="231343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7" name="Text 11"/>
          <p:cNvSpPr txBox="1"/>
          <p:nvPr/>
        </p:nvSpPr>
        <p:spPr>
          <a:xfrm>
            <a:off x="7708392" y="2340864"/>
            <a:ext cx="3931920" cy="877824"/>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Show the QR code to the </a:t>
            </a:r>
            <a:br>
              <a:rPr lang="en-US" sz="1700" b="1" dirty="0">
                <a:solidFill>
                  <a:schemeClr val="tx1"/>
                </a:solidFill>
              </a:rPr>
            </a:br>
            <a:r>
              <a:rPr lang="en-US" sz="2400" b="1" dirty="0">
                <a:solidFill>
                  <a:schemeClr val="tx1"/>
                </a:solidFill>
              </a:rPr>
              <a:t>Strategy </a:t>
            </a:r>
            <a:r>
              <a:rPr lang="en-US" sz="2400" b="1" dirty="0"/>
              <a:t>L</a:t>
            </a:r>
            <a:r>
              <a:rPr lang="en-US" sz="2400" b="1" dirty="0">
                <a:solidFill>
                  <a:schemeClr val="tx1"/>
                </a:solidFill>
              </a:rPr>
              <a:t>ead</a:t>
            </a:r>
            <a:endParaRPr lang="en-US" sz="1400" b="1" dirty="0"/>
          </a:p>
          <a:p>
            <a:pPr marL="0" indent="0">
              <a:spcAft>
                <a:spcPts val="200"/>
              </a:spcAft>
              <a:buNone/>
            </a:pPr>
            <a:r>
              <a:rPr lang="en-US" sz="1400" dirty="0">
                <a:solidFill>
                  <a:schemeClr val="tx2"/>
                </a:solidFill>
              </a:rPr>
              <a:t>Turn your screen brightness up.</a:t>
            </a:r>
            <a:endParaRPr lang="en-US" sz="1400" dirty="0"/>
          </a:p>
        </p:txBody>
      </p:sp>
      <p:sp>
        <p:nvSpPr>
          <p:cNvPr id="18" name="Marker 3"/>
          <p:cNvSpPr txBox="1"/>
          <p:nvPr/>
        </p:nvSpPr>
        <p:spPr>
          <a:xfrm>
            <a:off x="7178040" y="326440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9" name="Text 13"/>
          <p:cNvSpPr txBox="1"/>
          <p:nvPr/>
        </p:nvSpPr>
        <p:spPr>
          <a:xfrm>
            <a:off x="7708392" y="3291840"/>
            <a:ext cx="3931920" cy="877824"/>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Wait for "got it"</a:t>
            </a:r>
            <a:endParaRPr lang="en-US" sz="1400" dirty="0"/>
          </a:p>
          <a:p>
            <a:pPr marL="0" indent="0">
              <a:spcAft>
                <a:spcPts val="200"/>
              </a:spcAft>
              <a:buNone/>
            </a:pPr>
            <a:r>
              <a:rPr lang="en-US" sz="1400" dirty="0">
                <a:solidFill>
                  <a:schemeClr val="tx2"/>
                </a:solidFill>
              </a:rPr>
              <a:t>Keep the code on screen until it's scanned.</a:t>
            </a:r>
            <a:endParaRPr lang="en-US" sz="1400" dirty="0"/>
          </a:p>
        </p:txBody>
      </p:sp>
      <p:sp>
        <p:nvSpPr>
          <p:cNvPr id="20" name="Marker 4"/>
          <p:cNvSpPr txBox="1"/>
          <p:nvPr/>
        </p:nvSpPr>
        <p:spPr>
          <a:xfrm>
            <a:off x="7178040" y="421538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21" name="Text 15"/>
          <p:cNvSpPr txBox="1"/>
          <p:nvPr/>
        </p:nvSpPr>
        <p:spPr>
          <a:xfrm>
            <a:off x="7708392" y="4242816"/>
            <a:ext cx="3931920" cy="877824"/>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Tap Next match</a:t>
            </a:r>
            <a:endParaRPr lang="en-US" sz="1400" dirty="0"/>
          </a:p>
          <a:p>
            <a:pPr marL="0" indent="0">
              <a:spcAft>
                <a:spcPts val="200"/>
              </a:spcAft>
              <a:buNone/>
            </a:pPr>
            <a:r>
              <a:rPr lang="en-US" sz="1400" dirty="0">
                <a:solidFill>
                  <a:schemeClr val="tx2"/>
                </a:solidFill>
              </a:rPr>
              <a:t>Name, alliance and station stay. Match # goes up by 1. Type the new Team #.</a:t>
            </a:r>
            <a:endParaRPr lang="en-US" sz="1400" dirty="0"/>
          </a:p>
        </p:txBody>
      </p:sp>
      <p:sp>
        <p:nvSpPr>
          <p:cNvPr id="22" name="Marker 5"/>
          <p:cNvSpPr txBox="1"/>
          <p:nvPr/>
        </p:nvSpPr>
        <p:spPr>
          <a:xfrm>
            <a:off x="7178040" y="516636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23" name="Text 17"/>
          <p:cNvSpPr txBox="1"/>
          <p:nvPr/>
        </p:nvSpPr>
        <p:spPr>
          <a:xfrm>
            <a:off x="7708392" y="5193792"/>
            <a:ext cx="3931920" cy="877824"/>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Made a typo?</a:t>
            </a:r>
            <a:endParaRPr lang="en-US" sz="1400" dirty="0"/>
          </a:p>
          <a:p>
            <a:pPr marL="0" indent="0">
              <a:spcAft>
                <a:spcPts val="200"/>
              </a:spcAft>
              <a:buNone/>
            </a:pPr>
            <a:r>
              <a:rPr lang="en-US" sz="1400" dirty="0">
                <a:solidFill>
                  <a:schemeClr val="tx2"/>
                </a:solidFill>
              </a:rPr>
              <a:t>Tap Back to edit, fix it and submit again.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Scout do's and don'ts</a:t>
            </a:r>
            <a:endParaRPr lang="en-US" sz="3600" dirty="0"/>
          </a:p>
        </p:txBody>
      </p:sp>
      <p:sp>
        <p:nvSpPr>
          <p:cNvPr id="4" name="Do card"/>
          <p:cNvSpPr/>
          <p:nvPr/>
        </p:nvSpPr>
        <p:spPr>
          <a:xfrm>
            <a:off x="548640" y="1371600"/>
            <a:ext cx="5364328" cy="3474720"/>
          </a:xfrm>
          <a:prstGeom prst="roundRect">
            <a:avLst>
              <a:gd name="adj" fmla="val 3158"/>
            </a:avLst>
          </a:prstGeom>
          <a:solidFill>
            <a:schemeClr val="bg2"/>
          </a:solidFill>
          <a:ln w="12700">
            <a:solidFill>
              <a:schemeClr val="bg2"/>
            </a:solidFill>
            <a:prstDash val="solid"/>
          </a:ln>
        </p:spPr>
        <p:txBody>
          <a:bodyPr/>
          <a:lstStyle/>
          <a:p>
            <a:endParaRPr lang="en-US"/>
          </a:p>
        </p:txBody>
      </p:sp>
      <p:sp>
        <p:nvSpPr>
          <p:cNvPr id="5" name="Do circle"/>
          <p:cNvSpPr/>
          <p:nvPr/>
        </p:nvSpPr>
        <p:spPr>
          <a:xfrm>
            <a:off x="822960" y="1554480"/>
            <a:ext cx="594360" cy="594360"/>
          </a:xfrm>
          <a:prstGeom prst="ellipse">
            <a:avLst/>
          </a:prstGeom>
          <a:solidFill>
            <a:srgbClr val="12B4AF"/>
          </a:solidFill>
          <a:ln w="12700">
            <a:solidFill>
              <a:srgbClr val="12B4AF"/>
            </a:solidFill>
            <a:prstDash val="solid"/>
          </a:ln>
        </p:spPr>
        <p:txBody>
          <a:bodyPr/>
          <a:lstStyle/>
          <a:p>
            <a:endParaRPr lang="en-US"/>
          </a:p>
        </p:txBody>
      </p:sp>
      <p:pic>
        <p:nvPicPr>
          <p:cNvPr id="6" name="Do" descr="Do"/>
          <p:cNvPicPr>
            <a:picLocks noChangeAspect="1"/>
          </p:cNvPicPr>
          <p:nvPr/>
        </p:nvPicPr>
        <p:blipFill>
          <a:blip r:embed="rId3"/>
          <a:stretch>
            <a:fillRect/>
          </a:stretch>
        </p:blipFill>
        <p:spPr>
          <a:xfrm>
            <a:off x="965606" y="1697126"/>
            <a:ext cx="309067" cy="309067"/>
          </a:xfrm>
          <a:prstGeom prst="rect">
            <a:avLst/>
          </a:prstGeom>
        </p:spPr>
      </p:pic>
      <p:sp>
        <p:nvSpPr>
          <p:cNvPr id="7" name="Text 3"/>
          <p:cNvSpPr txBox="1"/>
          <p:nvPr/>
        </p:nvSpPr>
        <p:spPr>
          <a:xfrm>
            <a:off x="1600200" y="1554480"/>
            <a:ext cx="2743200" cy="594360"/>
          </a:xfrm>
          <a:prstGeom prst="rect">
            <a:avLst/>
          </a:prstGeom>
          <a:noFill/>
          <a:ln/>
        </p:spPr>
        <p:txBody>
          <a:bodyPr wrap="square" lIns="0" tIns="0" rIns="0" bIns="0" rtlCol="0" anchor="ctr"/>
          <a:lstStyle/>
          <a:p>
            <a:pPr marL="0" indent="0">
              <a:buNone/>
            </a:pPr>
            <a:r>
              <a:rPr lang="en-US" sz="2400" b="1" dirty="0">
                <a:solidFill>
                  <a:schemeClr val="tx1"/>
                </a:solidFill>
                <a:latin typeface="+mj-lt" pitchFamily="34" charset="0"/>
                <a:ea typeface="+mj-lt" pitchFamily="34" charset="-122"/>
                <a:cs typeface="+mj-lt" pitchFamily="34" charset="-120"/>
              </a:rPr>
              <a:t>Do</a:t>
            </a:r>
            <a:endParaRPr lang="en-US" sz="2400" dirty="0"/>
          </a:p>
        </p:txBody>
      </p:sp>
      <p:sp>
        <p:nvSpPr>
          <p:cNvPr id="8" name="Text 4"/>
          <p:cNvSpPr txBox="1"/>
          <p:nvPr/>
        </p:nvSpPr>
        <p:spPr>
          <a:xfrm>
            <a:off x="868680" y="2331720"/>
            <a:ext cx="4769968" cy="237744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chemeClr val="tx1"/>
                </a:solidFill>
              </a:rPr>
              <a:t>Watch only your robot, the whole match</a:t>
            </a:r>
            <a:endParaRPr lang="en-US" sz="1600" dirty="0"/>
          </a:p>
          <a:p>
            <a:pPr marL="203200" indent="-203200">
              <a:spcAft>
                <a:spcPts val="700"/>
              </a:spcAft>
              <a:buSzPct val="100000"/>
              <a:buChar char="•"/>
            </a:pPr>
            <a:r>
              <a:rPr lang="en-US" sz="1600" dirty="0">
                <a:solidFill>
                  <a:schemeClr val="tx1"/>
                </a:solidFill>
              </a:rPr>
              <a:t>Count fuel as it happens</a:t>
            </a:r>
            <a:endParaRPr lang="en-US" sz="1600" dirty="0"/>
          </a:p>
          <a:p>
            <a:pPr marL="203200" indent="-203200">
              <a:spcAft>
                <a:spcPts val="700"/>
              </a:spcAft>
              <a:buSzPct val="100000"/>
              <a:buChar char="•"/>
            </a:pPr>
            <a:r>
              <a:rPr lang="en-US" sz="1600" dirty="0">
                <a:solidFill>
                  <a:schemeClr val="tx1"/>
                </a:solidFill>
              </a:rPr>
              <a:t>Tap No show if the robot isn't on the field</a:t>
            </a:r>
            <a:endParaRPr lang="en-US" sz="1600" dirty="0"/>
          </a:p>
          <a:p>
            <a:pPr marL="203200" indent="-203200">
              <a:spcAft>
                <a:spcPts val="700"/>
              </a:spcAft>
              <a:buSzPct val="100000"/>
              <a:buChar char="•"/>
            </a:pPr>
            <a:r>
              <a:rPr lang="en-US" sz="1600" dirty="0">
                <a:solidFill>
                  <a:schemeClr val="tx1"/>
                </a:solidFill>
              </a:rPr>
              <a:t>Write real observations</a:t>
            </a:r>
            <a:endParaRPr lang="en-US" sz="1600" dirty="0"/>
          </a:p>
          <a:p>
            <a:pPr marL="203200" indent="-203200">
              <a:spcAft>
                <a:spcPts val="700"/>
              </a:spcAft>
              <a:buSzPct val="100000"/>
              <a:buChar char="•"/>
            </a:pPr>
            <a:r>
              <a:rPr lang="en-US" sz="1600" dirty="0">
                <a:solidFill>
                  <a:schemeClr val="tx1"/>
                </a:solidFill>
              </a:rPr>
              <a:t>Charge your phone before the event</a:t>
            </a:r>
            <a:endParaRPr lang="en-US" sz="1600" dirty="0"/>
          </a:p>
          <a:p>
            <a:pPr marL="203200" indent="-203200">
              <a:spcAft>
                <a:spcPts val="700"/>
              </a:spcAft>
              <a:buSzPct val="100000"/>
              <a:buChar char="•"/>
            </a:pPr>
            <a:r>
              <a:rPr lang="en-US" sz="1600" dirty="0">
                <a:solidFill>
                  <a:schemeClr val="tx1"/>
                </a:solidFill>
              </a:rPr>
              <a:t>App closed? Reopen it. Your answers are saved</a:t>
            </a:r>
            <a:endParaRPr lang="en-US" sz="1600" dirty="0"/>
          </a:p>
        </p:txBody>
      </p:sp>
      <p:sp>
        <p:nvSpPr>
          <p:cNvPr id="9" name="Don't card"/>
          <p:cNvSpPr/>
          <p:nvPr/>
        </p:nvSpPr>
        <p:spPr>
          <a:xfrm>
            <a:off x="6278728" y="1371600"/>
            <a:ext cx="5364328" cy="3474720"/>
          </a:xfrm>
          <a:prstGeom prst="roundRect">
            <a:avLst>
              <a:gd name="adj" fmla="val 3158"/>
            </a:avLst>
          </a:prstGeom>
          <a:solidFill>
            <a:schemeClr val="bg2"/>
          </a:solidFill>
          <a:ln w="12700">
            <a:solidFill>
              <a:schemeClr val="bg2"/>
            </a:solidFill>
            <a:prstDash val="solid"/>
          </a:ln>
        </p:spPr>
        <p:txBody>
          <a:bodyPr/>
          <a:lstStyle/>
          <a:p>
            <a:endParaRPr lang="en-US"/>
          </a:p>
        </p:txBody>
      </p:sp>
      <p:sp>
        <p:nvSpPr>
          <p:cNvPr id="10" name="Don't circle"/>
          <p:cNvSpPr/>
          <p:nvPr/>
        </p:nvSpPr>
        <p:spPr>
          <a:xfrm>
            <a:off x="6553048" y="1554480"/>
            <a:ext cx="594360" cy="594360"/>
          </a:xfrm>
          <a:prstGeom prst="ellipse">
            <a:avLst/>
          </a:prstGeom>
          <a:solidFill>
            <a:srgbClr val="D63A3A"/>
          </a:solidFill>
          <a:ln w="12700">
            <a:solidFill>
              <a:srgbClr val="D63A3A"/>
            </a:solidFill>
            <a:prstDash val="solid"/>
          </a:ln>
        </p:spPr>
        <p:txBody>
          <a:bodyPr/>
          <a:lstStyle/>
          <a:p>
            <a:endParaRPr lang="en-US"/>
          </a:p>
        </p:txBody>
      </p:sp>
      <p:pic>
        <p:nvPicPr>
          <p:cNvPr id="11" name="Don't" descr="Don't"/>
          <p:cNvPicPr>
            <a:picLocks noChangeAspect="1"/>
          </p:cNvPicPr>
          <p:nvPr/>
        </p:nvPicPr>
        <p:blipFill>
          <a:blip r:embed="rId4"/>
          <a:stretch>
            <a:fillRect/>
          </a:stretch>
        </p:blipFill>
        <p:spPr>
          <a:xfrm>
            <a:off x="6695694" y="1697126"/>
            <a:ext cx="309067" cy="309067"/>
          </a:xfrm>
          <a:prstGeom prst="rect">
            <a:avLst/>
          </a:prstGeom>
        </p:spPr>
      </p:pic>
      <p:sp>
        <p:nvSpPr>
          <p:cNvPr id="12" name="Text 7"/>
          <p:cNvSpPr txBox="1"/>
          <p:nvPr/>
        </p:nvSpPr>
        <p:spPr>
          <a:xfrm>
            <a:off x="7330288" y="1554480"/>
            <a:ext cx="2743200" cy="594360"/>
          </a:xfrm>
          <a:prstGeom prst="rect">
            <a:avLst/>
          </a:prstGeom>
          <a:noFill/>
          <a:ln/>
        </p:spPr>
        <p:txBody>
          <a:bodyPr wrap="square" lIns="0" tIns="0" rIns="0" bIns="0" rtlCol="0" anchor="ctr"/>
          <a:lstStyle/>
          <a:p>
            <a:pPr marL="0" indent="0">
              <a:buNone/>
            </a:pPr>
            <a:r>
              <a:rPr lang="en-US" sz="2400" b="1" dirty="0">
                <a:solidFill>
                  <a:schemeClr val="tx1"/>
                </a:solidFill>
                <a:latin typeface="+mj-lt" pitchFamily="34" charset="0"/>
                <a:ea typeface="+mj-lt" pitchFamily="34" charset="-122"/>
                <a:cs typeface="+mj-lt" pitchFamily="34" charset="-120"/>
              </a:rPr>
              <a:t>Don't</a:t>
            </a:r>
            <a:endParaRPr lang="en-US" sz="2400" dirty="0"/>
          </a:p>
        </p:txBody>
      </p:sp>
      <p:sp>
        <p:nvSpPr>
          <p:cNvPr id="13" name="Text 8"/>
          <p:cNvSpPr txBox="1"/>
          <p:nvPr/>
        </p:nvSpPr>
        <p:spPr>
          <a:xfrm>
            <a:off x="6598768" y="2331720"/>
            <a:ext cx="4769968" cy="237744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chemeClr val="tx1"/>
                </a:solidFill>
              </a:rPr>
              <a:t>Count fuel that went in while your Hub was inactive</a:t>
            </a:r>
            <a:endParaRPr lang="en-US" sz="1600" dirty="0"/>
          </a:p>
          <a:p>
            <a:pPr marL="203200" indent="-203200">
              <a:spcAft>
                <a:spcPts val="700"/>
              </a:spcAft>
              <a:buSzPct val="100000"/>
              <a:buChar char="•"/>
            </a:pPr>
            <a:r>
              <a:rPr lang="en-US" sz="1600" dirty="0">
                <a:solidFill>
                  <a:schemeClr val="tx1"/>
                </a:solidFill>
              </a:rPr>
              <a:t>Guess the team number. Check the schedule</a:t>
            </a:r>
            <a:endParaRPr lang="en-US" sz="1600" dirty="0"/>
          </a:p>
          <a:p>
            <a:pPr marL="203200" indent="-203200">
              <a:spcAft>
                <a:spcPts val="700"/>
              </a:spcAft>
              <a:buSzPct val="100000"/>
              <a:buChar char="•"/>
            </a:pPr>
            <a:r>
              <a:rPr lang="en-US" sz="1600" dirty="0">
                <a:solidFill>
                  <a:schemeClr val="tx1"/>
                </a:solidFill>
              </a:rPr>
              <a:t>Use Clear form unless you want to start over</a:t>
            </a:r>
            <a:endParaRPr lang="en-US" sz="1600" dirty="0"/>
          </a:p>
          <a:p>
            <a:pPr marL="203200" indent="-203200">
              <a:spcAft>
                <a:spcPts val="700"/>
              </a:spcAft>
              <a:buSzPct val="100000"/>
              <a:buChar char="•"/>
            </a:pPr>
            <a:r>
              <a:rPr lang="en-US" sz="1600" dirty="0">
                <a:solidFill>
                  <a:schemeClr val="tx1"/>
                </a:solidFill>
              </a:rPr>
              <a:t>Leave the stands without handing over your last match</a:t>
            </a:r>
            <a:endParaRPr lang="en-US" sz="1600" dirty="0"/>
          </a:p>
        </p:txBody>
      </p:sp>
      <p:sp>
        <p:nvSpPr>
          <p:cNvPr id="14" name="Biggest mistake"/>
          <p:cNvSpPr/>
          <p:nvPr/>
        </p:nvSpPr>
        <p:spPr>
          <a:xfrm>
            <a:off x="548640" y="5074920"/>
            <a:ext cx="11094415" cy="1143000"/>
          </a:xfrm>
          <a:prstGeom prst="roundRect">
            <a:avLst>
              <a:gd name="adj" fmla="val 9600"/>
            </a:avLst>
          </a:prstGeom>
          <a:solidFill>
            <a:schemeClr val="tx1"/>
          </a:solidFill>
          <a:ln w="12700">
            <a:solidFill>
              <a:schemeClr val="tx1"/>
            </a:solidFill>
            <a:prstDash val="solid"/>
          </a:ln>
        </p:spPr>
        <p:txBody>
          <a:bodyPr/>
          <a:lstStyle/>
          <a:p>
            <a:endParaRPr lang="en-US"/>
          </a:p>
        </p:txBody>
      </p:sp>
      <p:sp>
        <p:nvSpPr>
          <p:cNvPr id="15" name="Warning circle"/>
          <p:cNvSpPr/>
          <p:nvPr/>
        </p:nvSpPr>
        <p:spPr>
          <a:xfrm>
            <a:off x="822960" y="5303520"/>
            <a:ext cx="685800" cy="685800"/>
          </a:xfrm>
          <a:prstGeom prst="ellipse">
            <a:avLst/>
          </a:prstGeom>
          <a:solidFill>
            <a:srgbClr val="F5A623"/>
          </a:solidFill>
          <a:ln w="12700">
            <a:solidFill>
              <a:srgbClr val="F5A623"/>
            </a:solidFill>
            <a:prstDash val="solid"/>
          </a:ln>
        </p:spPr>
        <p:txBody>
          <a:bodyPr/>
          <a:lstStyle/>
          <a:p>
            <a:endParaRPr lang="en-US"/>
          </a:p>
        </p:txBody>
      </p:sp>
      <p:pic>
        <p:nvPicPr>
          <p:cNvPr id="16" name="Warning" descr="Warning"/>
          <p:cNvPicPr>
            <a:picLocks noChangeAspect="1"/>
          </p:cNvPicPr>
          <p:nvPr/>
        </p:nvPicPr>
        <p:blipFill>
          <a:blip r:embed="rId5"/>
          <a:stretch>
            <a:fillRect/>
          </a:stretch>
        </p:blipFill>
        <p:spPr>
          <a:xfrm>
            <a:off x="987552" y="5468112"/>
            <a:ext cx="356616" cy="356616"/>
          </a:xfrm>
          <a:prstGeom prst="rect">
            <a:avLst/>
          </a:prstGeom>
        </p:spPr>
      </p:pic>
      <p:sp>
        <p:nvSpPr>
          <p:cNvPr id="17" name="Text 11"/>
          <p:cNvSpPr txBox="1"/>
          <p:nvPr/>
        </p:nvSpPr>
        <p:spPr>
          <a:xfrm>
            <a:off x="1783080" y="5120640"/>
            <a:ext cx="9631375" cy="1051560"/>
          </a:xfrm>
          <a:prstGeom prst="rect">
            <a:avLst/>
          </a:prstGeom>
          <a:noFill/>
          <a:ln/>
        </p:spPr>
        <p:txBody>
          <a:bodyPr wrap="square" lIns="0" tIns="0" rIns="0" bIns="0" rtlCol="0" anchor="ctr"/>
          <a:lstStyle/>
          <a:p>
            <a:pPr marL="0" indent="0">
              <a:buNone/>
            </a:pPr>
            <a:r>
              <a:rPr lang="en-US" sz="1800" b="1" dirty="0">
                <a:solidFill>
                  <a:schemeClr val="bg1"/>
                </a:solidFill>
              </a:rPr>
              <a:t>The #1 mistake</a:t>
            </a:r>
            <a:endParaRPr lang="en-US" sz="1400" dirty="0"/>
          </a:p>
          <a:p>
            <a:pPr marL="0" indent="0">
              <a:buNone/>
            </a:pPr>
            <a:r>
              <a:rPr lang="en-US" sz="1600" dirty="0">
                <a:solidFill>
                  <a:schemeClr val="bg2"/>
                </a:solidFill>
              </a:rPr>
              <a:t>Tapping Next match before your QR code was scanned. That match is gone for good.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731520" y="2011680"/>
            <a:ext cx="6400800" cy="457200"/>
          </a:xfrm>
          <a:prstGeom prst="rect">
            <a:avLst/>
          </a:prstGeom>
          <a:noFill/>
          <a:ln/>
        </p:spPr>
        <p:txBody>
          <a:bodyPr wrap="square" lIns="0" tIns="0" rIns="0" bIns="0" rtlCol="0"/>
          <a:lstStyle/>
          <a:p>
            <a:pPr marL="0" indent="0">
              <a:buNone/>
            </a:pPr>
            <a:r>
              <a:rPr lang="en-US" sz="1800" b="1" kern="0" spc="300" dirty="0">
                <a:solidFill>
                  <a:schemeClr val="accent1"/>
                </a:solidFill>
              </a:rPr>
              <a:t>PART 2  ·  DATA LEAD</a:t>
            </a:r>
            <a:endParaRPr lang="en-US" sz="1800" dirty="0"/>
          </a:p>
        </p:txBody>
      </p:sp>
      <p:sp>
        <p:nvSpPr>
          <p:cNvPr id="4" name="Text 0"/>
          <p:cNvSpPr>
            <a:spLocks noGrp="1"/>
          </p:cNvSpPr>
          <p:nvPr>
            <p:ph type="title" idx="101" hasCustomPrompt="1"/>
          </p:nvPr>
        </p:nvSpPr>
        <p:spPr>
          <a:xfrm>
            <a:off x="731520" y="2514600"/>
            <a:ext cx="6949440" cy="1371600"/>
          </a:xfrm>
          <a:prstGeom prst="rect">
            <a:avLst/>
          </a:prstGeom>
          <a:noFill/>
          <a:ln/>
        </p:spPr>
        <p:txBody>
          <a:bodyPr wrap="square" lIns="0" tIns="0" rIns="0" bIns="0" rtlCol="0" anchor="t"/>
          <a:lstStyle/>
          <a:p>
            <a:pPr marL="0" indent="0" algn="l">
              <a:buNone/>
            </a:pPr>
            <a:r>
              <a:rPr lang="en-US" sz="4800" b="1" dirty="0">
                <a:solidFill>
                  <a:schemeClr val="bg1"/>
                </a:solidFill>
              </a:rPr>
              <a:t>Scanning into Excel</a:t>
            </a:r>
            <a:endParaRPr lang="en-US" sz="4800" dirty="0"/>
          </a:p>
        </p:txBody>
      </p:sp>
      <p:sp>
        <p:nvSpPr>
          <p:cNvPr id="5" name="Text 0"/>
          <p:cNvSpPr>
            <a:spLocks noGrp="1"/>
          </p:cNvSpPr>
          <p:nvPr>
            <p:ph type="body" idx="102" hasCustomPrompt="1"/>
          </p:nvPr>
        </p:nvSpPr>
        <p:spPr>
          <a:xfrm>
            <a:off x="731520" y="3977640"/>
            <a:ext cx="6583680" cy="1005840"/>
          </a:xfrm>
          <a:prstGeom prst="rect">
            <a:avLst/>
          </a:prstGeom>
          <a:noFill/>
          <a:ln/>
        </p:spPr>
        <p:txBody>
          <a:bodyPr wrap="square" lIns="0" tIns="0" rIns="0" bIns="0" rtlCol="0" anchor="t"/>
          <a:lstStyle/>
          <a:p>
            <a:pPr marL="0" indent="0">
              <a:buNone/>
            </a:pPr>
            <a:r>
              <a:rPr lang="en-US" sz="2000" dirty="0">
                <a:solidFill>
                  <a:schemeClr val="bg2"/>
                </a:solidFill>
              </a:rPr>
              <a:t>For the student with the laptop and the QR scanner. No Excel experience needed.</a:t>
            </a:r>
            <a:endParaRPr lang="en-US" sz="2000" dirty="0"/>
          </a:p>
        </p:txBody>
      </p:sp>
      <p:sp>
        <p:nvSpPr>
          <p:cNvPr id="6" name="Scanning into Excel circle"/>
          <p:cNvSpPr/>
          <p:nvPr/>
        </p:nvSpPr>
        <p:spPr>
          <a:xfrm>
            <a:off x="8138160" y="1691640"/>
            <a:ext cx="3017520" cy="3017520"/>
          </a:xfrm>
          <a:prstGeom prst="ellipse">
            <a:avLst/>
          </a:prstGeom>
          <a:solidFill>
            <a:srgbClr val="12B4AF"/>
          </a:solidFill>
          <a:ln w="12700">
            <a:solidFill>
              <a:srgbClr val="12B4AF"/>
            </a:solidFill>
            <a:prstDash val="solid"/>
          </a:ln>
        </p:spPr>
        <p:txBody>
          <a:bodyPr/>
          <a:lstStyle/>
          <a:p>
            <a:endParaRPr lang="en-US"/>
          </a:p>
        </p:txBody>
      </p:sp>
      <p:pic>
        <p:nvPicPr>
          <p:cNvPr id="7" name="Scanning into Excel" descr="Scanning into Excel"/>
          <p:cNvPicPr>
            <a:picLocks noChangeAspect="1"/>
          </p:cNvPicPr>
          <p:nvPr/>
        </p:nvPicPr>
        <p:blipFill>
          <a:blip r:embed="rId3"/>
          <a:stretch>
            <a:fillRect/>
          </a:stretch>
        </p:blipFill>
        <p:spPr>
          <a:xfrm>
            <a:off x="8862365" y="2415845"/>
            <a:ext cx="1569110" cy="156911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What </a:t>
            </a:r>
            <a:r>
              <a:rPr lang="en-US" b="1" dirty="0">
                <a:solidFill>
                  <a:schemeClr val="tx1"/>
                </a:solidFill>
              </a:rPr>
              <a:t>the </a:t>
            </a:r>
            <a:r>
              <a:rPr lang="en-US" sz="6000" dirty="0"/>
              <a:t>S</a:t>
            </a:r>
            <a:r>
              <a:rPr lang="en-US" sz="6000" dirty="0">
                <a:solidFill>
                  <a:schemeClr val="tx1"/>
                </a:solidFill>
              </a:rPr>
              <a:t>trategy </a:t>
            </a:r>
            <a:r>
              <a:rPr lang="en-US" sz="6000" dirty="0"/>
              <a:t>L</a:t>
            </a:r>
            <a:r>
              <a:rPr lang="en-US" sz="6000" dirty="0">
                <a:solidFill>
                  <a:schemeClr val="tx1"/>
                </a:solidFill>
              </a:rPr>
              <a:t>ead </a:t>
            </a:r>
            <a:r>
              <a:rPr lang="en-US" sz="3600" b="1" dirty="0">
                <a:solidFill>
                  <a:schemeClr val="tx1"/>
                </a:solidFill>
              </a:rPr>
              <a:t>needs</a:t>
            </a:r>
            <a:endParaRPr lang="en-US" sz="3600" dirty="0"/>
          </a:p>
        </p:txBody>
      </p:sp>
      <p:sp>
        <p:nvSpPr>
          <p:cNvPr id="4" name="Laptop with Excel card"/>
          <p:cNvSpPr/>
          <p:nvPr/>
        </p:nvSpPr>
        <p:spPr>
          <a:xfrm>
            <a:off x="548640" y="1371600"/>
            <a:ext cx="2567864" cy="2103120"/>
          </a:xfrm>
          <a:prstGeom prst="roundRect">
            <a:avLst>
              <a:gd name="adj" fmla="val 5217"/>
            </a:avLst>
          </a:prstGeom>
          <a:solidFill>
            <a:schemeClr val="bg2"/>
          </a:solidFill>
          <a:ln w="12700">
            <a:solidFill>
              <a:schemeClr val="bg2"/>
            </a:solidFill>
            <a:prstDash val="solid"/>
          </a:ln>
        </p:spPr>
        <p:txBody>
          <a:bodyPr/>
          <a:lstStyle/>
          <a:p>
            <a:endParaRPr lang="en-US"/>
          </a:p>
        </p:txBody>
      </p:sp>
      <p:sp>
        <p:nvSpPr>
          <p:cNvPr id="5" name="Laptop with Excel circle"/>
          <p:cNvSpPr/>
          <p:nvPr/>
        </p:nvSpPr>
        <p:spPr>
          <a:xfrm>
            <a:off x="777240" y="1572768"/>
            <a:ext cx="685800" cy="685800"/>
          </a:xfrm>
          <a:prstGeom prst="ellipse">
            <a:avLst/>
          </a:prstGeom>
          <a:solidFill>
            <a:srgbClr val="12B4AF"/>
          </a:solidFill>
          <a:ln w="12700">
            <a:solidFill>
              <a:srgbClr val="12B4AF"/>
            </a:solidFill>
            <a:prstDash val="solid"/>
          </a:ln>
        </p:spPr>
        <p:txBody>
          <a:bodyPr/>
          <a:lstStyle/>
          <a:p>
            <a:endParaRPr lang="en-US"/>
          </a:p>
        </p:txBody>
      </p:sp>
      <p:pic>
        <p:nvPicPr>
          <p:cNvPr id="6" name="Laptop with Excel" descr="Laptop with Excel"/>
          <p:cNvPicPr>
            <a:picLocks noChangeAspect="1"/>
          </p:cNvPicPr>
          <p:nvPr/>
        </p:nvPicPr>
        <p:blipFill>
          <a:blip r:embed="rId3"/>
          <a:stretch>
            <a:fillRect/>
          </a:stretch>
        </p:blipFill>
        <p:spPr>
          <a:xfrm>
            <a:off x="941832" y="1737360"/>
            <a:ext cx="356616" cy="356616"/>
          </a:xfrm>
          <a:prstGeom prst="rect">
            <a:avLst/>
          </a:prstGeom>
        </p:spPr>
      </p:pic>
      <p:sp>
        <p:nvSpPr>
          <p:cNvPr id="7" name="Text 3"/>
          <p:cNvSpPr txBox="1"/>
          <p:nvPr/>
        </p:nvSpPr>
        <p:spPr>
          <a:xfrm>
            <a:off x="777240" y="2377440"/>
            <a:ext cx="2156384" cy="100584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Laptop with Excel</a:t>
            </a:r>
            <a:endParaRPr lang="en-US" sz="1400" dirty="0"/>
          </a:p>
          <a:p>
            <a:pPr marL="0" indent="0">
              <a:spcAft>
                <a:spcPts val="300"/>
              </a:spcAft>
              <a:buNone/>
            </a:pPr>
            <a:r>
              <a:rPr lang="en-US" sz="1400" dirty="0">
                <a:solidFill>
                  <a:schemeClr val="tx2"/>
                </a:solidFill>
              </a:rPr>
              <a:t>Microsoft 365 or Excel 2021 or newer.</a:t>
            </a:r>
            <a:endParaRPr lang="en-US" sz="1400" dirty="0"/>
          </a:p>
        </p:txBody>
      </p:sp>
      <p:sp>
        <p:nvSpPr>
          <p:cNvPr id="8" name="QR code scanner card"/>
          <p:cNvSpPr/>
          <p:nvPr/>
        </p:nvSpPr>
        <p:spPr>
          <a:xfrm>
            <a:off x="3390824" y="1371600"/>
            <a:ext cx="2567864" cy="2103120"/>
          </a:xfrm>
          <a:prstGeom prst="roundRect">
            <a:avLst>
              <a:gd name="adj" fmla="val 5217"/>
            </a:avLst>
          </a:prstGeom>
          <a:solidFill>
            <a:schemeClr val="bg2"/>
          </a:solidFill>
          <a:ln w="12700">
            <a:solidFill>
              <a:schemeClr val="bg2"/>
            </a:solidFill>
            <a:prstDash val="solid"/>
          </a:ln>
        </p:spPr>
        <p:txBody>
          <a:bodyPr/>
          <a:lstStyle/>
          <a:p>
            <a:endParaRPr lang="en-US"/>
          </a:p>
        </p:txBody>
      </p:sp>
      <p:sp>
        <p:nvSpPr>
          <p:cNvPr id="9" name="QR code scanner circle"/>
          <p:cNvSpPr/>
          <p:nvPr/>
        </p:nvSpPr>
        <p:spPr>
          <a:xfrm>
            <a:off x="3619424" y="1572768"/>
            <a:ext cx="685800" cy="685800"/>
          </a:xfrm>
          <a:prstGeom prst="ellipse">
            <a:avLst/>
          </a:prstGeom>
          <a:solidFill>
            <a:srgbClr val="12B4AF"/>
          </a:solidFill>
          <a:ln w="12700">
            <a:solidFill>
              <a:srgbClr val="12B4AF"/>
            </a:solidFill>
            <a:prstDash val="solid"/>
          </a:ln>
        </p:spPr>
        <p:txBody>
          <a:bodyPr/>
          <a:lstStyle/>
          <a:p>
            <a:endParaRPr lang="en-US"/>
          </a:p>
        </p:txBody>
      </p:sp>
      <p:pic>
        <p:nvPicPr>
          <p:cNvPr id="10" name="QR code scanner" descr="QR code scanner"/>
          <p:cNvPicPr>
            <a:picLocks noChangeAspect="1"/>
          </p:cNvPicPr>
          <p:nvPr/>
        </p:nvPicPr>
        <p:blipFill>
          <a:blip r:embed="rId4"/>
          <a:stretch>
            <a:fillRect/>
          </a:stretch>
        </p:blipFill>
        <p:spPr>
          <a:xfrm>
            <a:off x="3784016" y="1737360"/>
            <a:ext cx="356616" cy="356616"/>
          </a:xfrm>
          <a:prstGeom prst="rect">
            <a:avLst/>
          </a:prstGeom>
        </p:spPr>
      </p:pic>
      <p:sp>
        <p:nvSpPr>
          <p:cNvPr id="11" name="Text 6"/>
          <p:cNvSpPr txBox="1"/>
          <p:nvPr/>
        </p:nvSpPr>
        <p:spPr>
          <a:xfrm>
            <a:off x="3619424" y="2377440"/>
            <a:ext cx="2156384" cy="100584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QR code scanner</a:t>
            </a:r>
            <a:endParaRPr lang="en-US" sz="1400" dirty="0"/>
          </a:p>
          <a:p>
            <a:pPr marL="0" indent="0">
              <a:spcAft>
                <a:spcPts val="300"/>
              </a:spcAft>
              <a:buNone/>
            </a:pPr>
            <a:r>
              <a:rPr lang="en-US" sz="1400" dirty="0">
                <a:solidFill>
                  <a:schemeClr val="tx2"/>
                </a:solidFill>
              </a:rPr>
              <a:t>USB or Bluetooth. It works like a keyboard.</a:t>
            </a:r>
            <a:endParaRPr lang="en-US" sz="1400" dirty="0"/>
          </a:p>
        </p:txBody>
      </p:sp>
      <p:sp>
        <p:nvSpPr>
          <p:cNvPr id="12" name="The workbook card"/>
          <p:cNvSpPr/>
          <p:nvPr/>
        </p:nvSpPr>
        <p:spPr>
          <a:xfrm>
            <a:off x="6233008" y="1371600"/>
            <a:ext cx="2567864" cy="2103120"/>
          </a:xfrm>
          <a:prstGeom prst="roundRect">
            <a:avLst>
              <a:gd name="adj" fmla="val 5217"/>
            </a:avLst>
          </a:prstGeom>
          <a:solidFill>
            <a:schemeClr val="bg2"/>
          </a:solidFill>
          <a:ln w="12700">
            <a:solidFill>
              <a:schemeClr val="bg2"/>
            </a:solidFill>
            <a:prstDash val="solid"/>
          </a:ln>
        </p:spPr>
        <p:txBody>
          <a:bodyPr/>
          <a:lstStyle/>
          <a:p>
            <a:endParaRPr lang="en-US"/>
          </a:p>
        </p:txBody>
      </p:sp>
      <p:sp>
        <p:nvSpPr>
          <p:cNvPr id="13" name="The workbook circle"/>
          <p:cNvSpPr/>
          <p:nvPr/>
        </p:nvSpPr>
        <p:spPr>
          <a:xfrm>
            <a:off x="6461608" y="1572768"/>
            <a:ext cx="685800" cy="685800"/>
          </a:xfrm>
          <a:prstGeom prst="ellipse">
            <a:avLst/>
          </a:prstGeom>
          <a:solidFill>
            <a:srgbClr val="12B4AF"/>
          </a:solidFill>
          <a:ln w="12700">
            <a:solidFill>
              <a:srgbClr val="12B4AF"/>
            </a:solidFill>
            <a:prstDash val="solid"/>
          </a:ln>
        </p:spPr>
        <p:txBody>
          <a:bodyPr/>
          <a:lstStyle/>
          <a:p>
            <a:endParaRPr lang="en-US"/>
          </a:p>
        </p:txBody>
      </p:sp>
      <p:pic>
        <p:nvPicPr>
          <p:cNvPr id="14" name="The workbook" descr="The workbook"/>
          <p:cNvPicPr>
            <a:picLocks noChangeAspect="1"/>
          </p:cNvPicPr>
          <p:nvPr/>
        </p:nvPicPr>
        <p:blipFill>
          <a:blip r:embed="rId5"/>
          <a:stretch>
            <a:fillRect/>
          </a:stretch>
        </p:blipFill>
        <p:spPr>
          <a:xfrm>
            <a:off x="6626200" y="1737360"/>
            <a:ext cx="356616" cy="356616"/>
          </a:xfrm>
          <a:prstGeom prst="rect">
            <a:avLst/>
          </a:prstGeom>
        </p:spPr>
      </p:pic>
      <p:sp>
        <p:nvSpPr>
          <p:cNvPr id="15" name="Text 9"/>
          <p:cNvSpPr txBox="1"/>
          <p:nvPr/>
        </p:nvSpPr>
        <p:spPr>
          <a:xfrm>
            <a:off x="6461608" y="2377440"/>
            <a:ext cx="2156384" cy="100584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The workbook</a:t>
            </a:r>
            <a:endParaRPr lang="en-US" sz="1400" dirty="0"/>
          </a:p>
          <a:p>
            <a:pPr marL="0" indent="0">
              <a:spcAft>
                <a:spcPts val="300"/>
              </a:spcAft>
              <a:buNone/>
            </a:pPr>
            <a:r>
              <a:rPr lang="en-US" sz="1400" dirty="0">
                <a:solidFill>
                  <a:schemeClr val="tx2"/>
                </a:solidFill>
              </a:rPr>
              <a:t>DERT_Scouting_REBUILT.xlsx. A fresh copy for each event.</a:t>
            </a:r>
            <a:endParaRPr lang="en-US" sz="1400" dirty="0"/>
          </a:p>
        </p:txBody>
      </p:sp>
      <p:sp>
        <p:nvSpPr>
          <p:cNvPr id="16" name="Charger and a seat card"/>
          <p:cNvSpPr/>
          <p:nvPr/>
        </p:nvSpPr>
        <p:spPr>
          <a:xfrm>
            <a:off x="9075191" y="1371600"/>
            <a:ext cx="2567864" cy="2103120"/>
          </a:xfrm>
          <a:prstGeom prst="roundRect">
            <a:avLst>
              <a:gd name="adj" fmla="val 5217"/>
            </a:avLst>
          </a:prstGeom>
          <a:solidFill>
            <a:schemeClr val="bg2"/>
          </a:solidFill>
          <a:ln w="12700">
            <a:solidFill>
              <a:schemeClr val="bg2"/>
            </a:solidFill>
            <a:prstDash val="solid"/>
          </a:ln>
        </p:spPr>
        <p:txBody>
          <a:bodyPr/>
          <a:lstStyle/>
          <a:p>
            <a:endParaRPr lang="en-US"/>
          </a:p>
        </p:txBody>
      </p:sp>
      <p:sp>
        <p:nvSpPr>
          <p:cNvPr id="17" name="Charger and a seat circle"/>
          <p:cNvSpPr/>
          <p:nvPr/>
        </p:nvSpPr>
        <p:spPr>
          <a:xfrm>
            <a:off x="9303791" y="1572768"/>
            <a:ext cx="685800" cy="685800"/>
          </a:xfrm>
          <a:prstGeom prst="ellipse">
            <a:avLst/>
          </a:prstGeom>
          <a:solidFill>
            <a:srgbClr val="12B4AF"/>
          </a:solidFill>
          <a:ln w="12700">
            <a:solidFill>
              <a:srgbClr val="12B4AF"/>
            </a:solidFill>
            <a:prstDash val="solid"/>
          </a:ln>
        </p:spPr>
        <p:txBody>
          <a:bodyPr/>
          <a:lstStyle/>
          <a:p>
            <a:endParaRPr lang="en-US"/>
          </a:p>
        </p:txBody>
      </p:sp>
      <p:pic>
        <p:nvPicPr>
          <p:cNvPr id="18" name="Charger and a seat" descr="Charger and a seat"/>
          <p:cNvPicPr>
            <a:picLocks noChangeAspect="1"/>
          </p:cNvPicPr>
          <p:nvPr/>
        </p:nvPicPr>
        <p:blipFill>
          <a:blip r:embed="rId6"/>
          <a:stretch>
            <a:fillRect/>
          </a:stretch>
        </p:blipFill>
        <p:spPr>
          <a:xfrm>
            <a:off x="9468383" y="1737360"/>
            <a:ext cx="356616" cy="356616"/>
          </a:xfrm>
          <a:prstGeom prst="rect">
            <a:avLst/>
          </a:prstGeom>
        </p:spPr>
      </p:pic>
      <p:sp>
        <p:nvSpPr>
          <p:cNvPr id="19" name="Text 12"/>
          <p:cNvSpPr txBox="1"/>
          <p:nvPr/>
        </p:nvSpPr>
        <p:spPr>
          <a:xfrm>
            <a:off x="9303791" y="2377440"/>
            <a:ext cx="2156384" cy="100584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Charger and a seat</a:t>
            </a:r>
            <a:endParaRPr lang="en-US" sz="1400" dirty="0"/>
          </a:p>
          <a:p>
            <a:pPr marL="0" indent="0">
              <a:spcAft>
                <a:spcPts val="300"/>
              </a:spcAft>
              <a:buNone/>
            </a:pPr>
            <a:r>
              <a:rPr lang="en-US" sz="1400" dirty="0">
                <a:solidFill>
                  <a:schemeClr val="tx2"/>
                </a:solidFill>
              </a:rPr>
              <a:t>Somewhere scouts can find you after every match.</a:t>
            </a:r>
            <a:endParaRPr lang="en-US" sz="1400" dirty="0"/>
          </a:p>
        </p:txBody>
      </p:sp>
      <p:sp>
        <p:nvSpPr>
          <p:cNvPr id="20" name="Text 13"/>
          <p:cNvSpPr txBox="1"/>
          <p:nvPr/>
        </p:nvSpPr>
        <p:spPr>
          <a:xfrm>
            <a:off x="548640" y="3749040"/>
            <a:ext cx="7315200" cy="365760"/>
          </a:xfrm>
          <a:prstGeom prst="rect">
            <a:avLst/>
          </a:prstGeom>
          <a:noFill/>
          <a:ln/>
        </p:spPr>
        <p:txBody>
          <a:bodyPr wrap="square" lIns="0" tIns="0" rIns="0" bIns="0" rtlCol="0" anchor="t"/>
          <a:lstStyle/>
          <a:p>
            <a:pPr marL="0" indent="0">
              <a:buNone/>
            </a:pPr>
            <a:r>
              <a:rPr lang="en-US" sz="2000" b="1" dirty="0">
                <a:solidFill>
                  <a:schemeClr val="tx1"/>
                </a:solidFill>
                <a:latin typeface="+mj-lt" pitchFamily="34" charset="0"/>
                <a:ea typeface="+mj-lt" pitchFamily="34" charset="-122"/>
                <a:cs typeface="+mj-lt" pitchFamily="34" charset="-120"/>
              </a:rPr>
              <a:t>What the scanner does</a:t>
            </a:r>
            <a:endParaRPr lang="en-US" sz="2000" dirty="0"/>
          </a:p>
        </p:txBody>
      </p:sp>
      <p:sp>
        <p:nvSpPr>
          <p:cNvPr id="21" name="Text 14"/>
          <p:cNvSpPr txBox="1"/>
          <p:nvPr/>
        </p:nvSpPr>
        <p:spPr>
          <a:xfrm>
            <a:off x="548640" y="4133088"/>
            <a:ext cx="11094415" cy="320040"/>
          </a:xfrm>
          <a:prstGeom prst="rect">
            <a:avLst/>
          </a:prstGeom>
          <a:noFill/>
          <a:ln/>
        </p:spPr>
        <p:txBody>
          <a:bodyPr wrap="square" lIns="0" tIns="0" rIns="0" bIns="0" rtlCol="0" anchor="t"/>
          <a:lstStyle/>
          <a:p>
            <a:pPr marL="0" indent="0">
              <a:buNone/>
            </a:pPr>
            <a:r>
              <a:rPr lang="en-US" sz="1500" dirty="0">
                <a:solidFill>
                  <a:schemeClr val="tx2"/>
                </a:solidFill>
              </a:rPr>
              <a:t>It types the answers for you, one after the other, as if someone typed really fast:</a:t>
            </a:r>
            <a:endParaRPr lang="en-US" sz="1500" dirty="0"/>
          </a:p>
        </p:txBody>
      </p:sp>
      <p:sp>
        <p:nvSpPr>
          <p:cNvPr id="22" name="Key 1"/>
          <p:cNvSpPr txBox="1"/>
          <p:nvPr/>
        </p:nvSpPr>
        <p:spPr>
          <a:xfrm>
            <a:off x="548640" y="4572000"/>
            <a:ext cx="64008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Qual</a:t>
            </a:r>
            <a:endParaRPr lang="en-US" sz="1400" dirty="0"/>
          </a:p>
        </p:txBody>
      </p:sp>
      <p:sp>
        <p:nvSpPr>
          <p:cNvPr id="23" name="Text 16"/>
          <p:cNvSpPr txBox="1"/>
          <p:nvPr/>
        </p:nvSpPr>
        <p:spPr>
          <a:xfrm>
            <a:off x="365760" y="5120640"/>
            <a:ext cx="1005840" cy="256032"/>
          </a:xfrm>
          <a:prstGeom prst="rect">
            <a:avLst/>
          </a:prstGeom>
          <a:noFill/>
          <a:ln/>
        </p:spPr>
        <p:txBody>
          <a:bodyPr wrap="square" lIns="0" tIns="0" rIns="0" bIns="0" rtlCol="0" anchor="t"/>
          <a:lstStyle/>
          <a:p>
            <a:pPr marL="0" indent="0" algn="ctr">
              <a:buNone/>
            </a:pPr>
            <a:r>
              <a:rPr lang="en-US" sz="1100" b="1" dirty="0">
                <a:solidFill>
                  <a:schemeClr val="accent2"/>
                </a:solidFill>
              </a:rPr>
              <a:t>A2</a:t>
            </a:r>
            <a:endParaRPr lang="en-US" sz="1100" dirty="0"/>
          </a:p>
        </p:txBody>
      </p:sp>
      <p:sp>
        <p:nvSpPr>
          <p:cNvPr id="24" name="Key 2"/>
          <p:cNvSpPr txBox="1"/>
          <p:nvPr/>
        </p:nvSpPr>
        <p:spPr>
          <a:xfrm>
            <a:off x="1261872" y="4572000"/>
            <a:ext cx="73152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Tab ⇥</a:t>
            </a:r>
            <a:endParaRPr lang="en-US" sz="1400" dirty="0"/>
          </a:p>
        </p:txBody>
      </p:sp>
      <p:sp>
        <p:nvSpPr>
          <p:cNvPr id="25" name="Key 3"/>
          <p:cNvSpPr txBox="1"/>
          <p:nvPr/>
        </p:nvSpPr>
        <p:spPr>
          <a:xfrm>
            <a:off x="2066544" y="4572000"/>
            <a:ext cx="54864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12</a:t>
            </a:r>
            <a:endParaRPr lang="en-US" sz="1400" dirty="0"/>
          </a:p>
        </p:txBody>
      </p:sp>
      <p:sp>
        <p:nvSpPr>
          <p:cNvPr id="26" name="Text 19"/>
          <p:cNvSpPr txBox="1"/>
          <p:nvPr/>
        </p:nvSpPr>
        <p:spPr>
          <a:xfrm>
            <a:off x="1883664" y="5120640"/>
            <a:ext cx="914400" cy="256032"/>
          </a:xfrm>
          <a:prstGeom prst="rect">
            <a:avLst/>
          </a:prstGeom>
          <a:noFill/>
          <a:ln/>
        </p:spPr>
        <p:txBody>
          <a:bodyPr wrap="square" lIns="0" tIns="0" rIns="0" bIns="0" rtlCol="0" anchor="t"/>
          <a:lstStyle/>
          <a:p>
            <a:pPr marL="0" indent="0" algn="ctr">
              <a:buNone/>
            </a:pPr>
            <a:r>
              <a:rPr lang="en-US" sz="1100" b="1" dirty="0">
                <a:solidFill>
                  <a:schemeClr val="accent2"/>
                </a:solidFill>
              </a:rPr>
              <a:t>B2</a:t>
            </a:r>
            <a:endParaRPr lang="en-US" sz="1100" dirty="0"/>
          </a:p>
        </p:txBody>
      </p:sp>
      <p:sp>
        <p:nvSpPr>
          <p:cNvPr id="27" name="Key 4"/>
          <p:cNvSpPr txBox="1"/>
          <p:nvPr/>
        </p:nvSpPr>
        <p:spPr>
          <a:xfrm>
            <a:off x="2688336" y="4572000"/>
            <a:ext cx="73152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Tab ⇥</a:t>
            </a:r>
            <a:endParaRPr lang="en-US" sz="1400" dirty="0"/>
          </a:p>
        </p:txBody>
      </p:sp>
      <p:sp>
        <p:nvSpPr>
          <p:cNvPr id="28" name="Key 5"/>
          <p:cNvSpPr txBox="1"/>
          <p:nvPr/>
        </p:nvSpPr>
        <p:spPr>
          <a:xfrm>
            <a:off x="3493008" y="4572000"/>
            <a:ext cx="64008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1736</a:t>
            </a:r>
            <a:endParaRPr lang="en-US" sz="1400" dirty="0"/>
          </a:p>
        </p:txBody>
      </p:sp>
      <p:sp>
        <p:nvSpPr>
          <p:cNvPr id="29" name="Text 22"/>
          <p:cNvSpPr txBox="1"/>
          <p:nvPr/>
        </p:nvSpPr>
        <p:spPr>
          <a:xfrm>
            <a:off x="3310128" y="5120640"/>
            <a:ext cx="1005840" cy="256032"/>
          </a:xfrm>
          <a:prstGeom prst="rect">
            <a:avLst/>
          </a:prstGeom>
          <a:noFill/>
          <a:ln/>
        </p:spPr>
        <p:txBody>
          <a:bodyPr wrap="square" lIns="0" tIns="0" rIns="0" bIns="0" rtlCol="0" anchor="t"/>
          <a:lstStyle/>
          <a:p>
            <a:pPr marL="0" indent="0" algn="ctr">
              <a:buNone/>
            </a:pPr>
            <a:r>
              <a:rPr lang="en-US" sz="1100" b="1" dirty="0">
                <a:solidFill>
                  <a:schemeClr val="accent2"/>
                </a:solidFill>
              </a:rPr>
              <a:t>C2</a:t>
            </a:r>
            <a:endParaRPr lang="en-US" sz="1100" dirty="0"/>
          </a:p>
        </p:txBody>
      </p:sp>
      <p:sp>
        <p:nvSpPr>
          <p:cNvPr id="30" name="Key 6"/>
          <p:cNvSpPr txBox="1"/>
          <p:nvPr/>
        </p:nvSpPr>
        <p:spPr>
          <a:xfrm>
            <a:off x="4206240" y="4572000"/>
            <a:ext cx="73152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Tab ⇥</a:t>
            </a:r>
            <a:endParaRPr lang="en-US" sz="1400" dirty="0"/>
          </a:p>
        </p:txBody>
      </p:sp>
      <p:sp>
        <p:nvSpPr>
          <p:cNvPr id="31" name="Key 7"/>
          <p:cNvSpPr txBox="1"/>
          <p:nvPr/>
        </p:nvSpPr>
        <p:spPr>
          <a:xfrm>
            <a:off x="5010912" y="4572000"/>
            <a:ext cx="64008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Blue</a:t>
            </a:r>
            <a:endParaRPr lang="en-US" sz="1400" dirty="0"/>
          </a:p>
        </p:txBody>
      </p:sp>
      <p:sp>
        <p:nvSpPr>
          <p:cNvPr id="32" name="Text 25"/>
          <p:cNvSpPr txBox="1"/>
          <p:nvPr/>
        </p:nvSpPr>
        <p:spPr>
          <a:xfrm>
            <a:off x="4828032" y="5120640"/>
            <a:ext cx="1005840" cy="256032"/>
          </a:xfrm>
          <a:prstGeom prst="rect">
            <a:avLst/>
          </a:prstGeom>
          <a:noFill/>
          <a:ln/>
        </p:spPr>
        <p:txBody>
          <a:bodyPr wrap="square" lIns="0" tIns="0" rIns="0" bIns="0" rtlCol="0" anchor="t"/>
          <a:lstStyle/>
          <a:p>
            <a:pPr marL="0" indent="0" algn="ctr">
              <a:buNone/>
            </a:pPr>
            <a:r>
              <a:rPr lang="en-US" sz="1100" b="1" dirty="0">
                <a:solidFill>
                  <a:schemeClr val="accent2"/>
                </a:solidFill>
              </a:rPr>
              <a:t>D2</a:t>
            </a:r>
            <a:endParaRPr lang="en-US" sz="1100" dirty="0"/>
          </a:p>
        </p:txBody>
      </p:sp>
      <p:sp>
        <p:nvSpPr>
          <p:cNvPr id="33" name="Key 8"/>
          <p:cNvSpPr txBox="1"/>
          <p:nvPr/>
        </p:nvSpPr>
        <p:spPr>
          <a:xfrm>
            <a:off x="5724144" y="4572000"/>
            <a:ext cx="73152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Tab ⇥</a:t>
            </a:r>
            <a:endParaRPr lang="en-US" sz="1400" dirty="0"/>
          </a:p>
        </p:txBody>
      </p:sp>
      <p:sp>
        <p:nvSpPr>
          <p:cNvPr id="34" name="Key 9"/>
          <p:cNvSpPr txBox="1"/>
          <p:nvPr/>
        </p:nvSpPr>
        <p:spPr>
          <a:xfrm>
            <a:off x="6528816" y="4572000"/>
            <a:ext cx="54864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35" name="Text 28"/>
          <p:cNvSpPr txBox="1"/>
          <p:nvPr/>
        </p:nvSpPr>
        <p:spPr>
          <a:xfrm>
            <a:off x="6345936" y="5120640"/>
            <a:ext cx="914400" cy="256032"/>
          </a:xfrm>
          <a:prstGeom prst="rect">
            <a:avLst/>
          </a:prstGeom>
          <a:noFill/>
          <a:ln/>
        </p:spPr>
        <p:txBody>
          <a:bodyPr wrap="square" lIns="0" tIns="0" rIns="0" bIns="0" rtlCol="0" anchor="t"/>
          <a:lstStyle/>
          <a:p>
            <a:pPr marL="0" indent="0" algn="ctr">
              <a:buNone/>
            </a:pPr>
            <a:r>
              <a:rPr lang="en-US" sz="1100" b="1" dirty="0">
                <a:solidFill>
                  <a:schemeClr val="accent2"/>
                </a:solidFill>
              </a:rPr>
              <a:t>E2</a:t>
            </a:r>
            <a:endParaRPr lang="en-US" sz="1100" dirty="0"/>
          </a:p>
        </p:txBody>
      </p:sp>
      <p:sp>
        <p:nvSpPr>
          <p:cNvPr id="36" name="Key 10"/>
          <p:cNvSpPr txBox="1"/>
          <p:nvPr/>
        </p:nvSpPr>
        <p:spPr>
          <a:xfrm>
            <a:off x="7150608" y="4572000"/>
            <a:ext cx="73152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Tab ⇥</a:t>
            </a:r>
            <a:endParaRPr lang="en-US" sz="1400" dirty="0"/>
          </a:p>
        </p:txBody>
      </p:sp>
      <p:sp>
        <p:nvSpPr>
          <p:cNvPr id="37" name="Key 11"/>
          <p:cNvSpPr txBox="1"/>
          <p:nvPr/>
        </p:nvSpPr>
        <p:spPr>
          <a:xfrm>
            <a:off x="7955280" y="4572000"/>
            <a:ext cx="640080" cy="502920"/>
          </a:xfrm>
          <a:prstGeom prst="roundRect">
            <a:avLst>
              <a:gd name="adj" fmla="val 14545"/>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Alex</a:t>
            </a:r>
            <a:endParaRPr lang="en-US" sz="1400" dirty="0"/>
          </a:p>
        </p:txBody>
      </p:sp>
      <p:sp>
        <p:nvSpPr>
          <p:cNvPr id="38" name="Text 31"/>
          <p:cNvSpPr txBox="1"/>
          <p:nvPr/>
        </p:nvSpPr>
        <p:spPr>
          <a:xfrm>
            <a:off x="7772400" y="5120640"/>
            <a:ext cx="1005840" cy="256032"/>
          </a:xfrm>
          <a:prstGeom prst="rect">
            <a:avLst/>
          </a:prstGeom>
          <a:noFill/>
          <a:ln/>
        </p:spPr>
        <p:txBody>
          <a:bodyPr wrap="square" lIns="0" tIns="0" rIns="0" bIns="0" rtlCol="0" anchor="t"/>
          <a:lstStyle/>
          <a:p>
            <a:pPr marL="0" indent="0" algn="ctr">
              <a:buNone/>
            </a:pPr>
            <a:r>
              <a:rPr lang="en-US" sz="1100" b="1" dirty="0">
                <a:solidFill>
                  <a:schemeClr val="accent2"/>
                </a:solidFill>
              </a:rPr>
              <a:t>F2</a:t>
            </a:r>
            <a:endParaRPr lang="en-US" sz="1100" dirty="0"/>
          </a:p>
        </p:txBody>
      </p:sp>
      <p:sp>
        <p:nvSpPr>
          <p:cNvPr id="39" name="Key 12"/>
          <p:cNvSpPr txBox="1"/>
          <p:nvPr/>
        </p:nvSpPr>
        <p:spPr>
          <a:xfrm>
            <a:off x="8668512" y="4572000"/>
            <a:ext cx="73152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Tab ⇥</a:t>
            </a:r>
            <a:endParaRPr lang="en-US" sz="1400" dirty="0"/>
          </a:p>
        </p:txBody>
      </p:sp>
      <p:sp>
        <p:nvSpPr>
          <p:cNvPr id="40" name="Key 13"/>
          <p:cNvSpPr txBox="1"/>
          <p:nvPr/>
        </p:nvSpPr>
        <p:spPr>
          <a:xfrm>
            <a:off x="9473184" y="4572000"/>
            <a:ext cx="411480" cy="502920"/>
          </a:xfrm>
          <a:prstGeom prst="roundRect">
            <a:avLst>
              <a:gd name="adj" fmla="val 17778"/>
            </a:avLst>
          </a:prstGeom>
          <a:solidFill>
            <a:schemeClr val="bg1"/>
          </a:solidFill>
          <a:ln w="19050">
            <a:solidFill>
              <a:schemeClr val="accent1"/>
            </a:solidFill>
          </a:ln>
        </p:spPr>
        <p:txBody>
          <a:bodyPr wrap="square" lIns="0" tIns="0" rIns="0" bIns="0" rtlCol="0" anchor="ctr"/>
          <a:lstStyle/>
          <a:p>
            <a:pPr marL="0" indent="0" algn="ctr">
              <a:buNone/>
            </a:pPr>
            <a:r>
              <a:rPr lang="en-US" sz="1400" b="1" dirty="0">
                <a:solidFill>
                  <a:schemeClr val="tx1"/>
                </a:solidFill>
              </a:rPr>
              <a:t>…</a:t>
            </a:r>
            <a:endParaRPr lang="en-US" sz="1400" dirty="0"/>
          </a:p>
        </p:txBody>
      </p:sp>
      <p:sp>
        <p:nvSpPr>
          <p:cNvPr id="41" name="Key 14"/>
          <p:cNvSpPr txBox="1"/>
          <p:nvPr/>
        </p:nvSpPr>
        <p:spPr>
          <a:xfrm>
            <a:off x="9957816" y="4572000"/>
            <a:ext cx="914400" cy="502920"/>
          </a:xfrm>
          <a:prstGeom prst="roundRect">
            <a:avLst>
              <a:gd name="adj" fmla="val 14545"/>
            </a:avLst>
          </a:prstGeom>
          <a:solidFill>
            <a:schemeClr val="tx1"/>
          </a:solidFill>
          <a:ln w="19050">
            <a:solidFill>
              <a:schemeClr val="tx1"/>
            </a:solidFill>
          </a:ln>
        </p:spPr>
        <p:txBody>
          <a:bodyPr wrap="square" lIns="0" tIns="0" rIns="0" bIns="0" rtlCol="0" anchor="ctr"/>
          <a:lstStyle/>
          <a:p>
            <a:pPr marL="0" indent="0" algn="ctr">
              <a:buNone/>
            </a:pPr>
            <a:r>
              <a:rPr lang="en-US" sz="1400" dirty="0">
                <a:solidFill>
                  <a:schemeClr val="bg1"/>
                </a:solidFill>
              </a:rPr>
              <a:t>Enter ⏎</a:t>
            </a:r>
            <a:endParaRPr lang="en-US" sz="1400" dirty="0"/>
          </a:p>
        </p:txBody>
      </p:sp>
      <p:sp>
        <p:nvSpPr>
          <p:cNvPr id="42" name="Text 35"/>
          <p:cNvSpPr txBox="1"/>
          <p:nvPr/>
        </p:nvSpPr>
        <p:spPr>
          <a:xfrm>
            <a:off x="9774936" y="5120640"/>
            <a:ext cx="1280160" cy="256032"/>
          </a:xfrm>
          <a:prstGeom prst="rect">
            <a:avLst/>
          </a:prstGeom>
          <a:noFill/>
          <a:ln/>
        </p:spPr>
        <p:txBody>
          <a:bodyPr wrap="square" lIns="0" tIns="0" rIns="0" bIns="0" rtlCol="0" anchor="t"/>
          <a:lstStyle/>
          <a:p>
            <a:pPr marL="0" indent="0" algn="ctr">
              <a:buNone/>
            </a:pPr>
            <a:r>
              <a:rPr lang="en-US" sz="1100" b="1" dirty="0">
                <a:solidFill>
                  <a:schemeClr val="accent2"/>
                </a:solidFill>
              </a:rPr>
              <a:t>next row</a:t>
            </a:r>
            <a:endParaRPr lang="en-US" sz="1100" dirty="0"/>
          </a:p>
        </p:txBody>
      </p:sp>
      <p:sp>
        <p:nvSpPr>
          <p:cNvPr id="43" name="Text 36"/>
          <p:cNvSpPr txBox="1"/>
          <p:nvPr/>
        </p:nvSpPr>
        <p:spPr>
          <a:xfrm>
            <a:off x="548640" y="5577840"/>
            <a:ext cx="11094415" cy="365760"/>
          </a:xfrm>
          <a:prstGeom prst="rect">
            <a:avLst/>
          </a:prstGeom>
          <a:noFill/>
          <a:ln/>
        </p:spPr>
        <p:txBody>
          <a:bodyPr wrap="square" lIns="0" tIns="0" rIns="0" bIns="0" rtlCol="0" anchor="t"/>
          <a:lstStyle/>
          <a:p>
            <a:pPr marL="0" indent="0">
              <a:buNone/>
            </a:pPr>
            <a:r>
              <a:rPr lang="en-US" sz="1500" b="1" dirty="0">
                <a:solidFill>
                  <a:schemeClr val="tx2"/>
                </a:solidFill>
              </a:rPr>
              <a:t>Tab</a:t>
            </a:r>
            <a:r>
              <a:rPr lang="en-US" sz="1500" dirty="0">
                <a:solidFill>
                  <a:schemeClr val="tx2"/>
                </a:solidFill>
              </a:rPr>
              <a:t> moves one cell to the right.   </a:t>
            </a:r>
            <a:r>
              <a:rPr lang="en-US" sz="1500" b="1" dirty="0">
                <a:solidFill>
                  <a:schemeClr val="tx2"/>
                </a:solidFill>
              </a:rPr>
              <a:t>Enter</a:t>
            </a:r>
            <a:r>
              <a:rPr lang="en-US" sz="1500" dirty="0">
                <a:solidFill>
                  <a:schemeClr val="tx2"/>
                </a:solidFill>
              </a:rPr>
              <a:t> goes to the next row.   So one scan = one row in Excel.</a:t>
            </a:r>
            <a:endParaRPr lang="en-US" sz="15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Excel in 60 seconds</a:t>
            </a:r>
            <a:endParaRPr lang="en-US" sz="3600" dirty="0"/>
          </a:p>
        </p:txBody>
      </p:sp>
      <p:sp>
        <p:nvSpPr>
          <p:cNvPr id="4" name="Excel window"/>
          <p:cNvSpPr/>
          <p:nvPr/>
        </p:nvSpPr>
        <p:spPr>
          <a:xfrm>
            <a:off x="548640" y="1371600"/>
            <a:ext cx="7315200" cy="484632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5" name="Excel title bar"/>
          <p:cNvSpPr/>
          <p:nvPr/>
        </p:nvSpPr>
        <p:spPr>
          <a:xfrm>
            <a:off x="548640" y="1371600"/>
            <a:ext cx="7315200" cy="310896"/>
          </a:xfrm>
          <a:prstGeom prst="rect">
            <a:avLst/>
          </a:prstGeom>
          <a:solidFill>
            <a:srgbClr val="1E7145"/>
          </a:solidFill>
          <a:ln w="12700">
            <a:solidFill>
              <a:srgbClr val="1E7145"/>
            </a:solidFill>
            <a:prstDash val="solid"/>
          </a:ln>
        </p:spPr>
        <p:txBody>
          <a:bodyPr/>
          <a:lstStyle/>
          <a:p>
            <a:endParaRPr lang="en-US"/>
          </a:p>
        </p:txBody>
      </p:sp>
      <p:sp>
        <p:nvSpPr>
          <p:cNvPr id="6" name="Text 3"/>
          <p:cNvSpPr txBox="1"/>
          <p:nvPr/>
        </p:nvSpPr>
        <p:spPr>
          <a:xfrm>
            <a:off x="685800" y="1371600"/>
            <a:ext cx="6126480" cy="310896"/>
          </a:xfrm>
          <a:prstGeom prst="rect">
            <a:avLst/>
          </a:prstGeom>
          <a:noFill/>
          <a:ln/>
        </p:spPr>
        <p:txBody>
          <a:bodyPr wrap="square" lIns="0" tIns="0" rIns="0" bIns="0" rtlCol="0" anchor="ctr"/>
          <a:lstStyle/>
          <a:p>
            <a:pPr marL="0" indent="0" algn="l">
              <a:buNone/>
            </a:pPr>
            <a:r>
              <a:rPr lang="en-US" sz="1100" dirty="0">
                <a:solidFill>
                  <a:srgbClr val="FFFFFF"/>
                </a:solidFill>
              </a:rPr>
              <a:t>DERT_Scouting_REBUILT.xlsx  -  Excel</a:t>
            </a:r>
            <a:endParaRPr lang="en-US" sz="1100" dirty="0"/>
          </a:p>
        </p:txBody>
      </p:sp>
      <p:sp>
        <p:nvSpPr>
          <p:cNvPr id="7" name="Text 4"/>
          <p:cNvSpPr txBox="1"/>
          <p:nvPr/>
        </p:nvSpPr>
        <p:spPr>
          <a:xfrm>
            <a:off x="6903720" y="1371600"/>
            <a:ext cx="868680" cy="310896"/>
          </a:xfrm>
          <a:prstGeom prst="rect">
            <a:avLst/>
          </a:prstGeom>
          <a:noFill/>
          <a:ln/>
        </p:spPr>
        <p:txBody>
          <a:bodyPr wrap="square" lIns="0" tIns="0" rIns="0" bIns="0" rtlCol="0" anchor="ctr"/>
          <a:lstStyle/>
          <a:p>
            <a:pPr marL="0" indent="0" algn="r">
              <a:buNone/>
            </a:pPr>
            <a:r>
              <a:rPr lang="en-US" sz="1000" dirty="0">
                <a:solidFill>
                  <a:srgbClr val="FFFFFF"/>
                </a:solidFill>
              </a:rPr>
              <a:t>—   ☐   ✕</a:t>
            </a:r>
            <a:endParaRPr lang="en-US" sz="1000" dirty="0"/>
          </a:p>
        </p:txBody>
      </p:sp>
      <p:sp>
        <p:nvSpPr>
          <p:cNvPr id="8" name="Ribbon tabs"/>
          <p:cNvSpPr/>
          <p:nvPr/>
        </p:nvSpPr>
        <p:spPr>
          <a:xfrm>
            <a:off x="548640" y="1682496"/>
            <a:ext cx="7315200" cy="274320"/>
          </a:xfrm>
          <a:prstGeom prst="rect">
            <a:avLst/>
          </a:prstGeom>
          <a:solidFill>
            <a:srgbClr val="F3F3F3"/>
          </a:solidFill>
          <a:ln w="12700">
            <a:solidFill>
              <a:srgbClr val="F3F3F3"/>
            </a:solidFill>
            <a:prstDash val="solid"/>
          </a:ln>
        </p:spPr>
        <p:txBody>
          <a:bodyPr/>
          <a:lstStyle/>
          <a:p>
            <a:endParaRPr lang="en-US"/>
          </a:p>
        </p:txBody>
      </p:sp>
      <p:sp>
        <p:nvSpPr>
          <p:cNvPr id="9" name="Text 6"/>
          <p:cNvSpPr txBox="1"/>
          <p:nvPr/>
        </p:nvSpPr>
        <p:spPr>
          <a:xfrm>
            <a:off x="685800" y="1682496"/>
            <a:ext cx="7040880" cy="274320"/>
          </a:xfrm>
          <a:prstGeom prst="rect">
            <a:avLst/>
          </a:prstGeom>
          <a:noFill/>
          <a:ln/>
        </p:spPr>
        <p:txBody>
          <a:bodyPr wrap="square" lIns="0" tIns="0" rIns="0" bIns="0" rtlCol="0" anchor="ctr"/>
          <a:lstStyle/>
          <a:p>
            <a:pPr marL="0" indent="0">
              <a:buNone/>
            </a:pPr>
            <a:r>
              <a:rPr lang="en-US" sz="1000" b="1" dirty="0">
                <a:solidFill>
                  <a:srgbClr val="1E7145"/>
                </a:solidFill>
              </a:rPr>
              <a:t>File</a:t>
            </a:r>
            <a:r>
              <a:rPr lang="en-US" sz="1000" dirty="0">
                <a:solidFill>
                  <a:srgbClr val="444444"/>
                </a:solidFill>
              </a:rPr>
              <a:t>     Home     Insert     Page Layout     Formulas     Data     Review     View</a:t>
            </a:r>
            <a:endParaRPr lang="en-US" sz="1000" dirty="0"/>
          </a:p>
        </p:txBody>
      </p:sp>
      <p:sp>
        <p:nvSpPr>
          <p:cNvPr id="10" name="Ribbon"/>
          <p:cNvSpPr/>
          <p:nvPr/>
        </p:nvSpPr>
        <p:spPr>
          <a:xfrm>
            <a:off x="548640" y="1956816"/>
            <a:ext cx="7315200" cy="402336"/>
          </a:xfrm>
          <a:prstGeom prst="rect">
            <a:avLst/>
          </a:prstGeom>
          <a:solidFill>
            <a:srgbClr val="FAFAFA"/>
          </a:solidFill>
          <a:ln w="6350">
            <a:solidFill>
              <a:srgbClr val="E6E6E6"/>
            </a:solidFill>
            <a:prstDash val="solid"/>
          </a:ln>
        </p:spPr>
        <p:txBody>
          <a:bodyPr/>
          <a:lstStyle/>
          <a:p>
            <a:endParaRPr lang="en-US"/>
          </a:p>
        </p:txBody>
      </p:sp>
      <p:sp>
        <p:nvSpPr>
          <p:cNvPr id="11" name="Ribbon button 1"/>
          <p:cNvSpPr/>
          <p:nvPr/>
        </p:nvSpPr>
        <p:spPr>
          <a:xfrm>
            <a:off x="685800"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2" name="Ribbon button 2"/>
          <p:cNvSpPr/>
          <p:nvPr/>
        </p:nvSpPr>
        <p:spPr>
          <a:xfrm>
            <a:off x="1115568"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3" name="Ribbon button 3"/>
          <p:cNvSpPr/>
          <p:nvPr/>
        </p:nvSpPr>
        <p:spPr>
          <a:xfrm>
            <a:off x="1545336"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4" name="Ribbon button 4"/>
          <p:cNvSpPr/>
          <p:nvPr/>
        </p:nvSpPr>
        <p:spPr>
          <a:xfrm>
            <a:off x="2148840"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5" name="Ribbon button 5"/>
          <p:cNvSpPr/>
          <p:nvPr/>
        </p:nvSpPr>
        <p:spPr>
          <a:xfrm>
            <a:off x="2578608"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6" name="Ribbon button 6"/>
          <p:cNvSpPr/>
          <p:nvPr/>
        </p:nvSpPr>
        <p:spPr>
          <a:xfrm>
            <a:off x="3008376"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7" name="Ribbon button 7"/>
          <p:cNvSpPr/>
          <p:nvPr/>
        </p:nvSpPr>
        <p:spPr>
          <a:xfrm>
            <a:off x="3611880"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8" name="Ribbon button 8"/>
          <p:cNvSpPr/>
          <p:nvPr/>
        </p:nvSpPr>
        <p:spPr>
          <a:xfrm>
            <a:off x="4041648"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19" name="Formula bar"/>
          <p:cNvSpPr/>
          <p:nvPr/>
        </p:nvSpPr>
        <p:spPr>
          <a:xfrm>
            <a:off x="548640" y="2359152"/>
            <a:ext cx="7315200" cy="310896"/>
          </a:xfrm>
          <a:prstGeom prst="rect">
            <a:avLst/>
          </a:prstGeom>
          <a:solidFill>
            <a:srgbClr val="FFFFFF"/>
          </a:solidFill>
          <a:ln w="6350">
            <a:solidFill>
              <a:srgbClr val="E6E6E6"/>
            </a:solidFill>
            <a:prstDash val="solid"/>
          </a:ln>
        </p:spPr>
        <p:txBody>
          <a:bodyPr/>
          <a:lstStyle/>
          <a:p>
            <a:endParaRPr lang="en-US"/>
          </a:p>
        </p:txBody>
      </p:sp>
      <p:sp>
        <p:nvSpPr>
          <p:cNvPr id="20" name="Name Box"/>
          <p:cNvSpPr txBox="1"/>
          <p:nvPr/>
        </p:nvSpPr>
        <p:spPr>
          <a:xfrm>
            <a:off x="621792" y="2404872"/>
            <a:ext cx="731520" cy="219456"/>
          </a:xfrm>
          <a:prstGeom prst="rect">
            <a:avLst/>
          </a:prstGeom>
          <a:solidFill>
            <a:srgbClr val="FFFFFF"/>
          </a:solidFill>
          <a:ln w="9525">
            <a:solidFill>
              <a:srgbClr val="A6A6A6"/>
            </a:solidFill>
          </a:ln>
        </p:spPr>
        <p:txBody>
          <a:bodyPr wrap="square" lIns="0" tIns="635" rIns="635" bIns="0" rtlCol="0" anchor="ctr"/>
          <a:lstStyle/>
          <a:p>
            <a:pPr marL="0" indent="0">
              <a:buNone/>
            </a:pPr>
            <a:r>
              <a:rPr lang="en-US" sz="1000" dirty="0">
                <a:solidFill>
                  <a:srgbClr val="1C1C1C"/>
                </a:solidFill>
              </a:rPr>
              <a:t>A5</a:t>
            </a:r>
            <a:endParaRPr lang="en-US" sz="1000" dirty="0"/>
          </a:p>
        </p:txBody>
      </p:sp>
      <p:sp>
        <p:nvSpPr>
          <p:cNvPr id="21" name="Text 18"/>
          <p:cNvSpPr txBox="1"/>
          <p:nvPr/>
        </p:nvSpPr>
        <p:spPr>
          <a:xfrm>
            <a:off x="1463040" y="2359152"/>
            <a:ext cx="274320" cy="310896"/>
          </a:xfrm>
          <a:prstGeom prst="rect">
            <a:avLst/>
          </a:prstGeom>
          <a:noFill/>
          <a:ln/>
        </p:spPr>
        <p:txBody>
          <a:bodyPr wrap="square" lIns="0" tIns="0" rIns="0" bIns="0" rtlCol="0" anchor="ctr"/>
          <a:lstStyle/>
          <a:p>
            <a:pPr marL="0" indent="0">
              <a:buNone/>
            </a:pPr>
            <a:r>
              <a:rPr lang="en-US" sz="1000" i="1" dirty="0">
                <a:solidFill>
                  <a:srgbClr val="666666"/>
                </a:solidFill>
              </a:rPr>
              <a:t>fx</a:t>
            </a:r>
            <a:endParaRPr lang="en-US" sz="1000" dirty="0"/>
          </a:p>
        </p:txBody>
      </p:sp>
      <p:graphicFrame>
        <p:nvGraphicFramePr>
          <p:cNvPr id="3" name="Sheet grid"/>
          <p:cNvGraphicFramePr>
            <a:graphicFrameLocks noGrp="1"/>
          </p:cNvGraphicFramePr>
          <p:nvPr>
            <p:extLst>
              <p:ext uri="{D42A27DB-BD31-4B8C-83A1-F6EECF244321}">
                <p14:modId xmlns:p14="http://schemas.microsoft.com/office/powerpoint/2010/main" val="1579011935"/>
              </p:ext>
            </p:extLst>
          </p:nvPr>
        </p:nvGraphicFramePr>
        <p:xfrm>
          <a:off x="557784" y="2670048"/>
          <a:ext cx="6931152" cy="3200400"/>
        </p:xfrm>
        <a:graphic>
          <a:graphicData uri="http://schemas.openxmlformats.org/drawingml/2006/table">
            <a:tbl>
              <a:tblPr/>
              <a:tblGrid>
                <a:gridCol w="36576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676656">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676656">
                  <a:extLst>
                    <a:ext uri="{9D8B030D-6E8A-4147-A177-3AD203B41FA5}">
                      <a16:colId xmlns:a16="http://schemas.microsoft.com/office/drawing/2014/main" val="20005"/>
                    </a:ext>
                  </a:extLst>
                </a:gridCol>
                <a:gridCol w="896112">
                  <a:extLst>
                    <a:ext uri="{9D8B030D-6E8A-4147-A177-3AD203B41FA5}">
                      <a16:colId xmlns:a16="http://schemas.microsoft.com/office/drawing/2014/main" val="20006"/>
                    </a:ext>
                  </a:extLst>
                </a:gridCol>
                <a:gridCol w="987552">
                  <a:extLst>
                    <a:ext uri="{9D8B030D-6E8A-4147-A177-3AD203B41FA5}">
                      <a16:colId xmlns:a16="http://schemas.microsoft.com/office/drawing/2014/main" val="20007"/>
                    </a:ext>
                  </a:extLst>
                </a:gridCol>
                <a:gridCol w="987552">
                  <a:extLst>
                    <a:ext uri="{9D8B030D-6E8A-4147-A177-3AD203B41FA5}">
                      <a16:colId xmlns:a16="http://schemas.microsoft.com/office/drawing/2014/main" val="20008"/>
                    </a:ext>
                  </a:extLst>
                </a:gridCol>
              </a:tblGrid>
              <a:tr h="219456">
                <a:tc>
                  <a:txBody>
                    <a:bodyPr/>
                    <a:lstStyle/>
                    <a:p>
                      <a:pPr marL="0" indent="0" algn="ctr">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E7145"/>
                          </a:solidFill>
                        </a:rPr>
                        <a:t>A</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lgn="ctr">
                        <a:buNone/>
                      </a:pPr>
                      <a:r>
                        <a:rPr lang="en-US" sz="1000" dirty="0">
                          <a:solidFill>
                            <a:srgbClr val="444444"/>
                          </a:solidFill>
                        </a:rPr>
                        <a:t>B</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C</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D</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F</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G</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H</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20624">
                <a:tc>
                  <a:txBody>
                    <a:bodyPr/>
                    <a:lstStyle/>
                    <a:p>
                      <a:pPr marL="0" indent="0" algn="ctr">
                        <a:buNone/>
                      </a:pPr>
                      <a:r>
                        <a:rPr lang="en-US" sz="1000" dirty="0">
                          <a:solidFill>
                            <a:srgbClr val="444444"/>
                          </a:solidFill>
                        </a:rPr>
                        <a:t>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1C1C1C"/>
                          </a:solidFill>
                        </a:rPr>
                        <a:t>Match type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Match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Team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Alliance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Station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Scout name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Robot on field?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Starting position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444444"/>
                          </a:solidFill>
                        </a:rPr>
                        <a:t>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8719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Ava</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Yes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Right</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lgn="ctr">
                        <a:buNone/>
                      </a:pPr>
                      <a:r>
                        <a:rPr lang="en-US" sz="1000" dirty="0">
                          <a:solidFill>
                            <a:srgbClr val="444444"/>
                          </a:solidFill>
                        </a:rPr>
                        <a:t>3</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8020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Ben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Yes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Right</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000" dirty="0">
                          <a:solidFill>
                            <a:srgbClr val="444444"/>
                          </a:solidFill>
                        </a:rPr>
                        <a:t>4</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2039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3</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Chloe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Yes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Right</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lgn="ctr">
                        <a:buNone/>
                      </a:pPr>
                      <a:r>
                        <a:rPr lang="en-US" sz="1000" b="1" dirty="0">
                          <a:solidFill>
                            <a:srgbClr val="1E7145"/>
                          </a:solidFill>
                        </a:rPr>
                        <a:t>5</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444444"/>
                          </a:solidFill>
                        </a:rPr>
                        <a:t>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lgn="ctr">
                        <a:buNone/>
                      </a:pPr>
                      <a:r>
                        <a:rPr lang="en-US" sz="1000" dirty="0">
                          <a:solidFill>
                            <a:srgbClr val="444444"/>
                          </a:solidFill>
                        </a:rPr>
                        <a:t>7</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000" dirty="0">
                          <a:solidFill>
                            <a:srgbClr val="444444"/>
                          </a:solidFill>
                        </a:rPr>
                        <a:t>8</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lgn="ctr">
                        <a:buNone/>
                      </a:pPr>
                      <a:r>
                        <a:rPr lang="en-US" sz="1000" dirty="0">
                          <a:solidFill>
                            <a:srgbClr val="444444"/>
                          </a:solidFill>
                        </a:rPr>
                        <a:t>9</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000" dirty="0">
                          <a:solidFill>
                            <a:srgbClr val="444444"/>
                          </a:solidFill>
                        </a:rPr>
                        <a:t>10</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6032">
                <a:tc>
                  <a:txBody>
                    <a:bodyPr/>
                    <a:lstStyle/>
                    <a:p>
                      <a:pPr marL="0" indent="0" algn="ctr">
                        <a:buNone/>
                      </a:pPr>
                      <a:r>
                        <a:rPr lang="en-US" sz="1000" dirty="0">
                          <a:solidFill>
                            <a:srgbClr val="444444"/>
                          </a:solidFill>
                        </a:rPr>
                        <a:t>11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23" name="Selected cell"/>
          <p:cNvSpPr/>
          <p:nvPr/>
        </p:nvSpPr>
        <p:spPr>
          <a:xfrm>
            <a:off x="914400" y="4069080"/>
            <a:ext cx="914400" cy="274320"/>
          </a:xfrm>
          <a:prstGeom prst="rect">
            <a:avLst/>
          </a:prstGeom>
          <a:noFill/>
          <a:ln w="28575">
            <a:solidFill>
              <a:srgbClr val="1E7145"/>
            </a:solidFill>
            <a:prstDash val="solid"/>
          </a:ln>
        </p:spPr>
        <p:txBody>
          <a:bodyPr/>
          <a:lstStyle/>
          <a:p>
            <a:endParaRPr lang="en-US"/>
          </a:p>
        </p:txBody>
      </p:sp>
      <p:sp>
        <p:nvSpPr>
          <p:cNvPr id="24" name="Sheet tab bar"/>
          <p:cNvSpPr/>
          <p:nvPr/>
        </p:nvSpPr>
        <p:spPr>
          <a:xfrm>
            <a:off x="548640" y="5907024"/>
            <a:ext cx="7315200" cy="310896"/>
          </a:xfrm>
          <a:prstGeom prst="rect">
            <a:avLst/>
          </a:prstGeom>
          <a:solidFill>
            <a:srgbClr val="F3F3F3"/>
          </a:solidFill>
          <a:ln w="6350">
            <a:solidFill>
              <a:srgbClr val="E0E0E0"/>
            </a:solidFill>
            <a:prstDash val="solid"/>
          </a:ln>
        </p:spPr>
        <p:txBody>
          <a:bodyPr/>
          <a:lstStyle/>
          <a:p>
            <a:endParaRPr lang="en-US"/>
          </a:p>
        </p:txBody>
      </p:sp>
      <p:sp>
        <p:nvSpPr>
          <p:cNvPr id="25" name="Text 21"/>
          <p:cNvSpPr txBox="1"/>
          <p:nvPr/>
        </p:nvSpPr>
        <p:spPr>
          <a:xfrm>
            <a:off x="640080" y="5907024"/>
            <a:ext cx="457200" cy="310896"/>
          </a:xfrm>
          <a:prstGeom prst="rect">
            <a:avLst/>
          </a:prstGeom>
          <a:noFill/>
          <a:ln/>
        </p:spPr>
        <p:txBody>
          <a:bodyPr wrap="square" lIns="0" tIns="0" rIns="0" bIns="0" rtlCol="0" anchor="ctr"/>
          <a:lstStyle/>
          <a:p>
            <a:pPr marL="0" indent="0">
              <a:buNone/>
            </a:pPr>
            <a:r>
              <a:rPr lang="en-US" sz="900" dirty="0">
                <a:solidFill>
                  <a:srgbClr val="666666"/>
                </a:solidFill>
              </a:rPr>
              <a:t>◀  ▶</a:t>
            </a:r>
            <a:endParaRPr lang="en-US" sz="900" dirty="0"/>
          </a:p>
        </p:txBody>
      </p:sp>
      <p:sp>
        <p:nvSpPr>
          <p:cNvPr id="26" name="Text 22"/>
          <p:cNvSpPr txBox="1"/>
          <p:nvPr/>
        </p:nvSpPr>
        <p:spPr>
          <a:xfrm>
            <a:off x="1143000" y="590702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Instructions</a:t>
            </a:r>
            <a:endParaRPr lang="en-US" sz="1000" dirty="0"/>
          </a:p>
        </p:txBody>
      </p:sp>
      <p:sp>
        <p:nvSpPr>
          <p:cNvPr id="27" name="Active sheet tab"/>
          <p:cNvSpPr/>
          <p:nvPr/>
        </p:nvSpPr>
        <p:spPr>
          <a:xfrm>
            <a:off x="2203704" y="5907024"/>
            <a:ext cx="544068" cy="310896"/>
          </a:xfrm>
          <a:prstGeom prst="rect">
            <a:avLst/>
          </a:prstGeom>
          <a:solidFill>
            <a:srgbClr val="FFFFFF"/>
          </a:solidFill>
          <a:ln w="6350">
            <a:solidFill>
              <a:srgbClr val="D0D0D0"/>
            </a:solidFill>
            <a:prstDash val="solid"/>
          </a:ln>
        </p:spPr>
        <p:txBody>
          <a:bodyPr/>
          <a:lstStyle/>
          <a:p>
            <a:endParaRPr lang="en-US"/>
          </a:p>
        </p:txBody>
      </p:sp>
      <p:sp>
        <p:nvSpPr>
          <p:cNvPr id="28" name="Text 24"/>
          <p:cNvSpPr txBox="1"/>
          <p:nvPr/>
        </p:nvSpPr>
        <p:spPr>
          <a:xfrm>
            <a:off x="2203704" y="5907024"/>
            <a:ext cx="544068" cy="274320"/>
          </a:xfrm>
          <a:prstGeom prst="rect">
            <a:avLst/>
          </a:prstGeom>
          <a:noFill/>
          <a:ln/>
        </p:spPr>
        <p:txBody>
          <a:bodyPr wrap="square" lIns="0" tIns="0" rIns="0" bIns="0" rtlCol="0" anchor="ctr"/>
          <a:lstStyle/>
          <a:p>
            <a:pPr marL="0" indent="0" algn="ctr">
              <a:buNone/>
            </a:pPr>
            <a:r>
              <a:rPr lang="en-US" sz="1000" b="1" dirty="0">
                <a:solidFill>
                  <a:srgbClr val="1E7145"/>
                </a:solidFill>
              </a:rPr>
              <a:t>Scans</a:t>
            </a:r>
            <a:endParaRPr lang="en-US" sz="1000" dirty="0"/>
          </a:p>
        </p:txBody>
      </p:sp>
      <p:sp>
        <p:nvSpPr>
          <p:cNvPr id="29" name="Active tab marker"/>
          <p:cNvSpPr/>
          <p:nvPr/>
        </p:nvSpPr>
        <p:spPr>
          <a:xfrm>
            <a:off x="2295144" y="6181344"/>
            <a:ext cx="361188" cy="0"/>
          </a:xfrm>
          <a:prstGeom prst="line">
            <a:avLst/>
          </a:prstGeom>
          <a:noFill/>
          <a:ln w="25400">
            <a:solidFill>
              <a:srgbClr val="1E7145"/>
            </a:solidFill>
            <a:prstDash val="solid"/>
          </a:ln>
        </p:spPr>
        <p:txBody>
          <a:bodyPr/>
          <a:lstStyle/>
          <a:p>
            <a:endParaRPr lang="en-US"/>
          </a:p>
        </p:txBody>
      </p:sp>
      <p:sp>
        <p:nvSpPr>
          <p:cNvPr id="30" name="Text 26"/>
          <p:cNvSpPr txBox="1"/>
          <p:nvPr/>
        </p:nvSpPr>
        <p:spPr>
          <a:xfrm>
            <a:off x="2784348" y="590702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Team Summary</a:t>
            </a:r>
            <a:endParaRPr lang="en-US" sz="1000" dirty="0"/>
          </a:p>
        </p:txBody>
      </p:sp>
      <p:sp>
        <p:nvSpPr>
          <p:cNvPr id="31" name="Text 27"/>
          <p:cNvSpPr txBox="1"/>
          <p:nvPr/>
        </p:nvSpPr>
        <p:spPr>
          <a:xfrm>
            <a:off x="3845052" y="5907024"/>
            <a:ext cx="955548" cy="310896"/>
          </a:xfrm>
          <a:prstGeom prst="rect">
            <a:avLst/>
          </a:prstGeom>
          <a:noFill/>
          <a:ln/>
        </p:spPr>
        <p:txBody>
          <a:bodyPr wrap="square" lIns="0" tIns="0" rIns="0" bIns="0" rtlCol="0" anchor="ctr"/>
          <a:lstStyle/>
          <a:p>
            <a:pPr marL="0" indent="0" algn="ctr">
              <a:buNone/>
            </a:pPr>
            <a:r>
              <a:rPr lang="en-US" sz="1000" dirty="0">
                <a:solidFill>
                  <a:srgbClr val="444444"/>
                </a:solidFill>
              </a:rPr>
              <a:t>Team Lookup</a:t>
            </a:r>
            <a:endParaRPr lang="en-US" sz="1000" dirty="0"/>
          </a:p>
        </p:txBody>
      </p:sp>
      <p:sp>
        <p:nvSpPr>
          <p:cNvPr id="32" name="Text 28"/>
          <p:cNvSpPr txBox="1"/>
          <p:nvPr/>
        </p:nvSpPr>
        <p:spPr>
          <a:xfrm>
            <a:off x="4855464" y="5907024"/>
            <a:ext cx="274320" cy="310896"/>
          </a:xfrm>
          <a:prstGeom prst="rect">
            <a:avLst/>
          </a:prstGeom>
          <a:noFill/>
          <a:ln/>
        </p:spPr>
        <p:txBody>
          <a:bodyPr wrap="square" lIns="0" tIns="0" rIns="0" bIns="0" rtlCol="0" anchor="ctr"/>
          <a:lstStyle/>
          <a:p>
            <a:pPr marL="0" indent="0">
              <a:buNone/>
            </a:pPr>
            <a:r>
              <a:rPr lang="en-US" sz="1200" dirty="0">
                <a:solidFill>
                  <a:srgbClr val="666666"/>
                </a:solidFill>
              </a:rPr>
              <a:t>⊕</a:t>
            </a:r>
            <a:endParaRPr lang="en-US" sz="1200" dirty="0"/>
          </a:p>
        </p:txBody>
      </p:sp>
      <p:sp>
        <p:nvSpPr>
          <p:cNvPr id="33" name="Marker 1"/>
          <p:cNvSpPr txBox="1"/>
          <p:nvPr/>
        </p:nvSpPr>
        <p:spPr>
          <a:xfrm>
            <a:off x="6483096" y="162763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34" name="Marker 2"/>
          <p:cNvSpPr txBox="1"/>
          <p:nvPr/>
        </p:nvSpPr>
        <p:spPr>
          <a:xfrm>
            <a:off x="1234440" y="232257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35" name="Marker 3"/>
          <p:cNvSpPr txBox="1"/>
          <p:nvPr/>
        </p:nvSpPr>
        <p:spPr>
          <a:xfrm>
            <a:off x="3383280" y="258775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36" name="Marker 4"/>
          <p:cNvSpPr txBox="1"/>
          <p:nvPr/>
        </p:nvSpPr>
        <p:spPr>
          <a:xfrm>
            <a:off x="950976" y="452628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37" name="Marker 5"/>
          <p:cNvSpPr txBox="1"/>
          <p:nvPr/>
        </p:nvSpPr>
        <p:spPr>
          <a:xfrm>
            <a:off x="1828800" y="401421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38" name="Marker 6"/>
          <p:cNvSpPr txBox="1"/>
          <p:nvPr/>
        </p:nvSpPr>
        <p:spPr>
          <a:xfrm>
            <a:off x="3104388" y="557784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6</a:t>
            </a:r>
            <a:endParaRPr lang="en-US" sz="1500" dirty="0"/>
          </a:p>
        </p:txBody>
      </p:sp>
      <p:sp>
        <p:nvSpPr>
          <p:cNvPr id="39" name="Marker 1"/>
          <p:cNvSpPr txBox="1"/>
          <p:nvPr/>
        </p:nvSpPr>
        <p:spPr>
          <a:xfrm>
            <a:off x="8229600" y="131673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40" name="Text 36"/>
          <p:cNvSpPr txBox="1"/>
          <p:nvPr/>
        </p:nvSpPr>
        <p:spPr>
          <a:xfrm>
            <a:off x="8759952" y="1344168"/>
            <a:ext cx="2880360" cy="73152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Ribbon</a:t>
            </a:r>
            <a:endParaRPr lang="en-US" sz="1400" dirty="0"/>
          </a:p>
          <a:p>
            <a:pPr marL="0" indent="0">
              <a:spcAft>
                <a:spcPts val="200"/>
              </a:spcAft>
              <a:buNone/>
            </a:pPr>
            <a:r>
              <a:rPr lang="en-US" sz="1300" dirty="0">
                <a:solidFill>
                  <a:schemeClr val="tx2"/>
                </a:solidFill>
              </a:rPr>
              <a:t>The menus. You only need File, for the setup.</a:t>
            </a:r>
            <a:endParaRPr lang="en-US" sz="1400" dirty="0"/>
          </a:p>
        </p:txBody>
      </p:sp>
      <p:sp>
        <p:nvSpPr>
          <p:cNvPr id="41" name="Marker 2"/>
          <p:cNvSpPr txBox="1"/>
          <p:nvPr/>
        </p:nvSpPr>
        <p:spPr>
          <a:xfrm>
            <a:off x="8229600" y="212140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42" name="Text 38"/>
          <p:cNvSpPr txBox="1"/>
          <p:nvPr/>
        </p:nvSpPr>
        <p:spPr>
          <a:xfrm>
            <a:off x="8759952" y="2148840"/>
            <a:ext cx="2880360" cy="73152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Name Box</a:t>
            </a:r>
            <a:endParaRPr lang="en-US" sz="1400" dirty="0"/>
          </a:p>
          <a:p>
            <a:pPr marL="0" indent="0">
              <a:spcAft>
                <a:spcPts val="200"/>
              </a:spcAft>
              <a:buNone/>
            </a:pPr>
            <a:r>
              <a:rPr lang="en-US" sz="1300" dirty="0">
                <a:solidFill>
                  <a:schemeClr val="tx2"/>
                </a:solidFill>
              </a:rPr>
              <a:t>Shows which cell is selected, here A5.</a:t>
            </a:r>
            <a:endParaRPr lang="en-US" sz="1400" dirty="0"/>
          </a:p>
        </p:txBody>
      </p:sp>
      <p:sp>
        <p:nvSpPr>
          <p:cNvPr id="43" name="Marker 3"/>
          <p:cNvSpPr txBox="1"/>
          <p:nvPr/>
        </p:nvSpPr>
        <p:spPr>
          <a:xfrm>
            <a:off x="8229600" y="292608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44" name="Text 40"/>
          <p:cNvSpPr txBox="1"/>
          <p:nvPr/>
        </p:nvSpPr>
        <p:spPr>
          <a:xfrm>
            <a:off x="8759952" y="2953512"/>
            <a:ext cx="2880360" cy="73152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Column letters</a:t>
            </a:r>
            <a:endParaRPr lang="en-US" sz="1400" dirty="0"/>
          </a:p>
          <a:p>
            <a:pPr marL="0" indent="0">
              <a:spcAft>
                <a:spcPts val="200"/>
              </a:spcAft>
              <a:buNone/>
            </a:pPr>
            <a:r>
              <a:rPr lang="en-US" sz="1300" dirty="0">
                <a:solidFill>
                  <a:schemeClr val="tx2"/>
                </a:solidFill>
              </a:rPr>
              <a:t>A, B, C… across the top. Each answer has its own column.</a:t>
            </a:r>
            <a:endParaRPr lang="en-US" sz="1400" dirty="0"/>
          </a:p>
        </p:txBody>
      </p:sp>
      <p:sp>
        <p:nvSpPr>
          <p:cNvPr id="45" name="Marker 4"/>
          <p:cNvSpPr txBox="1"/>
          <p:nvPr/>
        </p:nvSpPr>
        <p:spPr>
          <a:xfrm>
            <a:off x="8229600" y="373075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46" name="Text 42"/>
          <p:cNvSpPr txBox="1"/>
          <p:nvPr/>
        </p:nvSpPr>
        <p:spPr>
          <a:xfrm>
            <a:off x="8759952" y="3758184"/>
            <a:ext cx="2880360" cy="73152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Row numbers</a:t>
            </a:r>
            <a:endParaRPr lang="en-US" sz="1400" dirty="0"/>
          </a:p>
          <a:p>
            <a:pPr marL="0" indent="0">
              <a:spcAft>
                <a:spcPts val="200"/>
              </a:spcAft>
              <a:buNone/>
            </a:pPr>
            <a:r>
              <a:rPr lang="en-US" sz="1300" dirty="0">
                <a:solidFill>
                  <a:schemeClr val="tx2"/>
                </a:solidFill>
              </a:rPr>
              <a:t>1, 2, 3… down the side. Each scan becomes one row.</a:t>
            </a:r>
            <a:endParaRPr lang="en-US" sz="1400" dirty="0"/>
          </a:p>
        </p:txBody>
      </p:sp>
      <p:sp>
        <p:nvSpPr>
          <p:cNvPr id="47" name="Marker 5"/>
          <p:cNvSpPr txBox="1"/>
          <p:nvPr/>
        </p:nvSpPr>
        <p:spPr>
          <a:xfrm>
            <a:off x="8229600" y="453542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48" name="Text 44"/>
          <p:cNvSpPr txBox="1"/>
          <p:nvPr/>
        </p:nvSpPr>
        <p:spPr>
          <a:xfrm>
            <a:off x="8759952" y="4562856"/>
            <a:ext cx="2880360" cy="73152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Cell</a:t>
            </a:r>
            <a:endParaRPr lang="en-US" sz="1400" dirty="0"/>
          </a:p>
          <a:p>
            <a:pPr marL="0" indent="0">
              <a:spcAft>
                <a:spcPts val="200"/>
              </a:spcAft>
              <a:buNone/>
            </a:pPr>
            <a:r>
              <a:rPr lang="en-US" sz="1300" dirty="0">
                <a:solidFill>
                  <a:schemeClr val="tx2"/>
                </a:solidFill>
              </a:rPr>
              <a:t>One box. A5 = column A, row 5. The green border shows where the cursor is.</a:t>
            </a:r>
            <a:endParaRPr lang="en-US" sz="1400" dirty="0"/>
          </a:p>
        </p:txBody>
      </p:sp>
      <p:sp>
        <p:nvSpPr>
          <p:cNvPr id="49" name="Marker 6"/>
          <p:cNvSpPr txBox="1"/>
          <p:nvPr/>
        </p:nvSpPr>
        <p:spPr>
          <a:xfrm>
            <a:off x="8229600" y="53400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6</a:t>
            </a:r>
            <a:endParaRPr lang="en-US" sz="1500" dirty="0"/>
          </a:p>
        </p:txBody>
      </p:sp>
      <p:sp>
        <p:nvSpPr>
          <p:cNvPr id="50" name="Text 46"/>
          <p:cNvSpPr txBox="1"/>
          <p:nvPr/>
        </p:nvSpPr>
        <p:spPr>
          <a:xfrm>
            <a:off x="8759952" y="5367528"/>
            <a:ext cx="2880360" cy="73152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Sheet tabs</a:t>
            </a:r>
            <a:endParaRPr lang="en-US" sz="1400" dirty="0"/>
          </a:p>
          <a:p>
            <a:pPr marL="0" indent="0">
              <a:spcAft>
                <a:spcPts val="200"/>
              </a:spcAft>
              <a:buNone/>
            </a:pPr>
            <a:r>
              <a:rPr lang="en-US" sz="1300" dirty="0">
                <a:solidFill>
                  <a:schemeClr val="tx2"/>
                </a:solidFill>
              </a:rPr>
              <a:t>Switch pages here: Instructions, Scans, Team Summary, Team Lookup.</a:t>
            </a:r>
            <a:endParaRPr lang="en-US" sz="1400" dirty="0"/>
          </a:p>
        </p:txBody>
      </p:sp>
      <p:sp>
        <p:nvSpPr>
          <p:cNvPr id="2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Set up Excel once, before the event</a:t>
            </a:r>
            <a:endParaRPr lang="en-US" sz="3600" dirty="0"/>
          </a:p>
        </p:txBody>
      </p:sp>
      <p:sp>
        <p:nvSpPr>
          <p:cNvPr id="4" name="Excel window"/>
          <p:cNvSpPr/>
          <p:nvPr/>
        </p:nvSpPr>
        <p:spPr>
          <a:xfrm>
            <a:off x="548640" y="1371600"/>
            <a:ext cx="5120640" cy="214884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5" name="Excel title bar"/>
          <p:cNvSpPr/>
          <p:nvPr/>
        </p:nvSpPr>
        <p:spPr>
          <a:xfrm>
            <a:off x="548640" y="1371600"/>
            <a:ext cx="5120640" cy="310896"/>
          </a:xfrm>
          <a:prstGeom prst="rect">
            <a:avLst/>
          </a:prstGeom>
          <a:solidFill>
            <a:srgbClr val="1E7145"/>
          </a:solidFill>
          <a:ln w="12700">
            <a:solidFill>
              <a:srgbClr val="1E7145"/>
            </a:solidFill>
            <a:prstDash val="solid"/>
          </a:ln>
        </p:spPr>
        <p:txBody>
          <a:bodyPr/>
          <a:lstStyle/>
          <a:p>
            <a:endParaRPr lang="en-US"/>
          </a:p>
        </p:txBody>
      </p:sp>
      <p:sp>
        <p:nvSpPr>
          <p:cNvPr id="6" name="Text 3"/>
          <p:cNvSpPr txBox="1"/>
          <p:nvPr/>
        </p:nvSpPr>
        <p:spPr>
          <a:xfrm>
            <a:off x="685800" y="1371600"/>
            <a:ext cx="3931920" cy="310896"/>
          </a:xfrm>
          <a:prstGeom prst="rect">
            <a:avLst/>
          </a:prstGeom>
          <a:noFill/>
          <a:ln/>
        </p:spPr>
        <p:txBody>
          <a:bodyPr wrap="square" lIns="0" tIns="0" rIns="0" bIns="0" rtlCol="0" anchor="ctr"/>
          <a:lstStyle/>
          <a:p>
            <a:pPr marL="0" indent="0" algn="l">
              <a:buNone/>
            </a:pPr>
            <a:r>
              <a:rPr lang="en-US" sz="1100" dirty="0">
                <a:solidFill>
                  <a:srgbClr val="FFFFFF"/>
                </a:solidFill>
              </a:rPr>
              <a:t>DERT_Scouting_REBUILT.xlsx  -  Excel</a:t>
            </a:r>
            <a:endParaRPr lang="en-US" sz="1100" dirty="0"/>
          </a:p>
        </p:txBody>
      </p:sp>
      <p:sp>
        <p:nvSpPr>
          <p:cNvPr id="7" name="Text 4"/>
          <p:cNvSpPr txBox="1"/>
          <p:nvPr/>
        </p:nvSpPr>
        <p:spPr>
          <a:xfrm>
            <a:off x="4709160" y="1371600"/>
            <a:ext cx="868680" cy="310896"/>
          </a:xfrm>
          <a:prstGeom prst="rect">
            <a:avLst/>
          </a:prstGeom>
          <a:noFill/>
          <a:ln/>
        </p:spPr>
        <p:txBody>
          <a:bodyPr wrap="square" lIns="0" tIns="0" rIns="0" bIns="0" rtlCol="0" anchor="ctr"/>
          <a:lstStyle/>
          <a:p>
            <a:pPr marL="0" indent="0" algn="r">
              <a:buNone/>
            </a:pPr>
            <a:r>
              <a:rPr lang="en-US" sz="1000" dirty="0">
                <a:solidFill>
                  <a:srgbClr val="FFFFFF"/>
                </a:solidFill>
              </a:rPr>
              <a:t>—   ☐   ✕</a:t>
            </a:r>
            <a:endParaRPr lang="en-US" sz="1000" dirty="0"/>
          </a:p>
        </p:txBody>
      </p:sp>
      <p:sp>
        <p:nvSpPr>
          <p:cNvPr id="8" name="Protected View bar"/>
          <p:cNvSpPr/>
          <p:nvPr/>
        </p:nvSpPr>
        <p:spPr>
          <a:xfrm>
            <a:off x="548640" y="1682496"/>
            <a:ext cx="5120640" cy="566928"/>
          </a:xfrm>
          <a:prstGeom prst="rect">
            <a:avLst/>
          </a:prstGeom>
          <a:solidFill>
            <a:srgbClr val="FFF4CE"/>
          </a:solidFill>
          <a:ln w="9525">
            <a:solidFill>
              <a:srgbClr val="E5D9A8"/>
            </a:solidFill>
            <a:prstDash val="solid"/>
          </a:ln>
        </p:spPr>
        <p:txBody>
          <a:bodyPr/>
          <a:lstStyle/>
          <a:p>
            <a:endParaRPr lang="en-US"/>
          </a:p>
        </p:txBody>
      </p:sp>
      <p:sp>
        <p:nvSpPr>
          <p:cNvPr id="9" name="Text 6"/>
          <p:cNvSpPr txBox="1"/>
          <p:nvPr/>
        </p:nvSpPr>
        <p:spPr>
          <a:xfrm>
            <a:off x="658368" y="1728216"/>
            <a:ext cx="3154680" cy="475488"/>
          </a:xfrm>
          <a:prstGeom prst="rect">
            <a:avLst/>
          </a:prstGeom>
          <a:noFill/>
          <a:ln/>
        </p:spPr>
        <p:txBody>
          <a:bodyPr wrap="square" lIns="0" tIns="0" rIns="0" bIns="0" rtlCol="0" anchor="ctr"/>
          <a:lstStyle/>
          <a:p>
            <a:pPr marL="0" indent="0">
              <a:buNone/>
            </a:pPr>
            <a:r>
              <a:rPr lang="en-US" sz="1000" b="1" dirty="0">
                <a:solidFill>
                  <a:srgbClr val="1C1C1C"/>
                </a:solidFill>
              </a:rPr>
              <a:t>PROTECTED VIEW  </a:t>
            </a:r>
            <a:r>
              <a:rPr lang="en-US" sz="1000" dirty="0">
                <a:solidFill>
                  <a:srgbClr val="1C1C1C"/>
                </a:solidFill>
              </a:rPr>
              <a:t>Be careful—files from the Internet can contain viruses.</a:t>
            </a:r>
            <a:endParaRPr lang="en-US" sz="1000" dirty="0"/>
          </a:p>
        </p:txBody>
      </p:sp>
      <p:sp>
        <p:nvSpPr>
          <p:cNvPr id="10" name="Enable Editing button"/>
          <p:cNvSpPr txBox="1"/>
          <p:nvPr/>
        </p:nvSpPr>
        <p:spPr>
          <a:xfrm>
            <a:off x="4370832" y="1819656"/>
            <a:ext cx="1188720" cy="292608"/>
          </a:xfrm>
          <a:prstGeom prst="rect">
            <a:avLst/>
          </a:prstGeom>
          <a:solidFill>
            <a:srgbClr val="FFFFFF"/>
          </a:solidFill>
          <a:ln w="9525">
            <a:solidFill>
              <a:srgbClr val="8A8A8A"/>
            </a:solidFill>
          </a:ln>
        </p:spPr>
        <p:txBody>
          <a:bodyPr wrap="square" lIns="0" tIns="0" rIns="0" bIns="0" rtlCol="0" anchor="ctr"/>
          <a:lstStyle/>
          <a:p>
            <a:pPr marL="0" indent="0" algn="ctr">
              <a:buNone/>
            </a:pPr>
            <a:r>
              <a:rPr lang="en-US" sz="1000" dirty="0">
                <a:solidFill>
                  <a:srgbClr val="1C1C1C"/>
                </a:solidFill>
              </a:rPr>
              <a:t>Enable Editing</a:t>
            </a:r>
            <a:endParaRPr lang="en-US" sz="1000" dirty="0"/>
          </a:p>
        </p:txBody>
      </p:sp>
      <p:sp>
        <p:nvSpPr>
          <p:cNvPr id="11" name="Formula bar"/>
          <p:cNvSpPr/>
          <p:nvPr/>
        </p:nvSpPr>
        <p:spPr>
          <a:xfrm>
            <a:off x="548640" y="2249424"/>
            <a:ext cx="5120640" cy="310896"/>
          </a:xfrm>
          <a:prstGeom prst="rect">
            <a:avLst/>
          </a:prstGeom>
          <a:solidFill>
            <a:srgbClr val="FFFFFF"/>
          </a:solidFill>
          <a:ln w="6350">
            <a:solidFill>
              <a:srgbClr val="E6E6E6"/>
            </a:solidFill>
            <a:prstDash val="solid"/>
          </a:ln>
        </p:spPr>
        <p:txBody>
          <a:bodyPr/>
          <a:lstStyle/>
          <a:p>
            <a:endParaRPr lang="en-US"/>
          </a:p>
        </p:txBody>
      </p:sp>
      <p:sp>
        <p:nvSpPr>
          <p:cNvPr id="12" name="Name Box"/>
          <p:cNvSpPr txBox="1"/>
          <p:nvPr/>
        </p:nvSpPr>
        <p:spPr>
          <a:xfrm>
            <a:off x="621792" y="2295144"/>
            <a:ext cx="731520" cy="219456"/>
          </a:xfrm>
          <a:prstGeom prst="rect">
            <a:avLst/>
          </a:prstGeom>
          <a:solidFill>
            <a:srgbClr val="FFFFFF"/>
          </a:solidFill>
          <a:ln w="9525">
            <a:solidFill>
              <a:srgbClr val="A6A6A6"/>
            </a:solidFill>
          </a:ln>
        </p:spPr>
        <p:txBody>
          <a:bodyPr wrap="square" lIns="0" tIns="635" rIns="635" bIns="0" rtlCol="0" anchor="ctr"/>
          <a:lstStyle/>
          <a:p>
            <a:pPr marL="0" indent="0">
              <a:buNone/>
            </a:pPr>
            <a:r>
              <a:rPr lang="en-US" sz="1000" dirty="0">
                <a:solidFill>
                  <a:srgbClr val="1C1C1C"/>
                </a:solidFill>
              </a:rPr>
              <a:t>A1</a:t>
            </a:r>
            <a:endParaRPr lang="en-US" sz="1000" dirty="0"/>
          </a:p>
        </p:txBody>
      </p:sp>
      <p:sp>
        <p:nvSpPr>
          <p:cNvPr id="13" name="Text 10"/>
          <p:cNvSpPr txBox="1"/>
          <p:nvPr/>
        </p:nvSpPr>
        <p:spPr>
          <a:xfrm>
            <a:off x="1463040" y="2249424"/>
            <a:ext cx="274320" cy="310896"/>
          </a:xfrm>
          <a:prstGeom prst="rect">
            <a:avLst/>
          </a:prstGeom>
          <a:noFill/>
          <a:ln/>
        </p:spPr>
        <p:txBody>
          <a:bodyPr wrap="square" lIns="0" tIns="0" rIns="0" bIns="0" rtlCol="0" anchor="ctr"/>
          <a:lstStyle/>
          <a:p>
            <a:pPr marL="0" indent="0">
              <a:buNone/>
            </a:pPr>
            <a:r>
              <a:rPr lang="en-US" sz="1000" i="1" dirty="0">
                <a:solidFill>
                  <a:srgbClr val="666666"/>
                </a:solidFill>
              </a:rPr>
              <a:t>fx</a:t>
            </a:r>
            <a:endParaRPr lang="en-US" sz="1000" dirty="0"/>
          </a:p>
        </p:txBody>
      </p:sp>
      <p:graphicFrame>
        <p:nvGraphicFramePr>
          <p:cNvPr id="15" name="Sheet grid"/>
          <p:cNvGraphicFramePr>
            <a:graphicFrameLocks noGrp="1"/>
          </p:cNvGraphicFramePr>
          <p:nvPr>
            <p:extLst>
              <p:ext uri="{D42A27DB-BD31-4B8C-83A1-F6EECF244321}">
                <p14:modId xmlns:p14="http://schemas.microsoft.com/office/powerpoint/2010/main" val="1579011935"/>
              </p:ext>
            </p:extLst>
          </p:nvPr>
        </p:nvGraphicFramePr>
        <p:xfrm>
          <a:off x="557784" y="2560320"/>
          <a:ext cx="5074920" cy="914400"/>
        </p:xfrm>
        <a:graphic>
          <a:graphicData uri="http://schemas.openxmlformats.org/drawingml/2006/table">
            <a:tbl>
              <a:tblPr/>
              <a:tblGrid>
                <a:gridCol w="3657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tblGrid>
              <a:tr h="219456">
                <a:tc>
                  <a:txBody>
                    <a:bodyPr/>
                    <a:lstStyle/>
                    <a:p>
                      <a:pPr marL="0" indent="0" algn="ctr">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A</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B</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C</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D</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F</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56032">
                <a:tc>
                  <a:txBody>
                    <a:bodyPr/>
                    <a:lstStyle/>
                    <a:p>
                      <a:pPr marL="0" indent="0" algn="ctr">
                        <a:buNone/>
                      </a:pPr>
                      <a:r>
                        <a:rPr lang="en-US" sz="1000" dirty="0">
                          <a:solidFill>
                            <a:srgbClr val="444444"/>
                          </a:solidFill>
                        </a:rPr>
                        <a:t>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 name="Sheet tab bar"/>
          <p:cNvSpPr/>
          <p:nvPr/>
        </p:nvSpPr>
        <p:spPr>
          <a:xfrm>
            <a:off x="548640" y="3209544"/>
            <a:ext cx="5120640" cy="310896"/>
          </a:xfrm>
          <a:prstGeom prst="rect">
            <a:avLst/>
          </a:prstGeom>
          <a:solidFill>
            <a:srgbClr val="F3F3F3"/>
          </a:solidFill>
          <a:ln w="6350">
            <a:solidFill>
              <a:srgbClr val="E0E0E0"/>
            </a:solidFill>
            <a:prstDash val="solid"/>
          </a:ln>
        </p:spPr>
        <p:txBody>
          <a:bodyPr/>
          <a:lstStyle/>
          <a:p>
            <a:endParaRPr lang="en-US"/>
          </a:p>
        </p:txBody>
      </p:sp>
      <p:sp>
        <p:nvSpPr>
          <p:cNvPr id="16" name="Text 12"/>
          <p:cNvSpPr txBox="1"/>
          <p:nvPr/>
        </p:nvSpPr>
        <p:spPr>
          <a:xfrm>
            <a:off x="640080" y="3209544"/>
            <a:ext cx="457200" cy="310896"/>
          </a:xfrm>
          <a:prstGeom prst="rect">
            <a:avLst/>
          </a:prstGeom>
          <a:noFill/>
          <a:ln/>
        </p:spPr>
        <p:txBody>
          <a:bodyPr wrap="square" lIns="0" tIns="0" rIns="0" bIns="0" rtlCol="0" anchor="ctr"/>
          <a:lstStyle/>
          <a:p>
            <a:pPr marL="0" indent="0">
              <a:buNone/>
            </a:pPr>
            <a:r>
              <a:rPr lang="en-US" sz="900" dirty="0">
                <a:solidFill>
                  <a:srgbClr val="666666"/>
                </a:solidFill>
              </a:rPr>
              <a:t>◀  ▶</a:t>
            </a:r>
            <a:endParaRPr lang="en-US" sz="900" dirty="0"/>
          </a:p>
        </p:txBody>
      </p:sp>
      <p:sp>
        <p:nvSpPr>
          <p:cNvPr id="17" name="Active sheet tab"/>
          <p:cNvSpPr/>
          <p:nvPr/>
        </p:nvSpPr>
        <p:spPr>
          <a:xfrm>
            <a:off x="1143000" y="3209544"/>
            <a:ext cx="1024128" cy="310896"/>
          </a:xfrm>
          <a:prstGeom prst="rect">
            <a:avLst/>
          </a:prstGeom>
          <a:solidFill>
            <a:srgbClr val="FFFFFF"/>
          </a:solidFill>
          <a:ln w="6350">
            <a:solidFill>
              <a:srgbClr val="D0D0D0"/>
            </a:solidFill>
            <a:prstDash val="solid"/>
          </a:ln>
        </p:spPr>
        <p:txBody>
          <a:bodyPr/>
          <a:lstStyle/>
          <a:p>
            <a:endParaRPr lang="en-US"/>
          </a:p>
        </p:txBody>
      </p:sp>
      <p:sp>
        <p:nvSpPr>
          <p:cNvPr id="18" name="Text 14"/>
          <p:cNvSpPr txBox="1"/>
          <p:nvPr/>
        </p:nvSpPr>
        <p:spPr>
          <a:xfrm>
            <a:off x="1143000" y="3209544"/>
            <a:ext cx="1024128" cy="274320"/>
          </a:xfrm>
          <a:prstGeom prst="rect">
            <a:avLst/>
          </a:prstGeom>
          <a:noFill/>
          <a:ln/>
        </p:spPr>
        <p:txBody>
          <a:bodyPr wrap="square" lIns="0" tIns="0" rIns="0" bIns="0" rtlCol="0" anchor="ctr"/>
          <a:lstStyle/>
          <a:p>
            <a:pPr marL="0" indent="0" algn="ctr">
              <a:buNone/>
            </a:pPr>
            <a:r>
              <a:rPr lang="en-US" sz="1000" b="1" dirty="0">
                <a:solidFill>
                  <a:srgbClr val="1E7145"/>
                </a:solidFill>
              </a:rPr>
              <a:t>Instructions</a:t>
            </a:r>
            <a:endParaRPr lang="en-US" sz="1000" dirty="0"/>
          </a:p>
        </p:txBody>
      </p:sp>
      <p:sp>
        <p:nvSpPr>
          <p:cNvPr id="19" name="Active tab marker"/>
          <p:cNvSpPr/>
          <p:nvPr/>
        </p:nvSpPr>
        <p:spPr>
          <a:xfrm>
            <a:off x="1234440" y="3483864"/>
            <a:ext cx="841248" cy="0"/>
          </a:xfrm>
          <a:prstGeom prst="line">
            <a:avLst/>
          </a:prstGeom>
          <a:noFill/>
          <a:ln w="25400">
            <a:solidFill>
              <a:srgbClr val="1E7145"/>
            </a:solidFill>
            <a:prstDash val="solid"/>
          </a:ln>
        </p:spPr>
        <p:txBody>
          <a:bodyPr/>
          <a:lstStyle/>
          <a:p>
            <a:endParaRPr lang="en-US"/>
          </a:p>
        </p:txBody>
      </p:sp>
      <p:sp>
        <p:nvSpPr>
          <p:cNvPr id="20" name="Text 16"/>
          <p:cNvSpPr txBox="1"/>
          <p:nvPr/>
        </p:nvSpPr>
        <p:spPr>
          <a:xfrm>
            <a:off x="2203704" y="3209544"/>
            <a:ext cx="544068" cy="310896"/>
          </a:xfrm>
          <a:prstGeom prst="rect">
            <a:avLst/>
          </a:prstGeom>
          <a:noFill/>
          <a:ln/>
        </p:spPr>
        <p:txBody>
          <a:bodyPr wrap="square" lIns="0" tIns="0" rIns="0" bIns="0" rtlCol="0" anchor="ctr"/>
          <a:lstStyle/>
          <a:p>
            <a:pPr marL="0" indent="0" algn="ctr">
              <a:buNone/>
            </a:pPr>
            <a:r>
              <a:rPr lang="en-US" sz="1000" dirty="0">
                <a:solidFill>
                  <a:srgbClr val="444444"/>
                </a:solidFill>
              </a:rPr>
              <a:t>Scans</a:t>
            </a:r>
            <a:endParaRPr lang="en-US" sz="1000" dirty="0"/>
          </a:p>
        </p:txBody>
      </p:sp>
      <p:sp>
        <p:nvSpPr>
          <p:cNvPr id="21" name="Text 17"/>
          <p:cNvSpPr txBox="1"/>
          <p:nvPr/>
        </p:nvSpPr>
        <p:spPr>
          <a:xfrm>
            <a:off x="2784348" y="320954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Team Summary</a:t>
            </a:r>
            <a:endParaRPr lang="en-US" sz="1000" dirty="0"/>
          </a:p>
        </p:txBody>
      </p:sp>
      <p:sp>
        <p:nvSpPr>
          <p:cNvPr id="22" name="Text 18"/>
          <p:cNvSpPr txBox="1"/>
          <p:nvPr/>
        </p:nvSpPr>
        <p:spPr>
          <a:xfrm>
            <a:off x="3863340" y="3209544"/>
            <a:ext cx="274320" cy="310896"/>
          </a:xfrm>
          <a:prstGeom prst="rect">
            <a:avLst/>
          </a:prstGeom>
          <a:noFill/>
          <a:ln/>
        </p:spPr>
        <p:txBody>
          <a:bodyPr wrap="square" lIns="0" tIns="0" rIns="0" bIns="0" rtlCol="0" anchor="ctr"/>
          <a:lstStyle/>
          <a:p>
            <a:pPr marL="0" indent="0">
              <a:buNone/>
            </a:pPr>
            <a:r>
              <a:rPr lang="en-US" sz="1200" dirty="0">
                <a:solidFill>
                  <a:srgbClr val="666666"/>
                </a:solidFill>
              </a:rPr>
              <a:t>⊕</a:t>
            </a:r>
            <a:endParaRPr lang="en-US" sz="1200" dirty="0"/>
          </a:p>
        </p:txBody>
      </p:sp>
      <p:sp>
        <p:nvSpPr>
          <p:cNvPr id="23" name="Enable Editing highlight"/>
          <p:cNvSpPr/>
          <p:nvPr/>
        </p:nvSpPr>
        <p:spPr>
          <a:xfrm>
            <a:off x="4325112" y="1773936"/>
            <a:ext cx="1280160" cy="384048"/>
          </a:xfrm>
          <a:prstGeom prst="roundRect">
            <a:avLst>
              <a:gd name="adj" fmla="val 14286"/>
            </a:avLst>
          </a:prstGeom>
          <a:noFill/>
          <a:ln w="31750">
            <a:solidFill>
              <a:schemeClr val="accent3"/>
            </a:solidFill>
            <a:prstDash val="solid"/>
          </a:ln>
        </p:spPr>
        <p:txBody>
          <a:bodyPr/>
          <a:lstStyle/>
          <a:p>
            <a:endParaRPr lang="en-US"/>
          </a:p>
        </p:txBody>
      </p:sp>
      <p:sp>
        <p:nvSpPr>
          <p:cNvPr id="24" name="Marker 1"/>
          <p:cNvSpPr txBox="1"/>
          <p:nvPr/>
        </p:nvSpPr>
        <p:spPr>
          <a:xfrm>
            <a:off x="3950208" y="177393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25" name="Marker 1"/>
          <p:cNvSpPr txBox="1"/>
          <p:nvPr/>
        </p:nvSpPr>
        <p:spPr>
          <a:xfrm>
            <a:off x="548640" y="369417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26" name="Text 22"/>
          <p:cNvSpPr txBox="1"/>
          <p:nvPr/>
        </p:nvSpPr>
        <p:spPr>
          <a:xfrm>
            <a:off x="1078992" y="3721608"/>
            <a:ext cx="4590288" cy="557784"/>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If you see a yellow bar, click Enable Editing</a:t>
            </a:r>
            <a:endParaRPr lang="en-US" sz="1400" dirty="0"/>
          </a:p>
          <a:p>
            <a:pPr marL="0" indent="0">
              <a:spcAft>
                <a:spcPts val="200"/>
              </a:spcAft>
              <a:buNone/>
            </a:pPr>
            <a:r>
              <a:rPr lang="en-US" sz="1300" dirty="0">
                <a:solidFill>
                  <a:schemeClr val="tx2"/>
                </a:solidFill>
              </a:rPr>
              <a:t>Excel blocks typing and scanning until you do.</a:t>
            </a:r>
            <a:endParaRPr lang="en-US" sz="1400" dirty="0"/>
          </a:p>
        </p:txBody>
      </p:sp>
      <p:sp>
        <p:nvSpPr>
          <p:cNvPr id="27" name="Marker 2"/>
          <p:cNvSpPr txBox="1"/>
          <p:nvPr/>
        </p:nvSpPr>
        <p:spPr>
          <a:xfrm>
            <a:off x="548640" y="432511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28" name="Text 24"/>
          <p:cNvSpPr txBox="1"/>
          <p:nvPr/>
        </p:nvSpPr>
        <p:spPr>
          <a:xfrm>
            <a:off x="1078992" y="4352544"/>
            <a:ext cx="4590288" cy="557784"/>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Click File → Options → Advanced</a:t>
            </a:r>
            <a:endParaRPr lang="en-US" sz="1400" dirty="0"/>
          </a:p>
          <a:p>
            <a:pPr marL="0" indent="0">
              <a:spcAft>
                <a:spcPts val="200"/>
              </a:spcAft>
              <a:buNone/>
            </a:pPr>
            <a:r>
              <a:rPr lang="en-US" sz="1300" dirty="0">
                <a:solidFill>
                  <a:schemeClr val="tx2"/>
                </a:solidFill>
              </a:rPr>
              <a:t>File is the first menu at the top-left.</a:t>
            </a:r>
            <a:endParaRPr lang="en-US" sz="1400" dirty="0"/>
          </a:p>
        </p:txBody>
      </p:sp>
      <p:sp>
        <p:nvSpPr>
          <p:cNvPr id="29" name="Marker 3"/>
          <p:cNvSpPr txBox="1"/>
          <p:nvPr/>
        </p:nvSpPr>
        <p:spPr>
          <a:xfrm>
            <a:off x="548640" y="495604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30" name="Text 26"/>
          <p:cNvSpPr txBox="1"/>
          <p:nvPr/>
        </p:nvSpPr>
        <p:spPr>
          <a:xfrm>
            <a:off x="1078992" y="4983480"/>
            <a:ext cx="4590288" cy="557784"/>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Untick "Enable AutoComplete for cell values"</a:t>
            </a:r>
            <a:endParaRPr lang="en-US" sz="1400" dirty="0"/>
          </a:p>
          <a:p>
            <a:pPr marL="0" indent="0">
              <a:spcAft>
                <a:spcPts val="200"/>
              </a:spcAft>
              <a:buNone/>
            </a:pPr>
            <a:r>
              <a:rPr lang="en-US" sz="1300" dirty="0">
                <a:solidFill>
                  <a:schemeClr val="tx2"/>
                </a:solidFill>
              </a:rPr>
              <a:t>It's under Editing options.</a:t>
            </a:r>
            <a:endParaRPr lang="en-US" sz="1400" dirty="0"/>
          </a:p>
        </p:txBody>
      </p:sp>
      <p:sp>
        <p:nvSpPr>
          <p:cNvPr id="31" name="Marker 4"/>
          <p:cNvSpPr txBox="1"/>
          <p:nvPr/>
        </p:nvSpPr>
        <p:spPr>
          <a:xfrm>
            <a:off x="548640" y="558698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32" name="Text 28"/>
          <p:cNvSpPr txBox="1"/>
          <p:nvPr/>
        </p:nvSpPr>
        <p:spPr>
          <a:xfrm>
            <a:off x="1078992" y="5614416"/>
            <a:ext cx="4590288" cy="557784"/>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Click OK</a:t>
            </a:r>
            <a:endParaRPr lang="en-US" sz="1400" dirty="0"/>
          </a:p>
          <a:p>
            <a:pPr marL="0" indent="0">
              <a:spcAft>
                <a:spcPts val="200"/>
              </a:spcAft>
              <a:buNone/>
            </a:pPr>
            <a:r>
              <a:rPr lang="en-US" sz="1300" dirty="0">
                <a:solidFill>
                  <a:schemeClr val="tx2"/>
                </a:solidFill>
              </a:rPr>
              <a:t>Done. Excel remembers this on this laptop.</a:t>
            </a:r>
            <a:endParaRPr lang="en-US" sz="1400" dirty="0"/>
          </a:p>
        </p:txBody>
      </p:sp>
      <p:sp>
        <p:nvSpPr>
          <p:cNvPr id="33" name="Excel Options dialog"/>
          <p:cNvSpPr/>
          <p:nvPr/>
        </p:nvSpPr>
        <p:spPr>
          <a:xfrm>
            <a:off x="6172200" y="1371600"/>
            <a:ext cx="5468112" cy="406908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34" name="Text 30"/>
          <p:cNvSpPr txBox="1"/>
          <p:nvPr/>
        </p:nvSpPr>
        <p:spPr>
          <a:xfrm>
            <a:off x="6309360" y="1371600"/>
            <a:ext cx="2743200" cy="329184"/>
          </a:xfrm>
          <a:prstGeom prst="rect">
            <a:avLst/>
          </a:prstGeom>
          <a:noFill/>
          <a:ln/>
        </p:spPr>
        <p:txBody>
          <a:bodyPr wrap="square" lIns="0" tIns="0" rIns="0" bIns="0" rtlCol="0" anchor="ctr"/>
          <a:lstStyle/>
          <a:p>
            <a:pPr marL="0" indent="0">
              <a:buNone/>
            </a:pPr>
            <a:r>
              <a:rPr lang="en-US" sz="1100" dirty="0">
                <a:solidFill>
                  <a:srgbClr val="1C1C1C"/>
                </a:solidFill>
              </a:rPr>
              <a:t>Excel Options</a:t>
            </a:r>
            <a:endParaRPr lang="en-US" sz="1100" dirty="0"/>
          </a:p>
        </p:txBody>
      </p:sp>
      <p:sp>
        <p:nvSpPr>
          <p:cNvPr id="35" name="Text 31"/>
          <p:cNvSpPr txBox="1"/>
          <p:nvPr/>
        </p:nvSpPr>
        <p:spPr>
          <a:xfrm>
            <a:off x="10817352" y="1371600"/>
            <a:ext cx="685800" cy="329184"/>
          </a:xfrm>
          <a:prstGeom prst="rect">
            <a:avLst/>
          </a:prstGeom>
          <a:noFill/>
          <a:ln/>
        </p:spPr>
        <p:txBody>
          <a:bodyPr wrap="square" lIns="0" tIns="0" rIns="0" bIns="0" rtlCol="0" anchor="ctr"/>
          <a:lstStyle/>
          <a:p>
            <a:pPr marL="0" indent="0" algn="r">
              <a:buNone/>
            </a:pPr>
            <a:r>
              <a:rPr lang="en-US" sz="1100" dirty="0">
                <a:solidFill>
                  <a:srgbClr val="1C1C1C"/>
                </a:solidFill>
              </a:rPr>
              <a:t>?    ✕</a:t>
            </a:r>
            <a:endParaRPr lang="en-US" sz="1100" dirty="0"/>
          </a:p>
        </p:txBody>
      </p:sp>
      <p:sp>
        <p:nvSpPr>
          <p:cNvPr id="36" name="Options navigation"/>
          <p:cNvSpPr/>
          <p:nvPr/>
        </p:nvSpPr>
        <p:spPr>
          <a:xfrm>
            <a:off x="6172200" y="1700784"/>
            <a:ext cx="1600200" cy="3739896"/>
          </a:xfrm>
          <a:prstGeom prst="rect">
            <a:avLst/>
          </a:prstGeom>
          <a:solidFill>
            <a:srgbClr val="F7F7F7"/>
          </a:solidFill>
          <a:ln w="12700">
            <a:solidFill>
              <a:srgbClr val="F7F7F7"/>
            </a:solidFill>
            <a:prstDash val="solid"/>
          </a:ln>
        </p:spPr>
        <p:txBody>
          <a:bodyPr/>
          <a:lstStyle/>
          <a:p>
            <a:endParaRPr lang="en-US"/>
          </a:p>
        </p:txBody>
      </p:sp>
      <p:sp>
        <p:nvSpPr>
          <p:cNvPr id="37" name="Text 33"/>
          <p:cNvSpPr txBox="1"/>
          <p:nvPr/>
        </p:nvSpPr>
        <p:spPr>
          <a:xfrm>
            <a:off x="6309360" y="1783080"/>
            <a:ext cx="1417320" cy="256032"/>
          </a:xfrm>
          <a:prstGeom prst="rect">
            <a:avLst/>
          </a:prstGeom>
          <a:noFill/>
          <a:ln/>
        </p:spPr>
        <p:txBody>
          <a:bodyPr wrap="square" lIns="0" tIns="0" rIns="0" bIns="0" rtlCol="0" anchor="ctr"/>
          <a:lstStyle/>
          <a:p>
            <a:pPr marL="0" indent="0">
              <a:buNone/>
            </a:pPr>
            <a:r>
              <a:rPr lang="en-US" sz="1000" dirty="0">
                <a:solidFill>
                  <a:srgbClr val="1C1C1C"/>
                </a:solidFill>
              </a:rPr>
              <a:t>General</a:t>
            </a:r>
            <a:endParaRPr lang="en-US" sz="1000" dirty="0"/>
          </a:p>
        </p:txBody>
      </p:sp>
      <p:sp>
        <p:nvSpPr>
          <p:cNvPr id="38" name="Text 34"/>
          <p:cNvSpPr txBox="1"/>
          <p:nvPr/>
        </p:nvSpPr>
        <p:spPr>
          <a:xfrm>
            <a:off x="6309360" y="2057400"/>
            <a:ext cx="1417320" cy="256032"/>
          </a:xfrm>
          <a:prstGeom prst="rect">
            <a:avLst/>
          </a:prstGeom>
          <a:noFill/>
          <a:ln/>
        </p:spPr>
        <p:txBody>
          <a:bodyPr wrap="square" lIns="0" tIns="0" rIns="0" bIns="0" rtlCol="0" anchor="ctr"/>
          <a:lstStyle/>
          <a:p>
            <a:pPr marL="0" indent="0">
              <a:buNone/>
            </a:pPr>
            <a:r>
              <a:rPr lang="en-US" sz="1000" dirty="0">
                <a:solidFill>
                  <a:srgbClr val="1C1C1C"/>
                </a:solidFill>
              </a:rPr>
              <a:t>Formulas</a:t>
            </a:r>
            <a:endParaRPr lang="en-US" sz="1000" dirty="0"/>
          </a:p>
        </p:txBody>
      </p:sp>
      <p:sp>
        <p:nvSpPr>
          <p:cNvPr id="39" name="Text 35"/>
          <p:cNvSpPr txBox="1"/>
          <p:nvPr/>
        </p:nvSpPr>
        <p:spPr>
          <a:xfrm>
            <a:off x="6309360" y="2331720"/>
            <a:ext cx="1417320" cy="256032"/>
          </a:xfrm>
          <a:prstGeom prst="rect">
            <a:avLst/>
          </a:prstGeom>
          <a:noFill/>
          <a:ln/>
        </p:spPr>
        <p:txBody>
          <a:bodyPr wrap="square" lIns="0" tIns="0" rIns="0" bIns="0" rtlCol="0" anchor="ctr"/>
          <a:lstStyle/>
          <a:p>
            <a:pPr marL="0" indent="0">
              <a:buNone/>
            </a:pPr>
            <a:r>
              <a:rPr lang="en-US" sz="1000" dirty="0">
                <a:solidFill>
                  <a:srgbClr val="1C1C1C"/>
                </a:solidFill>
              </a:rPr>
              <a:t>Data</a:t>
            </a:r>
            <a:endParaRPr lang="en-US" sz="1000" dirty="0"/>
          </a:p>
        </p:txBody>
      </p:sp>
      <p:sp>
        <p:nvSpPr>
          <p:cNvPr id="40" name="Text 36"/>
          <p:cNvSpPr txBox="1"/>
          <p:nvPr/>
        </p:nvSpPr>
        <p:spPr>
          <a:xfrm>
            <a:off x="6309360" y="2606040"/>
            <a:ext cx="1417320" cy="256032"/>
          </a:xfrm>
          <a:prstGeom prst="rect">
            <a:avLst/>
          </a:prstGeom>
          <a:noFill/>
          <a:ln/>
        </p:spPr>
        <p:txBody>
          <a:bodyPr wrap="square" lIns="0" tIns="0" rIns="0" bIns="0" rtlCol="0" anchor="ctr"/>
          <a:lstStyle/>
          <a:p>
            <a:pPr marL="0" indent="0">
              <a:buNone/>
            </a:pPr>
            <a:r>
              <a:rPr lang="en-US" sz="1000" dirty="0">
                <a:solidFill>
                  <a:srgbClr val="1C1C1C"/>
                </a:solidFill>
              </a:rPr>
              <a:t>Proofing</a:t>
            </a:r>
            <a:endParaRPr lang="en-US" sz="1000" dirty="0"/>
          </a:p>
        </p:txBody>
      </p:sp>
      <p:sp>
        <p:nvSpPr>
          <p:cNvPr id="41" name="Text 37"/>
          <p:cNvSpPr txBox="1"/>
          <p:nvPr/>
        </p:nvSpPr>
        <p:spPr>
          <a:xfrm>
            <a:off x="6309360" y="2880360"/>
            <a:ext cx="1417320" cy="256032"/>
          </a:xfrm>
          <a:prstGeom prst="rect">
            <a:avLst/>
          </a:prstGeom>
          <a:noFill/>
          <a:ln/>
        </p:spPr>
        <p:txBody>
          <a:bodyPr wrap="square" lIns="0" tIns="0" rIns="0" bIns="0" rtlCol="0" anchor="ctr"/>
          <a:lstStyle/>
          <a:p>
            <a:pPr marL="0" indent="0">
              <a:buNone/>
            </a:pPr>
            <a:r>
              <a:rPr lang="en-US" sz="1000" dirty="0">
                <a:solidFill>
                  <a:srgbClr val="1C1C1C"/>
                </a:solidFill>
              </a:rPr>
              <a:t>Save</a:t>
            </a:r>
            <a:endParaRPr lang="en-US" sz="1000" dirty="0"/>
          </a:p>
        </p:txBody>
      </p:sp>
      <p:sp>
        <p:nvSpPr>
          <p:cNvPr id="42" name="Text 38"/>
          <p:cNvSpPr txBox="1"/>
          <p:nvPr/>
        </p:nvSpPr>
        <p:spPr>
          <a:xfrm>
            <a:off x="6309360" y="3154680"/>
            <a:ext cx="1417320" cy="256032"/>
          </a:xfrm>
          <a:prstGeom prst="rect">
            <a:avLst/>
          </a:prstGeom>
          <a:noFill/>
          <a:ln/>
        </p:spPr>
        <p:txBody>
          <a:bodyPr wrap="square" lIns="0" tIns="0" rIns="0" bIns="0" rtlCol="0" anchor="ctr"/>
          <a:lstStyle/>
          <a:p>
            <a:pPr marL="0" indent="0">
              <a:buNone/>
            </a:pPr>
            <a:r>
              <a:rPr lang="en-US" sz="1000" dirty="0">
                <a:solidFill>
                  <a:srgbClr val="1C1C1C"/>
                </a:solidFill>
              </a:rPr>
              <a:t>Language</a:t>
            </a:r>
            <a:endParaRPr lang="en-US" sz="1000" dirty="0"/>
          </a:p>
        </p:txBody>
      </p:sp>
      <p:sp>
        <p:nvSpPr>
          <p:cNvPr id="43" name="Text 39"/>
          <p:cNvSpPr txBox="1"/>
          <p:nvPr/>
        </p:nvSpPr>
        <p:spPr>
          <a:xfrm>
            <a:off x="6309360" y="3429000"/>
            <a:ext cx="1417320" cy="256032"/>
          </a:xfrm>
          <a:prstGeom prst="rect">
            <a:avLst/>
          </a:prstGeom>
          <a:noFill/>
          <a:ln/>
        </p:spPr>
        <p:txBody>
          <a:bodyPr wrap="square" lIns="0" tIns="0" rIns="0" bIns="0" rtlCol="0" anchor="ctr"/>
          <a:lstStyle/>
          <a:p>
            <a:pPr marL="0" indent="0">
              <a:buNone/>
            </a:pPr>
            <a:r>
              <a:rPr lang="en-US" sz="1000" dirty="0">
                <a:solidFill>
                  <a:srgbClr val="1C1C1C"/>
                </a:solidFill>
              </a:rPr>
              <a:t>Accessibility</a:t>
            </a:r>
            <a:endParaRPr lang="en-US" sz="1000" dirty="0"/>
          </a:p>
        </p:txBody>
      </p:sp>
      <p:sp>
        <p:nvSpPr>
          <p:cNvPr id="44" name="Advanced selected"/>
          <p:cNvSpPr/>
          <p:nvPr/>
        </p:nvSpPr>
        <p:spPr>
          <a:xfrm>
            <a:off x="6217920" y="3703320"/>
            <a:ext cx="1508760" cy="256032"/>
          </a:xfrm>
          <a:prstGeom prst="rect">
            <a:avLst/>
          </a:prstGeom>
          <a:solidFill>
            <a:srgbClr val="DADADA"/>
          </a:solidFill>
          <a:ln w="12700">
            <a:solidFill>
              <a:srgbClr val="DADADA"/>
            </a:solidFill>
            <a:prstDash val="solid"/>
          </a:ln>
        </p:spPr>
        <p:txBody>
          <a:bodyPr/>
          <a:lstStyle/>
          <a:p>
            <a:endParaRPr lang="en-US"/>
          </a:p>
        </p:txBody>
      </p:sp>
      <p:sp>
        <p:nvSpPr>
          <p:cNvPr id="45" name="Text 41"/>
          <p:cNvSpPr txBox="1"/>
          <p:nvPr/>
        </p:nvSpPr>
        <p:spPr>
          <a:xfrm>
            <a:off x="6309360" y="3703320"/>
            <a:ext cx="1417320" cy="256032"/>
          </a:xfrm>
          <a:prstGeom prst="rect">
            <a:avLst/>
          </a:prstGeom>
          <a:noFill/>
          <a:ln/>
        </p:spPr>
        <p:txBody>
          <a:bodyPr wrap="square" lIns="0" tIns="0" rIns="0" bIns="0" rtlCol="0" anchor="ctr"/>
          <a:lstStyle/>
          <a:p>
            <a:pPr marL="0" indent="0">
              <a:buNone/>
            </a:pPr>
            <a:r>
              <a:rPr lang="en-US" sz="1000" b="1" dirty="0">
                <a:solidFill>
                  <a:srgbClr val="1C1C1C"/>
                </a:solidFill>
              </a:rPr>
              <a:t>Advanced</a:t>
            </a:r>
            <a:endParaRPr lang="en-US" sz="1000" dirty="0"/>
          </a:p>
        </p:txBody>
      </p:sp>
      <p:sp>
        <p:nvSpPr>
          <p:cNvPr id="46" name="Advanced highlight"/>
          <p:cNvSpPr/>
          <p:nvPr/>
        </p:nvSpPr>
        <p:spPr>
          <a:xfrm>
            <a:off x="6190488" y="3675888"/>
            <a:ext cx="1563624" cy="310896"/>
          </a:xfrm>
          <a:prstGeom prst="roundRect">
            <a:avLst>
              <a:gd name="adj" fmla="val 17647"/>
            </a:avLst>
          </a:prstGeom>
          <a:noFill/>
          <a:ln w="31750">
            <a:solidFill>
              <a:schemeClr val="accent3"/>
            </a:solidFill>
            <a:prstDash val="solid"/>
          </a:ln>
        </p:spPr>
        <p:txBody>
          <a:bodyPr/>
          <a:lstStyle/>
          <a:p>
            <a:endParaRPr lang="en-US"/>
          </a:p>
        </p:txBody>
      </p:sp>
      <p:sp>
        <p:nvSpPr>
          <p:cNvPr id="47" name="Marker 2"/>
          <p:cNvSpPr txBox="1"/>
          <p:nvPr/>
        </p:nvSpPr>
        <p:spPr>
          <a:xfrm>
            <a:off x="7690104" y="3657600"/>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48" name="Text 44"/>
          <p:cNvSpPr txBox="1"/>
          <p:nvPr/>
        </p:nvSpPr>
        <p:spPr>
          <a:xfrm>
            <a:off x="6309360" y="3977640"/>
            <a:ext cx="1417320" cy="256032"/>
          </a:xfrm>
          <a:prstGeom prst="rect">
            <a:avLst/>
          </a:prstGeom>
          <a:noFill/>
          <a:ln/>
        </p:spPr>
        <p:txBody>
          <a:bodyPr wrap="square" lIns="0" tIns="0" rIns="0" bIns="0" rtlCol="0" anchor="ctr"/>
          <a:lstStyle/>
          <a:p>
            <a:pPr marL="0" indent="0">
              <a:buNone/>
            </a:pPr>
            <a:r>
              <a:rPr lang="en-US" sz="1000" dirty="0">
                <a:solidFill>
                  <a:srgbClr val="1C1C1C"/>
                </a:solidFill>
              </a:rPr>
              <a:t>Customize Ribbon</a:t>
            </a:r>
            <a:endParaRPr lang="en-US" sz="1000" dirty="0"/>
          </a:p>
        </p:txBody>
      </p:sp>
      <p:sp>
        <p:nvSpPr>
          <p:cNvPr id="49" name="Text 45"/>
          <p:cNvSpPr txBox="1"/>
          <p:nvPr/>
        </p:nvSpPr>
        <p:spPr>
          <a:xfrm>
            <a:off x="6309360" y="4251960"/>
            <a:ext cx="1417320" cy="256032"/>
          </a:xfrm>
          <a:prstGeom prst="rect">
            <a:avLst/>
          </a:prstGeom>
          <a:noFill/>
          <a:ln/>
        </p:spPr>
        <p:txBody>
          <a:bodyPr wrap="square" lIns="0" tIns="0" rIns="0" bIns="0" rtlCol="0" anchor="ctr"/>
          <a:lstStyle/>
          <a:p>
            <a:pPr marL="0" indent="0">
              <a:buNone/>
            </a:pPr>
            <a:r>
              <a:rPr lang="en-US" sz="1000" dirty="0">
                <a:solidFill>
                  <a:srgbClr val="1C1C1C"/>
                </a:solidFill>
              </a:rPr>
              <a:t>Quick Access Toolbar</a:t>
            </a:r>
            <a:endParaRPr lang="en-US" sz="1000" dirty="0"/>
          </a:p>
        </p:txBody>
      </p:sp>
      <p:sp>
        <p:nvSpPr>
          <p:cNvPr id="50" name="Text 46"/>
          <p:cNvSpPr txBox="1"/>
          <p:nvPr/>
        </p:nvSpPr>
        <p:spPr>
          <a:xfrm>
            <a:off x="6309360" y="4526280"/>
            <a:ext cx="1417320" cy="256032"/>
          </a:xfrm>
          <a:prstGeom prst="rect">
            <a:avLst/>
          </a:prstGeom>
          <a:noFill/>
          <a:ln/>
        </p:spPr>
        <p:txBody>
          <a:bodyPr wrap="square" lIns="0" tIns="0" rIns="0" bIns="0" rtlCol="0" anchor="ctr"/>
          <a:lstStyle/>
          <a:p>
            <a:pPr marL="0" indent="0">
              <a:buNone/>
            </a:pPr>
            <a:r>
              <a:rPr lang="en-US" sz="1000" dirty="0">
                <a:solidFill>
                  <a:srgbClr val="1C1C1C"/>
                </a:solidFill>
              </a:rPr>
              <a:t>Add-ins</a:t>
            </a:r>
            <a:endParaRPr lang="en-US" sz="1000" dirty="0"/>
          </a:p>
        </p:txBody>
      </p:sp>
      <p:sp>
        <p:nvSpPr>
          <p:cNvPr id="51" name="Text 47"/>
          <p:cNvSpPr txBox="1"/>
          <p:nvPr/>
        </p:nvSpPr>
        <p:spPr>
          <a:xfrm>
            <a:off x="6309360" y="4800600"/>
            <a:ext cx="1417320" cy="256032"/>
          </a:xfrm>
          <a:prstGeom prst="rect">
            <a:avLst/>
          </a:prstGeom>
          <a:noFill/>
          <a:ln/>
        </p:spPr>
        <p:txBody>
          <a:bodyPr wrap="square" lIns="0" tIns="0" rIns="0" bIns="0" rtlCol="0" anchor="ctr"/>
          <a:lstStyle/>
          <a:p>
            <a:pPr marL="0" indent="0">
              <a:buNone/>
            </a:pPr>
            <a:r>
              <a:rPr lang="en-US" sz="1000" dirty="0">
                <a:solidFill>
                  <a:srgbClr val="1C1C1C"/>
                </a:solidFill>
              </a:rPr>
              <a:t>Trust Center</a:t>
            </a:r>
            <a:endParaRPr lang="en-US" sz="1000" dirty="0"/>
          </a:p>
        </p:txBody>
      </p:sp>
      <p:sp>
        <p:nvSpPr>
          <p:cNvPr id="52" name="Text 48"/>
          <p:cNvSpPr txBox="1"/>
          <p:nvPr/>
        </p:nvSpPr>
        <p:spPr>
          <a:xfrm>
            <a:off x="8001000" y="1828800"/>
            <a:ext cx="3200400" cy="274320"/>
          </a:xfrm>
          <a:prstGeom prst="rect">
            <a:avLst/>
          </a:prstGeom>
          <a:noFill/>
          <a:ln/>
        </p:spPr>
        <p:txBody>
          <a:bodyPr wrap="square" lIns="0" tIns="0" rIns="0" bIns="0" rtlCol="0" anchor="ctr"/>
          <a:lstStyle/>
          <a:p>
            <a:pPr marL="0" indent="0">
              <a:buNone/>
            </a:pPr>
            <a:r>
              <a:rPr lang="en-US" sz="1100" b="1" dirty="0">
                <a:solidFill>
                  <a:srgbClr val="1C1C1C"/>
                </a:solidFill>
              </a:rPr>
              <a:t>Editing options</a:t>
            </a:r>
            <a:endParaRPr lang="en-US" sz="1100" dirty="0"/>
          </a:p>
        </p:txBody>
      </p:sp>
      <p:sp>
        <p:nvSpPr>
          <p:cNvPr id="53" name="Separator"/>
          <p:cNvSpPr/>
          <p:nvPr/>
        </p:nvSpPr>
        <p:spPr>
          <a:xfrm>
            <a:off x="8001000" y="2121408"/>
            <a:ext cx="3456432" cy="0"/>
          </a:xfrm>
          <a:prstGeom prst="line">
            <a:avLst/>
          </a:prstGeom>
          <a:noFill/>
          <a:ln w="9525">
            <a:solidFill>
              <a:srgbClr val="D0D0D0"/>
            </a:solidFill>
            <a:prstDash val="solid"/>
          </a:ln>
        </p:spPr>
        <p:txBody>
          <a:bodyPr/>
          <a:lstStyle/>
          <a:p>
            <a:endParaRPr lang="en-US"/>
          </a:p>
        </p:txBody>
      </p:sp>
      <p:sp>
        <p:nvSpPr>
          <p:cNvPr id="54" name="Checkbox 1"/>
          <p:cNvSpPr txBox="1"/>
          <p:nvPr/>
        </p:nvSpPr>
        <p:spPr>
          <a:xfrm>
            <a:off x="8001000" y="2295144"/>
            <a:ext cx="164592" cy="164592"/>
          </a:xfrm>
          <a:prstGeom prst="rect">
            <a:avLst/>
          </a:prstGeom>
          <a:solidFill>
            <a:srgbClr val="1E7145"/>
          </a:solidFill>
          <a:ln w="9525">
            <a:solidFill>
              <a:srgbClr val="1E7145"/>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55" name="Text 51"/>
          <p:cNvSpPr txBox="1"/>
          <p:nvPr/>
        </p:nvSpPr>
        <p:spPr>
          <a:xfrm>
            <a:off x="8257032" y="2240280"/>
            <a:ext cx="3182112" cy="274320"/>
          </a:xfrm>
          <a:prstGeom prst="rect">
            <a:avLst/>
          </a:prstGeom>
          <a:noFill/>
          <a:ln/>
        </p:spPr>
        <p:txBody>
          <a:bodyPr wrap="square" lIns="0" tIns="0" rIns="0" bIns="0" rtlCol="0" anchor="ctr"/>
          <a:lstStyle/>
          <a:p>
            <a:pPr marL="0" indent="0">
              <a:buNone/>
            </a:pPr>
            <a:r>
              <a:rPr lang="en-US" sz="1000" dirty="0">
                <a:solidFill>
                  <a:srgbClr val="1C1C1C"/>
                </a:solidFill>
              </a:rPr>
              <a:t>After pressing Enter, move selection</a:t>
            </a:r>
            <a:endParaRPr lang="en-US" sz="1000" dirty="0"/>
          </a:p>
        </p:txBody>
      </p:sp>
      <p:sp>
        <p:nvSpPr>
          <p:cNvPr id="56" name="Checkbox 2"/>
          <p:cNvSpPr txBox="1"/>
          <p:nvPr/>
        </p:nvSpPr>
        <p:spPr>
          <a:xfrm>
            <a:off x="8001000" y="2624328"/>
            <a:ext cx="164592" cy="164592"/>
          </a:xfrm>
          <a:prstGeom prst="rect">
            <a:avLst/>
          </a:prstGeom>
          <a:solidFill>
            <a:srgbClr val="FFFFFF"/>
          </a:solidFill>
          <a:ln w="9525">
            <a:solidFill>
              <a:srgbClr val="666666"/>
            </a:solidFill>
          </a:ln>
        </p:spPr>
        <p:txBody>
          <a:bodyPr wrap="square" lIns="0" tIns="0" rIns="0" bIns="0" rtlCol="0" anchor="ctr"/>
          <a:lstStyle/>
          <a:p>
            <a:pPr marL="0" indent="0" algn="ctr">
              <a:buNone/>
            </a:pPr>
            <a:endParaRPr lang="en-US" sz="900" dirty="0"/>
          </a:p>
        </p:txBody>
      </p:sp>
      <p:sp>
        <p:nvSpPr>
          <p:cNvPr id="57" name="Text 53"/>
          <p:cNvSpPr txBox="1"/>
          <p:nvPr/>
        </p:nvSpPr>
        <p:spPr>
          <a:xfrm>
            <a:off x="8257032" y="2569464"/>
            <a:ext cx="3182112" cy="274320"/>
          </a:xfrm>
          <a:prstGeom prst="rect">
            <a:avLst/>
          </a:prstGeom>
          <a:noFill/>
          <a:ln/>
        </p:spPr>
        <p:txBody>
          <a:bodyPr wrap="square" lIns="0" tIns="0" rIns="0" bIns="0" rtlCol="0" anchor="ctr"/>
          <a:lstStyle/>
          <a:p>
            <a:pPr marL="0" indent="0">
              <a:buNone/>
            </a:pPr>
            <a:r>
              <a:rPr lang="en-US" sz="1000" dirty="0">
                <a:solidFill>
                  <a:srgbClr val="1C1C1C"/>
                </a:solidFill>
              </a:rPr>
              <a:t>Automatically insert a decimal point</a:t>
            </a:r>
            <a:endParaRPr lang="en-US" sz="1000" dirty="0"/>
          </a:p>
        </p:txBody>
      </p:sp>
      <p:sp>
        <p:nvSpPr>
          <p:cNvPr id="58" name="Checkbox 3"/>
          <p:cNvSpPr txBox="1"/>
          <p:nvPr/>
        </p:nvSpPr>
        <p:spPr>
          <a:xfrm>
            <a:off x="8001000" y="2953512"/>
            <a:ext cx="164592" cy="164592"/>
          </a:xfrm>
          <a:prstGeom prst="rect">
            <a:avLst/>
          </a:prstGeom>
          <a:solidFill>
            <a:srgbClr val="1E7145"/>
          </a:solidFill>
          <a:ln w="9525">
            <a:solidFill>
              <a:srgbClr val="1E7145"/>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59" name="Text 55"/>
          <p:cNvSpPr txBox="1"/>
          <p:nvPr/>
        </p:nvSpPr>
        <p:spPr>
          <a:xfrm>
            <a:off x="8257032" y="2898648"/>
            <a:ext cx="3182112" cy="274320"/>
          </a:xfrm>
          <a:prstGeom prst="rect">
            <a:avLst/>
          </a:prstGeom>
          <a:noFill/>
          <a:ln/>
        </p:spPr>
        <p:txBody>
          <a:bodyPr wrap="square" lIns="0" tIns="0" rIns="0" bIns="0" rtlCol="0" anchor="ctr"/>
          <a:lstStyle/>
          <a:p>
            <a:pPr marL="0" indent="0">
              <a:buNone/>
            </a:pPr>
            <a:r>
              <a:rPr lang="en-US" sz="1000" dirty="0">
                <a:solidFill>
                  <a:srgbClr val="1C1C1C"/>
                </a:solidFill>
              </a:rPr>
              <a:t>Enable fill handle and cell drag-and-drop</a:t>
            </a:r>
            <a:endParaRPr lang="en-US" sz="1000" dirty="0"/>
          </a:p>
        </p:txBody>
      </p:sp>
      <p:sp>
        <p:nvSpPr>
          <p:cNvPr id="60" name="Checkbox 4"/>
          <p:cNvSpPr txBox="1"/>
          <p:nvPr/>
        </p:nvSpPr>
        <p:spPr>
          <a:xfrm>
            <a:off x="8001000" y="3282696"/>
            <a:ext cx="164592" cy="164592"/>
          </a:xfrm>
          <a:prstGeom prst="rect">
            <a:avLst/>
          </a:prstGeom>
          <a:solidFill>
            <a:srgbClr val="1E7145"/>
          </a:solidFill>
          <a:ln w="9525">
            <a:solidFill>
              <a:srgbClr val="1E7145"/>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61" name="Text 57"/>
          <p:cNvSpPr txBox="1"/>
          <p:nvPr/>
        </p:nvSpPr>
        <p:spPr>
          <a:xfrm>
            <a:off x="8257032" y="3227832"/>
            <a:ext cx="3182112" cy="274320"/>
          </a:xfrm>
          <a:prstGeom prst="rect">
            <a:avLst/>
          </a:prstGeom>
          <a:noFill/>
          <a:ln/>
        </p:spPr>
        <p:txBody>
          <a:bodyPr wrap="square" lIns="0" tIns="0" rIns="0" bIns="0" rtlCol="0" anchor="ctr"/>
          <a:lstStyle/>
          <a:p>
            <a:pPr marL="0" indent="0">
              <a:buNone/>
            </a:pPr>
            <a:r>
              <a:rPr lang="en-US" sz="1000" dirty="0">
                <a:solidFill>
                  <a:srgbClr val="1C1C1C"/>
                </a:solidFill>
              </a:rPr>
              <a:t>Allow editing directly in cells</a:t>
            </a:r>
            <a:endParaRPr lang="en-US" sz="1000" dirty="0"/>
          </a:p>
        </p:txBody>
      </p:sp>
      <p:sp>
        <p:nvSpPr>
          <p:cNvPr id="62" name="Checkbox 5"/>
          <p:cNvSpPr txBox="1"/>
          <p:nvPr/>
        </p:nvSpPr>
        <p:spPr>
          <a:xfrm>
            <a:off x="8001000" y="3611880"/>
            <a:ext cx="164592" cy="164592"/>
          </a:xfrm>
          <a:prstGeom prst="rect">
            <a:avLst/>
          </a:prstGeom>
          <a:solidFill>
            <a:srgbClr val="1E7145"/>
          </a:solidFill>
          <a:ln w="9525">
            <a:solidFill>
              <a:srgbClr val="1E7145"/>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63" name="Text 59"/>
          <p:cNvSpPr txBox="1"/>
          <p:nvPr/>
        </p:nvSpPr>
        <p:spPr>
          <a:xfrm>
            <a:off x="8257032" y="3557016"/>
            <a:ext cx="3182112" cy="274320"/>
          </a:xfrm>
          <a:prstGeom prst="rect">
            <a:avLst/>
          </a:prstGeom>
          <a:noFill/>
          <a:ln/>
        </p:spPr>
        <p:txBody>
          <a:bodyPr wrap="square" lIns="0" tIns="0" rIns="0" bIns="0" rtlCol="0" anchor="ctr"/>
          <a:lstStyle/>
          <a:p>
            <a:pPr marL="0" indent="0">
              <a:buNone/>
            </a:pPr>
            <a:r>
              <a:rPr lang="en-US" sz="1000" dirty="0">
                <a:solidFill>
                  <a:srgbClr val="1C1C1C"/>
                </a:solidFill>
              </a:rPr>
              <a:t>Extend data range formats and formulas</a:t>
            </a:r>
            <a:endParaRPr lang="en-US" sz="1000" dirty="0"/>
          </a:p>
        </p:txBody>
      </p:sp>
      <p:sp>
        <p:nvSpPr>
          <p:cNvPr id="64" name="Checkbox 6"/>
          <p:cNvSpPr txBox="1"/>
          <p:nvPr/>
        </p:nvSpPr>
        <p:spPr>
          <a:xfrm>
            <a:off x="8001000" y="3941064"/>
            <a:ext cx="164592" cy="164592"/>
          </a:xfrm>
          <a:prstGeom prst="rect">
            <a:avLst/>
          </a:prstGeom>
          <a:solidFill>
            <a:srgbClr val="1E7145"/>
          </a:solidFill>
          <a:ln w="9525">
            <a:solidFill>
              <a:srgbClr val="1E7145"/>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65" name="Text 61"/>
          <p:cNvSpPr txBox="1"/>
          <p:nvPr/>
        </p:nvSpPr>
        <p:spPr>
          <a:xfrm>
            <a:off x="8257032" y="3886200"/>
            <a:ext cx="3182112" cy="274320"/>
          </a:xfrm>
          <a:prstGeom prst="rect">
            <a:avLst/>
          </a:prstGeom>
          <a:noFill/>
          <a:ln/>
        </p:spPr>
        <p:txBody>
          <a:bodyPr wrap="square" lIns="0" tIns="0" rIns="0" bIns="0" rtlCol="0" anchor="ctr"/>
          <a:lstStyle/>
          <a:p>
            <a:pPr marL="0" indent="0">
              <a:buNone/>
            </a:pPr>
            <a:r>
              <a:rPr lang="en-US" sz="1000" dirty="0">
                <a:solidFill>
                  <a:srgbClr val="1C1C1C"/>
                </a:solidFill>
              </a:rPr>
              <a:t>Enable automatic percent entry</a:t>
            </a:r>
            <a:endParaRPr lang="en-US" sz="1000" dirty="0"/>
          </a:p>
        </p:txBody>
      </p:sp>
      <p:sp>
        <p:nvSpPr>
          <p:cNvPr id="66" name="Checkbox 7"/>
          <p:cNvSpPr txBox="1"/>
          <p:nvPr/>
        </p:nvSpPr>
        <p:spPr>
          <a:xfrm>
            <a:off x="8001000" y="4270248"/>
            <a:ext cx="164592" cy="164592"/>
          </a:xfrm>
          <a:prstGeom prst="rect">
            <a:avLst/>
          </a:prstGeom>
          <a:solidFill>
            <a:srgbClr val="FFFFFF"/>
          </a:solidFill>
          <a:ln w="9525">
            <a:solidFill>
              <a:srgbClr val="666666"/>
            </a:solidFill>
          </a:ln>
        </p:spPr>
        <p:txBody>
          <a:bodyPr wrap="square" lIns="0" tIns="0" rIns="0" bIns="0" rtlCol="0" anchor="ctr"/>
          <a:lstStyle/>
          <a:p>
            <a:pPr marL="0" indent="0" algn="ctr">
              <a:buNone/>
            </a:pPr>
            <a:endParaRPr lang="en-US" sz="900" dirty="0"/>
          </a:p>
        </p:txBody>
      </p:sp>
      <p:sp>
        <p:nvSpPr>
          <p:cNvPr id="67" name="Text 63"/>
          <p:cNvSpPr txBox="1"/>
          <p:nvPr/>
        </p:nvSpPr>
        <p:spPr>
          <a:xfrm>
            <a:off x="8257032" y="4215384"/>
            <a:ext cx="3182112" cy="274320"/>
          </a:xfrm>
          <a:prstGeom prst="rect">
            <a:avLst/>
          </a:prstGeom>
          <a:noFill/>
          <a:ln/>
        </p:spPr>
        <p:txBody>
          <a:bodyPr wrap="square" lIns="0" tIns="0" rIns="0" bIns="0" rtlCol="0" anchor="ctr"/>
          <a:lstStyle/>
          <a:p>
            <a:pPr marL="0" indent="0">
              <a:buNone/>
            </a:pPr>
            <a:r>
              <a:rPr lang="en-US" sz="1000" dirty="0">
                <a:solidFill>
                  <a:srgbClr val="1C1C1C"/>
                </a:solidFill>
              </a:rPr>
              <a:t>Enable AutoComplete for cell values</a:t>
            </a:r>
            <a:endParaRPr lang="en-US" sz="1000" dirty="0"/>
          </a:p>
        </p:txBody>
      </p:sp>
      <p:sp>
        <p:nvSpPr>
          <p:cNvPr id="68" name="AutoComplete highlight"/>
          <p:cNvSpPr/>
          <p:nvPr/>
        </p:nvSpPr>
        <p:spPr>
          <a:xfrm>
            <a:off x="7927848" y="4178808"/>
            <a:ext cx="3090672" cy="347472"/>
          </a:xfrm>
          <a:prstGeom prst="roundRect">
            <a:avLst>
              <a:gd name="adj" fmla="val 15789"/>
            </a:avLst>
          </a:prstGeom>
          <a:noFill/>
          <a:ln w="31750">
            <a:solidFill>
              <a:schemeClr val="accent3"/>
            </a:solidFill>
            <a:prstDash val="solid"/>
          </a:ln>
        </p:spPr>
        <p:txBody>
          <a:bodyPr/>
          <a:lstStyle/>
          <a:p>
            <a:endParaRPr lang="en-US"/>
          </a:p>
        </p:txBody>
      </p:sp>
      <p:sp>
        <p:nvSpPr>
          <p:cNvPr id="69" name="Marker 3"/>
          <p:cNvSpPr txBox="1"/>
          <p:nvPr/>
        </p:nvSpPr>
        <p:spPr>
          <a:xfrm>
            <a:off x="11100816" y="4178808"/>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70" name="Checkbox 8"/>
          <p:cNvSpPr txBox="1"/>
          <p:nvPr/>
        </p:nvSpPr>
        <p:spPr>
          <a:xfrm>
            <a:off x="8001000" y="4599432"/>
            <a:ext cx="164592" cy="164592"/>
          </a:xfrm>
          <a:prstGeom prst="rect">
            <a:avLst/>
          </a:prstGeom>
          <a:solidFill>
            <a:srgbClr val="1E7145"/>
          </a:solidFill>
          <a:ln w="9525">
            <a:solidFill>
              <a:srgbClr val="1E7145"/>
            </a:solid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71" name="Text 67"/>
          <p:cNvSpPr txBox="1"/>
          <p:nvPr/>
        </p:nvSpPr>
        <p:spPr>
          <a:xfrm>
            <a:off x="8257032" y="4544568"/>
            <a:ext cx="3182112" cy="274320"/>
          </a:xfrm>
          <a:prstGeom prst="rect">
            <a:avLst/>
          </a:prstGeom>
          <a:noFill/>
          <a:ln/>
        </p:spPr>
        <p:txBody>
          <a:bodyPr wrap="square" lIns="0" tIns="0" rIns="0" bIns="0" rtlCol="0" anchor="ctr"/>
          <a:lstStyle/>
          <a:p>
            <a:pPr marL="0" indent="0">
              <a:buNone/>
            </a:pPr>
            <a:r>
              <a:rPr lang="en-US" sz="1000" dirty="0">
                <a:solidFill>
                  <a:srgbClr val="1C1C1C"/>
                </a:solidFill>
              </a:rPr>
              <a:t>Automatically Flash Fill</a:t>
            </a:r>
            <a:endParaRPr lang="en-US" sz="1000" dirty="0"/>
          </a:p>
        </p:txBody>
      </p:sp>
      <p:sp>
        <p:nvSpPr>
          <p:cNvPr id="72" name="OK button"/>
          <p:cNvSpPr txBox="1"/>
          <p:nvPr/>
        </p:nvSpPr>
        <p:spPr>
          <a:xfrm>
            <a:off x="9857232" y="4983480"/>
            <a:ext cx="777240" cy="292608"/>
          </a:xfrm>
          <a:prstGeom prst="rect">
            <a:avLst/>
          </a:prstGeom>
          <a:solidFill>
            <a:srgbClr val="FFFFFF"/>
          </a:solidFill>
          <a:ln w="19050">
            <a:solidFill>
              <a:srgbClr val="1E7145"/>
            </a:solidFill>
          </a:ln>
        </p:spPr>
        <p:txBody>
          <a:bodyPr wrap="square" lIns="0" tIns="0" rIns="0" bIns="0" rtlCol="0" anchor="ctr"/>
          <a:lstStyle/>
          <a:p>
            <a:pPr marL="0" indent="0" algn="ctr">
              <a:buNone/>
            </a:pPr>
            <a:r>
              <a:rPr lang="en-US" sz="1000" dirty="0">
                <a:solidFill>
                  <a:srgbClr val="1C1C1C"/>
                </a:solidFill>
              </a:rPr>
              <a:t>OK</a:t>
            </a:r>
            <a:endParaRPr lang="en-US" sz="1000" dirty="0"/>
          </a:p>
        </p:txBody>
      </p:sp>
      <p:sp>
        <p:nvSpPr>
          <p:cNvPr id="73" name="Cancel button"/>
          <p:cNvSpPr txBox="1"/>
          <p:nvPr/>
        </p:nvSpPr>
        <p:spPr>
          <a:xfrm>
            <a:off x="10725912" y="4983480"/>
            <a:ext cx="777240" cy="292608"/>
          </a:xfrm>
          <a:prstGeom prst="rect">
            <a:avLst/>
          </a:prstGeom>
          <a:solidFill>
            <a:srgbClr val="FFFFFF"/>
          </a:solidFill>
          <a:ln w="9525">
            <a:solidFill>
              <a:srgbClr val="8A8A8A"/>
            </a:solidFill>
          </a:ln>
        </p:spPr>
        <p:txBody>
          <a:bodyPr wrap="square" lIns="0" tIns="0" rIns="0" bIns="0" rtlCol="0" anchor="ctr"/>
          <a:lstStyle/>
          <a:p>
            <a:pPr marL="0" indent="0" algn="ctr">
              <a:buNone/>
            </a:pPr>
            <a:r>
              <a:rPr lang="en-US" sz="1000" dirty="0">
                <a:solidFill>
                  <a:srgbClr val="1C1C1C"/>
                </a:solidFill>
              </a:rPr>
              <a:t>Cancel</a:t>
            </a:r>
            <a:endParaRPr lang="en-US" sz="1000" dirty="0"/>
          </a:p>
        </p:txBody>
      </p:sp>
      <p:sp>
        <p:nvSpPr>
          <p:cNvPr id="74" name="Marker 4"/>
          <p:cNvSpPr txBox="1"/>
          <p:nvPr/>
        </p:nvSpPr>
        <p:spPr>
          <a:xfrm>
            <a:off x="9454896" y="4956048"/>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75" name="Why note"/>
          <p:cNvSpPr/>
          <p:nvPr/>
        </p:nvSpPr>
        <p:spPr>
          <a:xfrm>
            <a:off x="6172200" y="5623560"/>
            <a:ext cx="5468112" cy="594360"/>
          </a:xfrm>
          <a:prstGeom prst="roundRect">
            <a:avLst>
              <a:gd name="adj" fmla="val 18462"/>
            </a:avLst>
          </a:prstGeom>
          <a:solidFill>
            <a:schemeClr val="bg2"/>
          </a:solidFill>
          <a:ln w="12700">
            <a:solidFill>
              <a:schemeClr val="bg2"/>
            </a:solidFill>
            <a:prstDash val="solid"/>
          </a:ln>
        </p:spPr>
        <p:txBody>
          <a:bodyPr/>
          <a:lstStyle/>
          <a:p>
            <a:endParaRPr lang="en-US"/>
          </a:p>
        </p:txBody>
      </p:sp>
      <p:sp>
        <p:nvSpPr>
          <p:cNvPr id="76" name="Text 72"/>
          <p:cNvSpPr txBox="1"/>
          <p:nvPr/>
        </p:nvSpPr>
        <p:spPr>
          <a:xfrm>
            <a:off x="6355080" y="5623560"/>
            <a:ext cx="5148072" cy="594360"/>
          </a:xfrm>
          <a:prstGeom prst="rect">
            <a:avLst/>
          </a:prstGeom>
          <a:noFill/>
          <a:ln/>
        </p:spPr>
        <p:txBody>
          <a:bodyPr wrap="square" lIns="0" tIns="0" rIns="0" bIns="0" rtlCol="0" anchor="ctr"/>
          <a:lstStyle/>
          <a:p>
            <a:pPr marL="0" indent="0">
              <a:buNone/>
            </a:pPr>
            <a:r>
              <a:rPr lang="en-US" sz="1300" b="1" dirty="0">
                <a:solidFill>
                  <a:schemeClr val="tx1"/>
                </a:solidFill>
              </a:rPr>
              <a:t>Why? </a:t>
            </a:r>
            <a:r>
              <a:rPr lang="en-US" sz="1300" dirty="0">
                <a:solidFill>
                  <a:schemeClr val="tx1"/>
                </a:solidFill>
              </a:rPr>
              <a:t>With AutoComplete on, Excel may finish a scanned word for you: Depot becomes "Depot; Outpost".</a:t>
            </a:r>
            <a:endParaRPr lang="en-US" sz="1300" dirty="0"/>
          </a:p>
        </p:txBody>
      </p:sp>
      <p:sp>
        <p:nvSpPr>
          <p:cNvPr id="1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Test the scanner in Notepad</a:t>
            </a:r>
            <a:endParaRPr lang="en-US" sz="3600" dirty="0"/>
          </a:p>
        </p:txBody>
      </p:sp>
      <p:sp>
        <p:nvSpPr>
          <p:cNvPr id="4" name="Marker 1"/>
          <p:cNvSpPr txBox="1"/>
          <p:nvPr/>
        </p:nvSpPr>
        <p:spPr>
          <a:xfrm>
            <a:off x="548640" y="140817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5" name="Text 2"/>
          <p:cNvSpPr txBox="1"/>
          <p:nvPr/>
        </p:nvSpPr>
        <p:spPr>
          <a:xfrm>
            <a:off x="1078992" y="1435608"/>
            <a:ext cx="3493008" cy="97840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Open Notepad</a:t>
            </a:r>
            <a:endParaRPr lang="en-US" sz="1400" dirty="0"/>
          </a:p>
          <a:p>
            <a:pPr marL="0" indent="0">
              <a:spcAft>
                <a:spcPts val="200"/>
              </a:spcAft>
              <a:buNone/>
            </a:pPr>
            <a:r>
              <a:rPr lang="en-US" sz="1400" dirty="0">
                <a:solidFill>
                  <a:schemeClr val="tx2"/>
                </a:solidFill>
              </a:rPr>
              <a:t>Click Start, type Notepad, press Enter.</a:t>
            </a:r>
            <a:endParaRPr lang="en-US" sz="1400" dirty="0"/>
          </a:p>
        </p:txBody>
      </p:sp>
      <p:sp>
        <p:nvSpPr>
          <p:cNvPr id="6" name="Marker 2"/>
          <p:cNvSpPr txBox="1"/>
          <p:nvPr/>
        </p:nvSpPr>
        <p:spPr>
          <a:xfrm>
            <a:off x="548640" y="245973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7" name="Text 4"/>
          <p:cNvSpPr txBox="1"/>
          <p:nvPr/>
        </p:nvSpPr>
        <p:spPr>
          <a:xfrm>
            <a:off x="1078992" y="2487168"/>
            <a:ext cx="3493008" cy="97840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Make a test QR code</a:t>
            </a:r>
            <a:endParaRPr lang="en-US" sz="1400" dirty="0"/>
          </a:p>
          <a:p>
            <a:pPr marL="0" indent="0">
              <a:spcAft>
                <a:spcPts val="200"/>
              </a:spcAft>
              <a:buNone/>
            </a:pPr>
            <a:r>
              <a:rPr lang="en-US" sz="1400" dirty="0">
                <a:solidFill>
                  <a:schemeClr val="tx2"/>
                </a:solidFill>
              </a:rPr>
              <a:t>On a phone: fill in a Practice match and tap Submit &amp; show QR.</a:t>
            </a:r>
            <a:endParaRPr lang="en-US" sz="1400" dirty="0"/>
          </a:p>
        </p:txBody>
      </p:sp>
      <p:sp>
        <p:nvSpPr>
          <p:cNvPr id="8" name="Marker 3"/>
          <p:cNvSpPr txBox="1"/>
          <p:nvPr/>
        </p:nvSpPr>
        <p:spPr>
          <a:xfrm>
            <a:off x="548640" y="351129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9" name="Text 6"/>
          <p:cNvSpPr txBox="1"/>
          <p:nvPr/>
        </p:nvSpPr>
        <p:spPr>
          <a:xfrm>
            <a:off x="1078992" y="3538728"/>
            <a:ext cx="3493008" cy="978408"/>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Scan it</a:t>
            </a:r>
            <a:endParaRPr lang="en-US" sz="1400" dirty="0"/>
          </a:p>
          <a:p>
            <a:pPr marL="0" indent="0">
              <a:spcAft>
                <a:spcPts val="200"/>
              </a:spcAft>
              <a:buNone/>
            </a:pPr>
            <a:r>
              <a:rPr lang="en-US" sz="1400" dirty="0">
                <a:solidFill>
                  <a:schemeClr val="tx2"/>
                </a:solidFill>
              </a:rPr>
              <a:t>Point the scanner at the phone and pull the trigger.</a:t>
            </a:r>
            <a:endParaRPr lang="en-US" sz="1400" dirty="0"/>
          </a:p>
        </p:txBody>
      </p:sp>
      <p:sp>
        <p:nvSpPr>
          <p:cNvPr id="10" name="Notepad window"/>
          <p:cNvSpPr/>
          <p:nvPr/>
        </p:nvSpPr>
        <p:spPr>
          <a:xfrm>
            <a:off x="4983480" y="1371600"/>
            <a:ext cx="6656832" cy="233172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11" name="Notepad title bar"/>
          <p:cNvSpPr/>
          <p:nvPr/>
        </p:nvSpPr>
        <p:spPr>
          <a:xfrm>
            <a:off x="4983480" y="1371600"/>
            <a:ext cx="6656832" cy="329184"/>
          </a:xfrm>
          <a:prstGeom prst="rect">
            <a:avLst/>
          </a:prstGeom>
          <a:solidFill>
            <a:srgbClr val="F3F3F3"/>
          </a:solidFill>
          <a:ln w="12700">
            <a:solidFill>
              <a:srgbClr val="F3F3F3"/>
            </a:solidFill>
            <a:prstDash val="solid"/>
          </a:ln>
        </p:spPr>
        <p:txBody>
          <a:bodyPr/>
          <a:lstStyle/>
          <a:p>
            <a:endParaRPr lang="en-US"/>
          </a:p>
        </p:txBody>
      </p:sp>
      <p:sp>
        <p:nvSpPr>
          <p:cNvPr id="12" name="Text 9"/>
          <p:cNvSpPr txBox="1"/>
          <p:nvPr/>
        </p:nvSpPr>
        <p:spPr>
          <a:xfrm>
            <a:off x="5120640" y="1371600"/>
            <a:ext cx="3657600" cy="329184"/>
          </a:xfrm>
          <a:prstGeom prst="rect">
            <a:avLst/>
          </a:prstGeom>
          <a:noFill/>
          <a:ln/>
        </p:spPr>
        <p:txBody>
          <a:bodyPr wrap="square" lIns="0" tIns="0" rIns="0" bIns="0" rtlCol="0" anchor="ctr"/>
          <a:lstStyle/>
          <a:p>
            <a:pPr marL="0" indent="0">
              <a:buNone/>
            </a:pPr>
            <a:r>
              <a:rPr lang="en-US" sz="1100" dirty="0">
                <a:solidFill>
                  <a:srgbClr val="1C1C1C"/>
                </a:solidFill>
              </a:rPr>
              <a:t>Untitled - Notepad</a:t>
            </a:r>
            <a:endParaRPr lang="en-US" sz="1100" dirty="0"/>
          </a:p>
        </p:txBody>
      </p:sp>
      <p:sp>
        <p:nvSpPr>
          <p:cNvPr id="13" name="Text 10"/>
          <p:cNvSpPr txBox="1"/>
          <p:nvPr/>
        </p:nvSpPr>
        <p:spPr>
          <a:xfrm>
            <a:off x="10680192" y="1371600"/>
            <a:ext cx="868680" cy="329184"/>
          </a:xfrm>
          <a:prstGeom prst="rect">
            <a:avLst/>
          </a:prstGeom>
          <a:noFill/>
          <a:ln/>
        </p:spPr>
        <p:txBody>
          <a:bodyPr wrap="square" lIns="0" tIns="0" rIns="0" bIns="0" rtlCol="0" anchor="ctr"/>
          <a:lstStyle/>
          <a:p>
            <a:pPr marL="0" indent="0" algn="r">
              <a:buNone/>
            </a:pPr>
            <a:r>
              <a:rPr lang="en-US" sz="1000" dirty="0">
                <a:solidFill>
                  <a:srgbClr val="1C1C1C"/>
                </a:solidFill>
              </a:rPr>
              <a:t>—   ☐   ✕</a:t>
            </a:r>
            <a:endParaRPr lang="en-US" sz="1000" dirty="0"/>
          </a:p>
        </p:txBody>
      </p:sp>
      <p:sp>
        <p:nvSpPr>
          <p:cNvPr id="14" name="Text 11"/>
          <p:cNvSpPr txBox="1"/>
          <p:nvPr/>
        </p:nvSpPr>
        <p:spPr>
          <a:xfrm>
            <a:off x="5120640" y="1719072"/>
            <a:ext cx="3657600" cy="274320"/>
          </a:xfrm>
          <a:prstGeom prst="rect">
            <a:avLst/>
          </a:prstGeom>
          <a:noFill/>
          <a:ln/>
        </p:spPr>
        <p:txBody>
          <a:bodyPr wrap="square" lIns="0" tIns="0" rIns="0" bIns="0" rtlCol="0" anchor="ctr"/>
          <a:lstStyle/>
          <a:p>
            <a:pPr marL="0" indent="0">
              <a:buNone/>
            </a:pPr>
            <a:r>
              <a:rPr lang="en-US" sz="1000" dirty="0">
                <a:solidFill>
                  <a:srgbClr val="1C1C1C"/>
                </a:solidFill>
              </a:rPr>
              <a:t>File      Edit      View</a:t>
            </a:r>
            <a:endParaRPr lang="en-US" sz="1000" dirty="0"/>
          </a:p>
        </p:txBody>
      </p:sp>
      <p:sp>
        <p:nvSpPr>
          <p:cNvPr id="15" name="Separator"/>
          <p:cNvSpPr/>
          <p:nvPr/>
        </p:nvSpPr>
        <p:spPr>
          <a:xfrm>
            <a:off x="4983480" y="2011680"/>
            <a:ext cx="6656832" cy="0"/>
          </a:xfrm>
          <a:prstGeom prst="line">
            <a:avLst/>
          </a:prstGeom>
          <a:noFill/>
          <a:ln w="9525">
            <a:solidFill>
              <a:srgbClr val="E0E0E0"/>
            </a:solidFill>
            <a:prstDash val="solid"/>
          </a:ln>
        </p:spPr>
        <p:txBody>
          <a:bodyPr/>
          <a:lstStyle/>
          <a:p>
            <a:endParaRPr lang="en-US"/>
          </a:p>
        </p:txBody>
      </p:sp>
      <p:sp>
        <p:nvSpPr>
          <p:cNvPr id="16" name="Text 13"/>
          <p:cNvSpPr txBox="1"/>
          <p:nvPr/>
        </p:nvSpPr>
        <p:spPr>
          <a:xfrm>
            <a:off x="5166360" y="2148840"/>
            <a:ext cx="6382512" cy="320040"/>
          </a:xfrm>
          <a:prstGeom prst="rect">
            <a:avLst/>
          </a:prstGeom>
          <a:noFill/>
          <a:ln/>
        </p:spPr>
        <p:txBody>
          <a:bodyPr wrap="square" lIns="0" tIns="0" rIns="0" bIns="0" rtlCol="0" anchor="ctr"/>
          <a:lstStyle/>
          <a:p>
            <a:pPr marL="0" indent="0">
              <a:buNone/>
            </a:pPr>
            <a:r>
              <a:rPr lang="en-US" sz="1200" dirty="0">
                <a:solidFill>
                  <a:srgbClr val="1C1C1C"/>
                </a:solidFill>
                <a:latin typeface="Consolas" pitchFamily="34" charset="0"/>
                <a:ea typeface="Consolas" pitchFamily="34" charset="-122"/>
                <a:cs typeface="Consolas" pitchFamily="34" charset="-120"/>
              </a:rPr>
              <a:t>Practice    1    1736    Blue    2    Alex    Yes    Center    8    8    2</a:t>
            </a:r>
            <a:endParaRPr lang="en-US" sz="1200" dirty="0"/>
          </a:p>
        </p:txBody>
      </p:sp>
      <p:sp>
        <p:nvSpPr>
          <p:cNvPr id="17" name="Text 14"/>
          <p:cNvSpPr txBox="1"/>
          <p:nvPr/>
        </p:nvSpPr>
        <p:spPr>
          <a:xfrm>
            <a:off x="5166360" y="2487168"/>
            <a:ext cx="274320" cy="320040"/>
          </a:xfrm>
          <a:prstGeom prst="rect">
            <a:avLst/>
          </a:prstGeom>
          <a:noFill/>
          <a:ln/>
        </p:spPr>
        <p:txBody>
          <a:bodyPr wrap="square" lIns="0" tIns="0" rIns="0" bIns="0" rtlCol="0" anchor="ctr"/>
          <a:lstStyle/>
          <a:p>
            <a:pPr marL="0" indent="0">
              <a:buNone/>
            </a:pPr>
            <a:r>
              <a:rPr lang="en-US" sz="1300" dirty="0">
                <a:solidFill>
                  <a:srgbClr val="1C1C1C"/>
                </a:solidFill>
                <a:latin typeface="Consolas" pitchFamily="34" charset="0"/>
                <a:ea typeface="Consolas" pitchFamily="34" charset="-122"/>
                <a:cs typeface="Consolas" pitchFamily="34" charset="-120"/>
              </a:rPr>
              <a:t>|</a:t>
            </a:r>
            <a:endParaRPr lang="en-US" sz="1300" dirty="0"/>
          </a:p>
        </p:txBody>
      </p:sp>
      <p:sp>
        <p:nvSpPr>
          <p:cNvPr id="18" name="Marker A"/>
          <p:cNvSpPr txBox="1"/>
          <p:nvPr/>
        </p:nvSpPr>
        <p:spPr>
          <a:xfrm>
            <a:off x="5907024" y="2615184"/>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A</a:t>
            </a:r>
            <a:endParaRPr lang="en-US" sz="1300" dirty="0"/>
          </a:p>
        </p:txBody>
      </p:sp>
      <p:sp>
        <p:nvSpPr>
          <p:cNvPr id="19" name="Marker B"/>
          <p:cNvSpPr txBox="1"/>
          <p:nvPr/>
        </p:nvSpPr>
        <p:spPr>
          <a:xfrm>
            <a:off x="5312664" y="2478024"/>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B</a:t>
            </a:r>
            <a:endParaRPr lang="en-US" sz="1300" dirty="0"/>
          </a:p>
        </p:txBody>
      </p:sp>
      <p:sp>
        <p:nvSpPr>
          <p:cNvPr id="20" name="Text 17"/>
          <p:cNvSpPr txBox="1"/>
          <p:nvPr/>
        </p:nvSpPr>
        <p:spPr>
          <a:xfrm>
            <a:off x="5166360" y="3246120"/>
            <a:ext cx="6291072" cy="320040"/>
          </a:xfrm>
          <a:prstGeom prst="rect">
            <a:avLst/>
          </a:prstGeom>
          <a:noFill/>
          <a:ln/>
        </p:spPr>
        <p:txBody>
          <a:bodyPr wrap="square" lIns="0" tIns="0" rIns="0" bIns="0" rtlCol="0" anchor="ctr"/>
          <a:lstStyle/>
          <a:p>
            <a:pPr marL="0" indent="0">
              <a:buNone/>
            </a:pPr>
            <a:r>
              <a:rPr lang="en-US" sz="1200" dirty="0">
                <a:solidFill>
                  <a:srgbClr val="666666"/>
                </a:solidFill>
              </a:rPr>
              <a:t>A  gap = Tab     B  new line = Enter</a:t>
            </a:r>
            <a:endParaRPr lang="en-US" sz="1200" dirty="0"/>
          </a:p>
        </p:txBody>
      </p:sp>
      <p:sp>
        <p:nvSpPr>
          <p:cNvPr id="21" name="Gaps between the answers card"/>
          <p:cNvSpPr/>
          <p:nvPr/>
        </p:nvSpPr>
        <p:spPr>
          <a:xfrm>
            <a:off x="4983480" y="3977640"/>
            <a:ext cx="3191256"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22" name="Gaps between the answers circle"/>
          <p:cNvSpPr/>
          <p:nvPr/>
        </p:nvSpPr>
        <p:spPr>
          <a:xfrm>
            <a:off x="5148072" y="4206240"/>
            <a:ext cx="502920" cy="502920"/>
          </a:xfrm>
          <a:prstGeom prst="ellipse">
            <a:avLst/>
          </a:prstGeom>
          <a:solidFill>
            <a:srgbClr val="12B4AF"/>
          </a:solidFill>
          <a:ln w="12700">
            <a:solidFill>
              <a:srgbClr val="12B4AF"/>
            </a:solidFill>
            <a:prstDash val="solid"/>
          </a:ln>
        </p:spPr>
        <p:txBody>
          <a:bodyPr/>
          <a:lstStyle/>
          <a:p>
            <a:endParaRPr lang="en-US"/>
          </a:p>
        </p:txBody>
      </p:sp>
      <p:pic>
        <p:nvPicPr>
          <p:cNvPr id="23" name="Gaps between the answers" descr="Gaps between the answers"/>
          <p:cNvPicPr>
            <a:picLocks noChangeAspect="1"/>
          </p:cNvPicPr>
          <p:nvPr/>
        </p:nvPicPr>
        <p:blipFill>
          <a:blip r:embed="rId3"/>
          <a:stretch>
            <a:fillRect/>
          </a:stretch>
        </p:blipFill>
        <p:spPr>
          <a:xfrm>
            <a:off x="5268773" y="4326941"/>
            <a:ext cx="261518" cy="261518"/>
          </a:xfrm>
          <a:prstGeom prst="rect">
            <a:avLst/>
          </a:prstGeom>
        </p:spPr>
      </p:pic>
      <p:sp>
        <p:nvSpPr>
          <p:cNvPr id="24" name="Text 20"/>
          <p:cNvSpPr txBox="1"/>
          <p:nvPr/>
        </p:nvSpPr>
        <p:spPr>
          <a:xfrm>
            <a:off x="5806440" y="4069080"/>
            <a:ext cx="2231136" cy="841248"/>
          </a:xfrm>
          <a:prstGeom prst="rect">
            <a:avLst/>
          </a:prstGeom>
          <a:noFill/>
          <a:ln/>
        </p:spPr>
        <p:txBody>
          <a:bodyPr wrap="square" lIns="0" tIns="0" rIns="0" bIns="0" rtlCol="0" anchor="ctr"/>
          <a:lstStyle/>
          <a:p>
            <a:pPr marL="0" indent="0">
              <a:buNone/>
            </a:pPr>
            <a:r>
              <a:rPr lang="en-US" sz="1500" b="1" dirty="0">
                <a:solidFill>
                  <a:schemeClr val="tx1"/>
                </a:solidFill>
              </a:rPr>
              <a:t>Gaps between the answers</a:t>
            </a:r>
            <a:endParaRPr lang="en-US" sz="1400" dirty="0"/>
          </a:p>
          <a:p>
            <a:pPr marL="0" indent="0">
              <a:buNone/>
            </a:pPr>
            <a:r>
              <a:rPr lang="en-US" sz="1300" dirty="0">
                <a:solidFill>
                  <a:schemeClr val="tx2"/>
                </a:solidFill>
              </a:rPr>
              <a:t>Those are Tabs (A). Good.</a:t>
            </a:r>
            <a:endParaRPr lang="en-US" sz="1400" dirty="0"/>
          </a:p>
        </p:txBody>
      </p:sp>
      <p:sp>
        <p:nvSpPr>
          <p:cNvPr id="25" name="Cursor jumps to a new line card"/>
          <p:cNvSpPr/>
          <p:nvPr/>
        </p:nvSpPr>
        <p:spPr>
          <a:xfrm>
            <a:off x="8449056" y="3977640"/>
            <a:ext cx="3191256"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26" name="Cursor jumps to a new line circle"/>
          <p:cNvSpPr/>
          <p:nvPr/>
        </p:nvSpPr>
        <p:spPr>
          <a:xfrm>
            <a:off x="8613648" y="4206240"/>
            <a:ext cx="502920" cy="502920"/>
          </a:xfrm>
          <a:prstGeom prst="ellipse">
            <a:avLst/>
          </a:prstGeom>
          <a:solidFill>
            <a:srgbClr val="12B4AF"/>
          </a:solidFill>
          <a:ln w="12700">
            <a:solidFill>
              <a:srgbClr val="12B4AF"/>
            </a:solidFill>
            <a:prstDash val="solid"/>
          </a:ln>
        </p:spPr>
        <p:txBody>
          <a:bodyPr/>
          <a:lstStyle/>
          <a:p>
            <a:endParaRPr lang="en-US"/>
          </a:p>
        </p:txBody>
      </p:sp>
      <p:pic>
        <p:nvPicPr>
          <p:cNvPr id="27" name="Cursor jumps to a new line" descr="Cursor jumps to a new line"/>
          <p:cNvPicPr>
            <a:picLocks noChangeAspect="1"/>
          </p:cNvPicPr>
          <p:nvPr/>
        </p:nvPicPr>
        <p:blipFill>
          <a:blip r:embed="rId3"/>
          <a:stretch>
            <a:fillRect/>
          </a:stretch>
        </p:blipFill>
        <p:spPr>
          <a:xfrm>
            <a:off x="8734349" y="4326941"/>
            <a:ext cx="261518" cy="261518"/>
          </a:xfrm>
          <a:prstGeom prst="rect">
            <a:avLst/>
          </a:prstGeom>
        </p:spPr>
      </p:pic>
      <p:sp>
        <p:nvSpPr>
          <p:cNvPr id="28" name="Text 23"/>
          <p:cNvSpPr txBox="1"/>
          <p:nvPr/>
        </p:nvSpPr>
        <p:spPr>
          <a:xfrm>
            <a:off x="9272016" y="4069080"/>
            <a:ext cx="2231136" cy="841248"/>
          </a:xfrm>
          <a:prstGeom prst="rect">
            <a:avLst/>
          </a:prstGeom>
          <a:noFill/>
          <a:ln/>
        </p:spPr>
        <p:txBody>
          <a:bodyPr wrap="square" lIns="0" tIns="0" rIns="0" bIns="0" rtlCol="0" anchor="ctr"/>
          <a:lstStyle/>
          <a:p>
            <a:pPr marL="0" indent="0">
              <a:buNone/>
            </a:pPr>
            <a:r>
              <a:rPr lang="en-US" sz="1500" b="1" dirty="0">
                <a:solidFill>
                  <a:schemeClr val="tx1"/>
                </a:solidFill>
              </a:rPr>
              <a:t>Cursor jumps to a new line</a:t>
            </a:r>
            <a:endParaRPr lang="en-US" sz="1400" dirty="0"/>
          </a:p>
          <a:p>
            <a:pPr marL="0" indent="0">
              <a:buNone/>
            </a:pPr>
            <a:r>
              <a:rPr lang="en-US" sz="1300" dirty="0">
                <a:solidFill>
                  <a:schemeClr val="tx2"/>
                </a:solidFill>
              </a:rPr>
              <a:t>That's Enter (B). Good.</a:t>
            </a:r>
            <a:endParaRPr lang="en-US" sz="1400" dirty="0"/>
          </a:p>
        </p:txBody>
      </p:sp>
      <p:sp>
        <p:nvSpPr>
          <p:cNvPr id="29" name="Strange letters or symbols card"/>
          <p:cNvSpPr/>
          <p:nvPr/>
        </p:nvSpPr>
        <p:spPr>
          <a:xfrm>
            <a:off x="4983480" y="5120640"/>
            <a:ext cx="3191256"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30" name="Strange letters or symbols circle"/>
          <p:cNvSpPr/>
          <p:nvPr/>
        </p:nvSpPr>
        <p:spPr>
          <a:xfrm>
            <a:off x="5148072" y="5349240"/>
            <a:ext cx="502920" cy="502920"/>
          </a:xfrm>
          <a:prstGeom prst="ellipse">
            <a:avLst/>
          </a:prstGeom>
          <a:solidFill>
            <a:srgbClr val="D63A3A"/>
          </a:solidFill>
          <a:ln w="12700">
            <a:solidFill>
              <a:srgbClr val="D63A3A"/>
            </a:solidFill>
            <a:prstDash val="solid"/>
          </a:ln>
        </p:spPr>
        <p:txBody>
          <a:bodyPr/>
          <a:lstStyle/>
          <a:p>
            <a:endParaRPr lang="en-US"/>
          </a:p>
        </p:txBody>
      </p:sp>
      <p:pic>
        <p:nvPicPr>
          <p:cNvPr id="31" name="Strange letters or symbols" descr="Strange letters or symbols"/>
          <p:cNvPicPr>
            <a:picLocks noChangeAspect="1"/>
          </p:cNvPicPr>
          <p:nvPr/>
        </p:nvPicPr>
        <p:blipFill>
          <a:blip r:embed="rId4"/>
          <a:stretch>
            <a:fillRect/>
          </a:stretch>
        </p:blipFill>
        <p:spPr>
          <a:xfrm>
            <a:off x="5268773" y="5469941"/>
            <a:ext cx="261518" cy="261518"/>
          </a:xfrm>
          <a:prstGeom prst="rect">
            <a:avLst/>
          </a:prstGeom>
        </p:spPr>
      </p:pic>
      <p:sp>
        <p:nvSpPr>
          <p:cNvPr id="32" name="Text 26"/>
          <p:cNvSpPr txBox="1"/>
          <p:nvPr/>
        </p:nvSpPr>
        <p:spPr>
          <a:xfrm>
            <a:off x="5806440" y="5212080"/>
            <a:ext cx="2231136" cy="841248"/>
          </a:xfrm>
          <a:prstGeom prst="rect">
            <a:avLst/>
          </a:prstGeom>
          <a:noFill/>
          <a:ln/>
        </p:spPr>
        <p:txBody>
          <a:bodyPr wrap="square" lIns="0" tIns="0" rIns="0" bIns="0" rtlCol="0" anchor="ctr"/>
          <a:lstStyle/>
          <a:p>
            <a:pPr marL="0" indent="0">
              <a:buNone/>
            </a:pPr>
            <a:r>
              <a:rPr lang="en-US" sz="1500" b="1" dirty="0">
                <a:solidFill>
                  <a:schemeClr val="tx1"/>
                </a:solidFill>
              </a:rPr>
              <a:t>Strange letters or symbols</a:t>
            </a:r>
            <a:endParaRPr lang="en-US" sz="1400" dirty="0"/>
          </a:p>
          <a:p>
            <a:pPr marL="0" indent="0">
              <a:buNone/>
            </a:pPr>
            <a:r>
              <a:rPr lang="en-US" sz="1300" dirty="0">
                <a:solidFill>
                  <a:schemeClr val="tx2"/>
                </a:solidFill>
              </a:rPr>
              <a:t>Set the scanner's keyboard language to match Windows (see its manual).</a:t>
            </a:r>
            <a:endParaRPr lang="en-US" sz="1400" dirty="0"/>
          </a:p>
        </p:txBody>
      </p:sp>
      <p:sp>
        <p:nvSpPr>
          <p:cNvPr id="33" name="Nothing appears card"/>
          <p:cNvSpPr/>
          <p:nvPr/>
        </p:nvSpPr>
        <p:spPr>
          <a:xfrm>
            <a:off x="8449056" y="5120640"/>
            <a:ext cx="3191256"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34" name="Nothing appears circle"/>
          <p:cNvSpPr/>
          <p:nvPr/>
        </p:nvSpPr>
        <p:spPr>
          <a:xfrm>
            <a:off x="8613648" y="5349240"/>
            <a:ext cx="502920" cy="502920"/>
          </a:xfrm>
          <a:prstGeom prst="ellipse">
            <a:avLst/>
          </a:prstGeom>
          <a:solidFill>
            <a:srgbClr val="D63A3A"/>
          </a:solidFill>
          <a:ln w="12700">
            <a:solidFill>
              <a:srgbClr val="D63A3A"/>
            </a:solidFill>
            <a:prstDash val="solid"/>
          </a:ln>
        </p:spPr>
        <p:txBody>
          <a:bodyPr/>
          <a:lstStyle/>
          <a:p>
            <a:endParaRPr lang="en-US"/>
          </a:p>
        </p:txBody>
      </p:sp>
      <p:pic>
        <p:nvPicPr>
          <p:cNvPr id="35" name="Nothing appears" descr="Nothing appears"/>
          <p:cNvPicPr>
            <a:picLocks noChangeAspect="1"/>
          </p:cNvPicPr>
          <p:nvPr/>
        </p:nvPicPr>
        <p:blipFill>
          <a:blip r:embed="rId4"/>
          <a:stretch>
            <a:fillRect/>
          </a:stretch>
        </p:blipFill>
        <p:spPr>
          <a:xfrm>
            <a:off x="8734349" y="5469941"/>
            <a:ext cx="261518" cy="261518"/>
          </a:xfrm>
          <a:prstGeom prst="rect">
            <a:avLst/>
          </a:prstGeom>
        </p:spPr>
      </p:pic>
      <p:sp>
        <p:nvSpPr>
          <p:cNvPr id="36" name="Text 29"/>
          <p:cNvSpPr txBox="1"/>
          <p:nvPr/>
        </p:nvSpPr>
        <p:spPr>
          <a:xfrm>
            <a:off x="9272016" y="5212080"/>
            <a:ext cx="2231136" cy="841248"/>
          </a:xfrm>
          <a:prstGeom prst="rect">
            <a:avLst/>
          </a:prstGeom>
          <a:noFill/>
          <a:ln/>
        </p:spPr>
        <p:txBody>
          <a:bodyPr wrap="square" lIns="0" tIns="0" rIns="0" bIns="0" rtlCol="0" anchor="ctr"/>
          <a:lstStyle/>
          <a:p>
            <a:pPr marL="0" indent="0">
              <a:buNone/>
            </a:pPr>
            <a:r>
              <a:rPr lang="en-US" sz="1500" b="1" dirty="0">
                <a:solidFill>
                  <a:schemeClr val="tx1"/>
                </a:solidFill>
              </a:rPr>
              <a:t>Nothing appears</a:t>
            </a:r>
            <a:endParaRPr lang="en-US" sz="1400" dirty="0"/>
          </a:p>
          <a:p>
            <a:pPr marL="0" indent="0">
              <a:buNone/>
            </a:pPr>
            <a:r>
              <a:rPr lang="en-US" sz="1300" dirty="0">
                <a:solidFill>
                  <a:schemeClr val="tx2"/>
                </a:solidFill>
              </a:rPr>
              <a:t>Check the cable or Bluetooth pairing, and that it's in keyboard mode.</a:t>
            </a:r>
            <a:endParaRPr lang="en-US" sz="14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Scan a QR code into Excel</a:t>
            </a:r>
            <a:endParaRPr lang="en-US" sz="3600" dirty="0"/>
          </a:p>
        </p:txBody>
      </p:sp>
      <p:sp>
        <p:nvSpPr>
          <p:cNvPr id="4" name="Marker 1"/>
          <p:cNvSpPr txBox="1"/>
          <p:nvPr/>
        </p:nvSpPr>
        <p:spPr>
          <a:xfrm>
            <a:off x="548640" y="13624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5" name="Text 2"/>
          <p:cNvSpPr txBox="1"/>
          <p:nvPr/>
        </p:nvSpPr>
        <p:spPr>
          <a:xfrm>
            <a:off x="1078992" y="1389888"/>
            <a:ext cx="3355848" cy="9601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Click the Scans tab</a:t>
            </a:r>
            <a:endParaRPr lang="en-US" sz="1400" dirty="0"/>
          </a:p>
          <a:p>
            <a:pPr marL="0" indent="0">
              <a:spcAft>
                <a:spcPts val="200"/>
              </a:spcAft>
              <a:buNone/>
            </a:pPr>
            <a:r>
              <a:rPr lang="en-US" sz="1400" dirty="0">
                <a:solidFill>
                  <a:schemeClr val="tx2"/>
                </a:solidFill>
              </a:rPr>
              <a:t>At the bottom of the window.</a:t>
            </a:r>
            <a:endParaRPr lang="en-US" sz="1400" dirty="0"/>
          </a:p>
        </p:txBody>
      </p:sp>
      <p:sp>
        <p:nvSpPr>
          <p:cNvPr id="6" name="Marker 2"/>
          <p:cNvSpPr txBox="1"/>
          <p:nvPr/>
        </p:nvSpPr>
        <p:spPr>
          <a:xfrm>
            <a:off x="548640" y="239572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7" name="Text 4"/>
          <p:cNvSpPr txBox="1"/>
          <p:nvPr/>
        </p:nvSpPr>
        <p:spPr>
          <a:xfrm>
            <a:off x="1078992" y="2423160"/>
            <a:ext cx="3355848" cy="9601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Click the first empty cell in column A</a:t>
            </a:r>
            <a:endParaRPr lang="en-US" sz="1400" dirty="0"/>
          </a:p>
          <a:p>
            <a:pPr marL="0" indent="0">
              <a:spcAft>
                <a:spcPts val="200"/>
              </a:spcAft>
              <a:buNone/>
            </a:pPr>
            <a:r>
              <a:rPr lang="en-US" sz="1400" dirty="0">
                <a:solidFill>
                  <a:schemeClr val="tx2"/>
                </a:solidFill>
              </a:rPr>
              <a:t>Here that's A5. Always column A!</a:t>
            </a:r>
            <a:endParaRPr lang="en-US" sz="1400" dirty="0"/>
          </a:p>
        </p:txBody>
      </p:sp>
      <p:sp>
        <p:nvSpPr>
          <p:cNvPr id="8" name="Marker 3"/>
          <p:cNvSpPr txBox="1"/>
          <p:nvPr/>
        </p:nvSpPr>
        <p:spPr>
          <a:xfrm>
            <a:off x="548640" y="342900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9" name="Text 6"/>
          <p:cNvSpPr txBox="1"/>
          <p:nvPr/>
        </p:nvSpPr>
        <p:spPr>
          <a:xfrm>
            <a:off x="1078992" y="3456432"/>
            <a:ext cx="3355848" cy="9601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Scan the phone</a:t>
            </a:r>
            <a:endParaRPr lang="en-US" sz="1400" dirty="0"/>
          </a:p>
          <a:p>
            <a:pPr marL="0" indent="0">
              <a:spcAft>
                <a:spcPts val="200"/>
              </a:spcAft>
              <a:buNone/>
            </a:pPr>
            <a:r>
              <a:rPr lang="en-US" sz="1400" dirty="0">
                <a:solidFill>
                  <a:schemeClr val="tx2"/>
                </a:solidFill>
              </a:rPr>
              <a:t>Point the scanner at the QR code and pull the trigger.</a:t>
            </a:r>
            <a:endParaRPr lang="en-US" sz="1400" dirty="0"/>
          </a:p>
        </p:txBody>
      </p:sp>
      <p:sp>
        <p:nvSpPr>
          <p:cNvPr id="10" name="Marker 4"/>
          <p:cNvSpPr txBox="1"/>
          <p:nvPr/>
        </p:nvSpPr>
        <p:spPr>
          <a:xfrm>
            <a:off x="548640" y="446227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1" name="Text 8"/>
          <p:cNvSpPr txBox="1"/>
          <p:nvPr/>
        </p:nvSpPr>
        <p:spPr>
          <a:xfrm>
            <a:off x="1078992" y="4489704"/>
            <a:ext cx="3355848" cy="96012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Watch the row fill in</a:t>
            </a:r>
            <a:endParaRPr lang="en-US" sz="1400" dirty="0"/>
          </a:p>
          <a:p>
            <a:pPr marL="0" indent="0">
              <a:spcAft>
                <a:spcPts val="200"/>
              </a:spcAft>
              <a:buNone/>
            </a:pPr>
            <a:r>
              <a:rPr lang="en-US" sz="1400" dirty="0">
                <a:solidFill>
                  <a:schemeClr val="tx2"/>
                </a:solidFill>
              </a:rPr>
              <a:t>The cursor jumps to the next row by itself. Ready for the next phone.</a:t>
            </a:r>
            <a:endParaRPr lang="en-US" sz="1400" dirty="0"/>
          </a:p>
        </p:txBody>
      </p:sp>
      <p:sp>
        <p:nvSpPr>
          <p:cNvPr id="12" name="Save note"/>
          <p:cNvSpPr/>
          <p:nvPr/>
        </p:nvSpPr>
        <p:spPr>
          <a:xfrm>
            <a:off x="548640" y="5623560"/>
            <a:ext cx="3886200" cy="594360"/>
          </a:xfrm>
          <a:prstGeom prst="roundRect">
            <a:avLst>
              <a:gd name="adj" fmla="val 18462"/>
            </a:avLst>
          </a:prstGeom>
          <a:solidFill>
            <a:schemeClr val="bg2"/>
          </a:solidFill>
          <a:ln w="12700">
            <a:solidFill>
              <a:schemeClr val="bg2"/>
            </a:solidFill>
            <a:prstDash val="solid"/>
          </a:ln>
        </p:spPr>
        <p:txBody>
          <a:bodyPr/>
          <a:lstStyle/>
          <a:p>
            <a:endParaRPr lang="en-US"/>
          </a:p>
        </p:txBody>
      </p:sp>
      <p:pic>
        <p:nvPicPr>
          <p:cNvPr id="13" name="Save icon" descr="Save"/>
          <p:cNvPicPr>
            <a:picLocks noChangeAspect="1"/>
          </p:cNvPicPr>
          <p:nvPr/>
        </p:nvPicPr>
        <p:blipFill>
          <a:blip r:embed="rId3"/>
          <a:stretch>
            <a:fillRect/>
          </a:stretch>
        </p:blipFill>
        <p:spPr>
          <a:xfrm>
            <a:off x="731520" y="5742432"/>
            <a:ext cx="347472" cy="347472"/>
          </a:xfrm>
          <a:prstGeom prst="rect">
            <a:avLst/>
          </a:prstGeom>
        </p:spPr>
      </p:pic>
      <p:sp>
        <p:nvSpPr>
          <p:cNvPr id="14" name="Text 10"/>
          <p:cNvSpPr txBox="1"/>
          <p:nvPr/>
        </p:nvSpPr>
        <p:spPr>
          <a:xfrm>
            <a:off x="1234440" y="5623560"/>
            <a:ext cx="3108960" cy="594360"/>
          </a:xfrm>
          <a:prstGeom prst="rect">
            <a:avLst/>
          </a:prstGeom>
          <a:noFill/>
          <a:ln/>
        </p:spPr>
        <p:txBody>
          <a:bodyPr wrap="square" lIns="0" tIns="0" rIns="0" bIns="0" rtlCol="0" anchor="ctr"/>
          <a:lstStyle/>
          <a:p>
            <a:pPr marL="0" indent="0">
              <a:buNone/>
            </a:pPr>
            <a:r>
              <a:rPr lang="en-US" sz="1500" b="1" dirty="0">
                <a:solidFill>
                  <a:schemeClr val="tx1"/>
                </a:solidFill>
              </a:rPr>
              <a:t>Save every few scans: </a:t>
            </a:r>
            <a:r>
              <a:rPr lang="en-US" sz="1500" dirty="0">
                <a:solidFill>
                  <a:schemeClr val="tx1"/>
                </a:solidFill>
              </a:rPr>
              <a:t>Ctrl + S</a:t>
            </a:r>
            <a:endParaRPr lang="en-US" sz="1500" dirty="0"/>
          </a:p>
        </p:txBody>
      </p:sp>
      <p:sp>
        <p:nvSpPr>
          <p:cNvPr id="15" name="Excel window"/>
          <p:cNvSpPr/>
          <p:nvPr/>
        </p:nvSpPr>
        <p:spPr>
          <a:xfrm>
            <a:off x="4800600" y="1371600"/>
            <a:ext cx="6839712" cy="484632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16" name="Excel title bar"/>
          <p:cNvSpPr/>
          <p:nvPr/>
        </p:nvSpPr>
        <p:spPr>
          <a:xfrm>
            <a:off x="4800600" y="1371600"/>
            <a:ext cx="6839712" cy="310896"/>
          </a:xfrm>
          <a:prstGeom prst="rect">
            <a:avLst/>
          </a:prstGeom>
          <a:solidFill>
            <a:srgbClr val="1E7145"/>
          </a:solidFill>
          <a:ln w="12700">
            <a:solidFill>
              <a:srgbClr val="1E7145"/>
            </a:solidFill>
            <a:prstDash val="solid"/>
          </a:ln>
        </p:spPr>
        <p:txBody>
          <a:bodyPr/>
          <a:lstStyle/>
          <a:p>
            <a:endParaRPr lang="en-US"/>
          </a:p>
        </p:txBody>
      </p:sp>
      <p:sp>
        <p:nvSpPr>
          <p:cNvPr id="17" name="Text 13"/>
          <p:cNvSpPr txBox="1"/>
          <p:nvPr/>
        </p:nvSpPr>
        <p:spPr>
          <a:xfrm>
            <a:off x="4937760" y="1371600"/>
            <a:ext cx="5650992" cy="310896"/>
          </a:xfrm>
          <a:prstGeom prst="rect">
            <a:avLst/>
          </a:prstGeom>
          <a:noFill/>
          <a:ln/>
        </p:spPr>
        <p:txBody>
          <a:bodyPr wrap="square" lIns="0" tIns="0" rIns="0" bIns="0" rtlCol="0" anchor="ctr"/>
          <a:lstStyle/>
          <a:p>
            <a:pPr marL="0" indent="0" algn="l">
              <a:buNone/>
            </a:pPr>
            <a:r>
              <a:rPr lang="en-US" sz="1100" dirty="0">
                <a:solidFill>
                  <a:srgbClr val="FFFFFF"/>
                </a:solidFill>
              </a:rPr>
              <a:t>DERT_Scouting_REBUILT.xlsx  -  Excel</a:t>
            </a:r>
            <a:endParaRPr lang="en-US" sz="1100" dirty="0"/>
          </a:p>
        </p:txBody>
      </p:sp>
      <p:sp>
        <p:nvSpPr>
          <p:cNvPr id="18" name="Text 14"/>
          <p:cNvSpPr txBox="1"/>
          <p:nvPr/>
        </p:nvSpPr>
        <p:spPr>
          <a:xfrm>
            <a:off x="10680192" y="1371600"/>
            <a:ext cx="868680" cy="310896"/>
          </a:xfrm>
          <a:prstGeom prst="rect">
            <a:avLst/>
          </a:prstGeom>
          <a:noFill/>
          <a:ln/>
        </p:spPr>
        <p:txBody>
          <a:bodyPr wrap="square" lIns="0" tIns="0" rIns="0" bIns="0" rtlCol="0" anchor="ctr"/>
          <a:lstStyle/>
          <a:p>
            <a:pPr marL="0" indent="0" algn="r">
              <a:buNone/>
            </a:pPr>
            <a:r>
              <a:rPr lang="en-US" sz="1000" dirty="0">
                <a:solidFill>
                  <a:srgbClr val="FFFFFF"/>
                </a:solidFill>
              </a:rPr>
              <a:t>—   ☐   ✕</a:t>
            </a:r>
            <a:endParaRPr lang="en-US" sz="1000" dirty="0"/>
          </a:p>
        </p:txBody>
      </p:sp>
      <p:sp>
        <p:nvSpPr>
          <p:cNvPr id="19" name="Ribbon tabs"/>
          <p:cNvSpPr/>
          <p:nvPr/>
        </p:nvSpPr>
        <p:spPr>
          <a:xfrm>
            <a:off x="4800600" y="1682496"/>
            <a:ext cx="6839712" cy="274320"/>
          </a:xfrm>
          <a:prstGeom prst="rect">
            <a:avLst/>
          </a:prstGeom>
          <a:solidFill>
            <a:srgbClr val="F3F3F3"/>
          </a:solidFill>
          <a:ln w="12700">
            <a:solidFill>
              <a:srgbClr val="F3F3F3"/>
            </a:solidFill>
            <a:prstDash val="solid"/>
          </a:ln>
        </p:spPr>
        <p:txBody>
          <a:bodyPr/>
          <a:lstStyle/>
          <a:p>
            <a:endParaRPr lang="en-US"/>
          </a:p>
        </p:txBody>
      </p:sp>
      <p:sp>
        <p:nvSpPr>
          <p:cNvPr id="20" name="Text 16"/>
          <p:cNvSpPr txBox="1"/>
          <p:nvPr/>
        </p:nvSpPr>
        <p:spPr>
          <a:xfrm>
            <a:off x="4937760" y="1682496"/>
            <a:ext cx="6565392" cy="274320"/>
          </a:xfrm>
          <a:prstGeom prst="rect">
            <a:avLst/>
          </a:prstGeom>
          <a:noFill/>
          <a:ln/>
        </p:spPr>
        <p:txBody>
          <a:bodyPr wrap="square" lIns="0" tIns="0" rIns="0" bIns="0" rtlCol="0" anchor="ctr"/>
          <a:lstStyle/>
          <a:p>
            <a:pPr marL="0" indent="0">
              <a:buNone/>
            </a:pPr>
            <a:r>
              <a:rPr lang="en-US" sz="1000" b="1" dirty="0">
                <a:solidFill>
                  <a:srgbClr val="1E7145"/>
                </a:solidFill>
              </a:rPr>
              <a:t>File</a:t>
            </a:r>
            <a:r>
              <a:rPr lang="en-US" sz="1000" dirty="0">
                <a:solidFill>
                  <a:srgbClr val="444444"/>
                </a:solidFill>
              </a:rPr>
              <a:t>     Home     Insert     Page Layout     Formulas     Data     Review     View</a:t>
            </a:r>
            <a:endParaRPr lang="en-US" sz="1000" dirty="0"/>
          </a:p>
        </p:txBody>
      </p:sp>
      <p:sp>
        <p:nvSpPr>
          <p:cNvPr id="21" name="Ribbon"/>
          <p:cNvSpPr/>
          <p:nvPr/>
        </p:nvSpPr>
        <p:spPr>
          <a:xfrm>
            <a:off x="4800600" y="1956816"/>
            <a:ext cx="6839712" cy="402336"/>
          </a:xfrm>
          <a:prstGeom prst="rect">
            <a:avLst/>
          </a:prstGeom>
          <a:solidFill>
            <a:srgbClr val="FAFAFA"/>
          </a:solidFill>
          <a:ln w="6350">
            <a:solidFill>
              <a:srgbClr val="E6E6E6"/>
            </a:solidFill>
            <a:prstDash val="solid"/>
          </a:ln>
        </p:spPr>
        <p:txBody>
          <a:bodyPr/>
          <a:lstStyle/>
          <a:p>
            <a:endParaRPr lang="en-US"/>
          </a:p>
        </p:txBody>
      </p:sp>
      <p:sp>
        <p:nvSpPr>
          <p:cNvPr id="22" name="Ribbon button 1"/>
          <p:cNvSpPr/>
          <p:nvPr/>
        </p:nvSpPr>
        <p:spPr>
          <a:xfrm>
            <a:off x="4937760"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3" name="Ribbon button 2"/>
          <p:cNvSpPr/>
          <p:nvPr/>
        </p:nvSpPr>
        <p:spPr>
          <a:xfrm>
            <a:off x="5367528"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4" name="Ribbon button 3"/>
          <p:cNvSpPr/>
          <p:nvPr/>
        </p:nvSpPr>
        <p:spPr>
          <a:xfrm>
            <a:off x="5797296"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5" name="Ribbon button 4"/>
          <p:cNvSpPr/>
          <p:nvPr/>
        </p:nvSpPr>
        <p:spPr>
          <a:xfrm>
            <a:off x="6400800"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6" name="Ribbon button 5"/>
          <p:cNvSpPr/>
          <p:nvPr/>
        </p:nvSpPr>
        <p:spPr>
          <a:xfrm>
            <a:off x="6830568"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7" name="Ribbon button 6"/>
          <p:cNvSpPr/>
          <p:nvPr/>
        </p:nvSpPr>
        <p:spPr>
          <a:xfrm>
            <a:off x="7260336"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8" name="Ribbon button 7"/>
          <p:cNvSpPr/>
          <p:nvPr/>
        </p:nvSpPr>
        <p:spPr>
          <a:xfrm>
            <a:off x="7863840"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29" name="Ribbon button 8"/>
          <p:cNvSpPr/>
          <p:nvPr/>
        </p:nvSpPr>
        <p:spPr>
          <a:xfrm>
            <a:off x="8293608" y="2029968"/>
            <a:ext cx="329184" cy="256032"/>
          </a:xfrm>
          <a:prstGeom prst="roundRect">
            <a:avLst>
              <a:gd name="adj" fmla="val 14286"/>
            </a:avLst>
          </a:prstGeom>
          <a:solidFill>
            <a:srgbClr val="E4E4E4"/>
          </a:solidFill>
          <a:ln w="12700">
            <a:solidFill>
              <a:srgbClr val="E4E4E4"/>
            </a:solidFill>
            <a:prstDash val="solid"/>
          </a:ln>
        </p:spPr>
        <p:txBody>
          <a:bodyPr/>
          <a:lstStyle/>
          <a:p>
            <a:endParaRPr lang="en-US"/>
          </a:p>
        </p:txBody>
      </p:sp>
      <p:sp>
        <p:nvSpPr>
          <p:cNvPr id="30" name="Formula bar"/>
          <p:cNvSpPr/>
          <p:nvPr/>
        </p:nvSpPr>
        <p:spPr>
          <a:xfrm>
            <a:off x="4800600" y="2359152"/>
            <a:ext cx="6839712" cy="310896"/>
          </a:xfrm>
          <a:prstGeom prst="rect">
            <a:avLst/>
          </a:prstGeom>
          <a:solidFill>
            <a:srgbClr val="FFFFFF"/>
          </a:solidFill>
          <a:ln w="6350">
            <a:solidFill>
              <a:srgbClr val="E6E6E6"/>
            </a:solidFill>
            <a:prstDash val="solid"/>
          </a:ln>
        </p:spPr>
        <p:txBody>
          <a:bodyPr/>
          <a:lstStyle/>
          <a:p>
            <a:endParaRPr lang="en-US"/>
          </a:p>
        </p:txBody>
      </p:sp>
      <p:sp>
        <p:nvSpPr>
          <p:cNvPr id="31" name="Name Box"/>
          <p:cNvSpPr txBox="1"/>
          <p:nvPr/>
        </p:nvSpPr>
        <p:spPr>
          <a:xfrm>
            <a:off x="4873752" y="2404872"/>
            <a:ext cx="731520" cy="219456"/>
          </a:xfrm>
          <a:prstGeom prst="rect">
            <a:avLst/>
          </a:prstGeom>
          <a:solidFill>
            <a:srgbClr val="FFFFFF"/>
          </a:solidFill>
          <a:ln w="9525">
            <a:solidFill>
              <a:srgbClr val="A6A6A6"/>
            </a:solidFill>
          </a:ln>
        </p:spPr>
        <p:txBody>
          <a:bodyPr wrap="square" lIns="0" tIns="635" rIns="635" bIns="0" rtlCol="0" anchor="ctr"/>
          <a:lstStyle/>
          <a:p>
            <a:pPr marL="0" indent="0">
              <a:buNone/>
            </a:pPr>
            <a:r>
              <a:rPr lang="en-US" sz="1000" dirty="0">
                <a:solidFill>
                  <a:srgbClr val="1C1C1C"/>
                </a:solidFill>
              </a:rPr>
              <a:t>A5</a:t>
            </a:r>
            <a:endParaRPr lang="en-US" sz="1000" dirty="0"/>
          </a:p>
        </p:txBody>
      </p:sp>
      <p:sp>
        <p:nvSpPr>
          <p:cNvPr id="32" name="Text 28"/>
          <p:cNvSpPr txBox="1"/>
          <p:nvPr/>
        </p:nvSpPr>
        <p:spPr>
          <a:xfrm>
            <a:off x="5715000" y="2359152"/>
            <a:ext cx="274320" cy="310896"/>
          </a:xfrm>
          <a:prstGeom prst="rect">
            <a:avLst/>
          </a:prstGeom>
          <a:noFill/>
          <a:ln/>
        </p:spPr>
        <p:txBody>
          <a:bodyPr wrap="square" lIns="0" tIns="0" rIns="0" bIns="0" rtlCol="0" anchor="ctr"/>
          <a:lstStyle/>
          <a:p>
            <a:pPr marL="0" indent="0">
              <a:buNone/>
            </a:pPr>
            <a:r>
              <a:rPr lang="en-US" sz="1000" i="1" dirty="0">
                <a:solidFill>
                  <a:srgbClr val="666666"/>
                </a:solidFill>
              </a:rPr>
              <a:t>fx</a:t>
            </a:r>
            <a:endParaRPr lang="en-US" sz="1000" dirty="0"/>
          </a:p>
        </p:txBody>
      </p:sp>
      <p:graphicFrame>
        <p:nvGraphicFramePr>
          <p:cNvPr id="3" name="Sheet grid"/>
          <p:cNvGraphicFramePr>
            <a:graphicFrameLocks noGrp="1"/>
          </p:cNvGraphicFramePr>
          <p:nvPr>
            <p:extLst>
              <p:ext uri="{D42A27DB-BD31-4B8C-83A1-F6EECF244321}">
                <p14:modId xmlns:p14="http://schemas.microsoft.com/office/powerpoint/2010/main" val="1579011935"/>
              </p:ext>
            </p:extLst>
          </p:nvPr>
        </p:nvGraphicFramePr>
        <p:xfrm>
          <a:off x="4809744" y="2670048"/>
          <a:ext cx="6812280" cy="3200400"/>
        </p:xfrm>
        <a:graphic>
          <a:graphicData uri="http://schemas.openxmlformats.org/drawingml/2006/table">
            <a:tbl>
              <a:tblPr/>
              <a:tblGrid>
                <a:gridCol w="36576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676656">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676656">
                  <a:extLst>
                    <a:ext uri="{9D8B030D-6E8A-4147-A177-3AD203B41FA5}">
                      <a16:colId xmlns:a16="http://schemas.microsoft.com/office/drawing/2014/main" val="20005"/>
                    </a:ext>
                  </a:extLst>
                </a:gridCol>
                <a:gridCol w="896112">
                  <a:extLst>
                    <a:ext uri="{9D8B030D-6E8A-4147-A177-3AD203B41FA5}">
                      <a16:colId xmlns:a16="http://schemas.microsoft.com/office/drawing/2014/main" val="20006"/>
                    </a:ext>
                  </a:extLst>
                </a:gridCol>
                <a:gridCol w="987552">
                  <a:extLst>
                    <a:ext uri="{9D8B030D-6E8A-4147-A177-3AD203B41FA5}">
                      <a16:colId xmlns:a16="http://schemas.microsoft.com/office/drawing/2014/main" val="20007"/>
                    </a:ext>
                  </a:extLst>
                </a:gridCol>
                <a:gridCol w="868680">
                  <a:extLst>
                    <a:ext uri="{9D8B030D-6E8A-4147-A177-3AD203B41FA5}">
                      <a16:colId xmlns:a16="http://schemas.microsoft.com/office/drawing/2014/main" val="20008"/>
                    </a:ext>
                  </a:extLst>
                </a:gridCol>
              </a:tblGrid>
              <a:tr h="219456">
                <a:tc>
                  <a:txBody>
                    <a:bodyPr/>
                    <a:lstStyle/>
                    <a:p>
                      <a:pPr marL="0" indent="0" algn="ctr">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E7145"/>
                          </a:solidFill>
                        </a:rPr>
                        <a:t>A</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lgn="ctr">
                        <a:buNone/>
                      </a:pPr>
                      <a:r>
                        <a:rPr lang="en-US" sz="1000" dirty="0">
                          <a:solidFill>
                            <a:srgbClr val="444444"/>
                          </a:solidFill>
                        </a:rPr>
                        <a:t>B</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C</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D</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F</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G</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H</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20624">
                <a:tc>
                  <a:txBody>
                    <a:bodyPr/>
                    <a:lstStyle/>
                    <a:p>
                      <a:pPr marL="0" indent="0" algn="ctr">
                        <a:buNone/>
                      </a:pPr>
                      <a:r>
                        <a:rPr lang="en-US" sz="1000" dirty="0">
                          <a:solidFill>
                            <a:srgbClr val="444444"/>
                          </a:solidFill>
                        </a:rPr>
                        <a:t>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1C1C1C"/>
                          </a:solidFill>
                        </a:rPr>
                        <a:t>Match type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Match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Team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Alliance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Station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Scout name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Robot on field?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Starting position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444444"/>
                          </a:solidFill>
                        </a:rPr>
                        <a:t>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8719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Ava</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Yes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Right</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lgn="ctr">
                        <a:buNone/>
                      </a:pPr>
                      <a:r>
                        <a:rPr lang="en-US" sz="1000" dirty="0">
                          <a:solidFill>
                            <a:srgbClr val="444444"/>
                          </a:solidFill>
                        </a:rPr>
                        <a:t>3</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8020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Ben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Yes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Right</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000" dirty="0">
                          <a:solidFill>
                            <a:srgbClr val="444444"/>
                          </a:solidFill>
                        </a:rPr>
                        <a:t>4</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2039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3</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Chloe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Yes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Right</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lgn="ctr">
                        <a:buNone/>
                      </a:pPr>
                      <a:r>
                        <a:rPr lang="en-US" sz="1000" b="1" dirty="0">
                          <a:solidFill>
                            <a:srgbClr val="1E7145"/>
                          </a:solidFill>
                        </a:rPr>
                        <a:t>5</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444444"/>
                          </a:solidFill>
                        </a:rPr>
                        <a:t>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lgn="ctr">
                        <a:buNone/>
                      </a:pPr>
                      <a:r>
                        <a:rPr lang="en-US" sz="1000" dirty="0">
                          <a:solidFill>
                            <a:srgbClr val="444444"/>
                          </a:solidFill>
                        </a:rPr>
                        <a:t>7</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000" dirty="0">
                          <a:solidFill>
                            <a:srgbClr val="444444"/>
                          </a:solidFill>
                        </a:rPr>
                        <a:t>8</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lgn="ctr">
                        <a:buNone/>
                      </a:pPr>
                      <a:r>
                        <a:rPr lang="en-US" sz="1000" dirty="0">
                          <a:solidFill>
                            <a:srgbClr val="444444"/>
                          </a:solidFill>
                        </a:rPr>
                        <a:t>9</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000" dirty="0">
                          <a:solidFill>
                            <a:srgbClr val="444444"/>
                          </a:solidFill>
                        </a:rPr>
                        <a:t>10</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6032">
                <a:tc>
                  <a:txBody>
                    <a:bodyPr/>
                    <a:lstStyle/>
                    <a:p>
                      <a:pPr marL="0" indent="0" algn="ctr">
                        <a:buNone/>
                      </a:pPr>
                      <a:r>
                        <a:rPr lang="en-US" sz="1000" dirty="0">
                          <a:solidFill>
                            <a:srgbClr val="444444"/>
                          </a:solidFill>
                        </a:rPr>
                        <a:t>11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34" name="Selected cell"/>
          <p:cNvSpPr/>
          <p:nvPr/>
        </p:nvSpPr>
        <p:spPr>
          <a:xfrm>
            <a:off x="5166360" y="4069080"/>
            <a:ext cx="914400" cy="274320"/>
          </a:xfrm>
          <a:prstGeom prst="rect">
            <a:avLst/>
          </a:prstGeom>
          <a:noFill/>
          <a:ln w="28575">
            <a:solidFill>
              <a:srgbClr val="1E7145"/>
            </a:solidFill>
            <a:prstDash val="solid"/>
          </a:ln>
        </p:spPr>
        <p:txBody>
          <a:bodyPr/>
          <a:lstStyle/>
          <a:p>
            <a:endParaRPr lang="en-US"/>
          </a:p>
        </p:txBody>
      </p:sp>
      <p:sp>
        <p:nvSpPr>
          <p:cNvPr id="35" name="Sheet tab bar"/>
          <p:cNvSpPr/>
          <p:nvPr/>
        </p:nvSpPr>
        <p:spPr>
          <a:xfrm>
            <a:off x="4800600" y="5907024"/>
            <a:ext cx="6839712" cy="310896"/>
          </a:xfrm>
          <a:prstGeom prst="rect">
            <a:avLst/>
          </a:prstGeom>
          <a:solidFill>
            <a:srgbClr val="F3F3F3"/>
          </a:solidFill>
          <a:ln w="6350">
            <a:solidFill>
              <a:srgbClr val="E0E0E0"/>
            </a:solidFill>
            <a:prstDash val="solid"/>
          </a:ln>
        </p:spPr>
        <p:txBody>
          <a:bodyPr/>
          <a:lstStyle/>
          <a:p>
            <a:endParaRPr lang="en-US"/>
          </a:p>
        </p:txBody>
      </p:sp>
      <p:sp>
        <p:nvSpPr>
          <p:cNvPr id="36" name="Text 31"/>
          <p:cNvSpPr txBox="1"/>
          <p:nvPr/>
        </p:nvSpPr>
        <p:spPr>
          <a:xfrm>
            <a:off x="4892040" y="5907024"/>
            <a:ext cx="457200" cy="310896"/>
          </a:xfrm>
          <a:prstGeom prst="rect">
            <a:avLst/>
          </a:prstGeom>
          <a:noFill/>
          <a:ln/>
        </p:spPr>
        <p:txBody>
          <a:bodyPr wrap="square" lIns="0" tIns="0" rIns="0" bIns="0" rtlCol="0" anchor="ctr"/>
          <a:lstStyle/>
          <a:p>
            <a:pPr marL="0" indent="0">
              <a:buNone/>
            </a:pPr>
            <a:r>
              <a:rPr lang="en-US" sz="900" dirty="0">
                <a:solidFill>
                  <a:srgbClr val="666666"/>
                </a:solidFill>
              </a:rPr>
              <a:t>◀  ▶</a:t>
            </a:r>
            <a:endParaRPr lang="en-US" sz="900" dirty="0"/>
          </a:p>
        </p:txBody>
      </p:sp>
      <p:sp>
        <p:nvSpPr>
          <p:cNvPr id="37" name="Text 32"/>
          <p:cNvSpPr txBox="1"/>
          <p:nvPr/>
        </p:nvSpPr>
        <p:spPr>
          <a:xfrm>
            <a:off x="5394960" y="590702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Instructions</a:t>
            </a:r>
            <a:endParaRPr lang="en-US" sz="1000" dirty="0"/>
          </a:p>
        </p:txBody>
      </p:sp>
      <p:sp>
        <p:nvSpPr>
          <p:cNvPr id="38" name="Active sheet tab"/>
          <p:cNvSpPr/>
          <p:nvPr/>
        </p:nvSpPr>
        <p:spPr>
          <a:xfrm>
            <a:off x="6455664" y="5907024"/>
            <a:ext cx="544068" cy="310896"/>
          </a:xfrm>
          <a:prstGeom prst="rect">
            <a:avLst/>
          </a:prstGeom>
          <a:solidFill>
            <a:srgbClr val="FFFFFF"/>
          </a:solidFill>
          <a:ln w="6350">
            <a:solidFill>
              <a:srgbClr val="D0D0D0"/>
            </a:solidFill>
            <a:prstDash val="solid"/>
          </a:ln>
        </p:spPr>
        <p:txBody>
          <a:bodyPr/>
          <a:lstStyle/>
          <a:p>
            <a:endParaRPr lang="en-US"/>
          </a:p>
        </p:txBody>
      </p:sp>
      <p:sp>
        <p:nvSpPr>
          <p:cNvPr id="39" name="Text 34"/>
          <p:cNvSpPr txBox="1"/>
          <p:nvPr/>
        </p:nvSpPr>
        <p:spPr>
          <a:xfrm>
            <a:off x="6455664" y="5907024"/>
            <a:ext cx="544068" cy="274320"/>
          </a:xfrm>
          <a:prstGeom prst="rect">
            <a:avLst/>
          </a:prstGeom>
          <a:noFill/>
          <a:ln/>
        </p:spPr>
        <p:txBody>
          <a:bodyPr wrap="square" lIns="0" tIns="0" rIns="0" bIns="0" rtlCol="0" anchor="ctr"/>
          <a:lstStyle/>
          <a:p>
            <a:pPr marL="0" indent="0" algn="ctr">
              <a:buNone/>
            </a:pPr>
            <a:r>
              <a:rPr lang="en-US" sz="1000" b="1" dirty="0">
                <a:solidFill>
                  <a:srgbClr val="1E7145"/>
                </a:solidFill>
              </a:rPr>
              <a:t>Scans</a:t>
            </a:r>
            <a:endParaRPr lang="en-US" sz="1000" dirty="0"/>
          </a:p>
        </p:txBody>
      </p:sp>
      <p:sp>
        <p:nvSpPr>
          <p:cNvPr id="40" name="Active tab marker"/>
          <p:cNvSpPr/>
          <p:nvPr/>
        </p:nvSpPr>
        <p:spPr>
          <a:xfrm>
            <a:off x="6547104" y="6181344"/>
            <a:ext cx="361188" cy="0"/>
          </a:xfrm>
          <a:prstGeom prst="line">
            <a:avLst/>
          </a:prstGeom>
          <a:noFill/>
          <a:ln w="25400">
            <a:solidFill>
              <a:srgbClr val="1E7145"/>
            </a:solidFill>
            <a:prstDash val="solid"/>
          </a:ln>
        </p:spPr>
        <p:txBody>
          <a:bodyPr/>
          <a:lstStyle/>
          <a:p>
            <a:endParaRPr lang="en-US"/>
          </a:p>
        </p:txBody>
      </p:sp>
      <p:sp>
        <p:nvSpPr>
          <p:cNvPr id="41" name="Text 36"/>
          <p:cNvSpPr txBox="1"/>
          <p:nvPr/>
        </p:nvSpPr>
        <p:spPr>
          <a:xfrm>
            <a:off x="7036308" y="590702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Team Summary</a:t>
            </a:r>
            <a:endParaRPr lang="en-US" sz="1000" dirty="0"/>
          </a:p>
        </p:txBody>
      </p:sp>
      <p:sp>
        <p:nvSpPr>
          <p:cNvPr id="42" name="Text 37"/>
          <p:cNvSpPr txBox="1"/>
          <p:nvPr/>
        </p:nvSpPr>
        <p:spPr>
          <a:xfrm>
            <a:off x="8097012" y="5907024"/>
            <a:ext cx="955548" cy="310896"/>
          </a:xfrm>
          <a:prstGeom prst="rect">
            <a:avLst/>
          </a:prstGeom>
          <a:noFill/>
          <a:ln/>
        </p:spPr>
        <p:txBody>
          <a:bodyPr wrap="square" lIns="0" tIns="0" rIns="0" bIns="0" rtlCol="0" anchor="ctr"/>
          <a:lstStyle/>
          <a:p>
            <a:pPr marL="0" indent="0" algn="ctr">
              <a:buNone/>
            </a:pPr>
            <a:r>
              <a:rPr lang="en-US" sz="1000" dirty="0">
                <a:solidFill>
                  <a:srgbClr val="444444"/>
                </a:solidFill>
              </a:rPr>
              <a:t>Team Lookup</a:t>
            </a:r>
            <a:endParaRPr lang="en-US" sz="1000" dirty="0"/>
          </a:p>
        </p:txBody>
      </p:sp>
      <p:sp>
        <p:nvSpPr>
          <p:cNvPr id="43" name="Text 38"/>
          <p:cNvSpPr txBox="1"/>
          <p:nvPr/>
        </p:nvSpPr>
        <p:spPr>
          <a:xfrm>
            <a:off x="9107424" y="5907024"/>
            <a:ext cx="274320" cy="310896"/>
          </a:xfrm>
          <a:prstGeom prst="rect">
            <a:avLst/>
          </a:prstGeom>
          <a:noFill/>
          <a:ln/>
        </p:spPr>
        <p:txBody>
          <a:bodyPr wrap="square" lIns="0" tIns="0" rIns="0" bIns="0" rtlCol="0" anchor="ctr"/>
          <a:lstStyle/>
          <a:p>
            <a:pPr marL="0" indent="0">
              <a:buNone/>
            </a:pPr>
            <a:r>
              <a:rPr lang="en-US" sz="1200" dirty="0">
                <a:solidFill>
                  <a:srgbClr val="666666"/>
                </a:solidFill>
              </a:rPr>
              <a:t>⊕</a:t>
            </a:r>
            <a:endParaRPr lang="en-US" sz="1200" dirty="0"/>
          </a:p>
        </p:txBody>
      </p:sp>
      <p:sp>
        <p:nvSpPr>
          <p:cNvPr id="44" name="Scans tab highlight"/>
          <p:cNvSpPr/>
          <p:nvPr/>
        </p:nvSpPr>
        <p:spPr>
          <a:xfrm>
            <a:off x="6428232" y="5888736"/>
            <a:ext cx="598932" cy="329184"/>
          </a:xfrm>
          <a:prstGeom prst="roundRect">
            <a:avLst>
              <a:gd name="adj" fmla="val 16667"/>
            </a:avLst>
          </a:prstGeom>
          <a:noFill/>
          <a:ln w="31750">
            <a:solidFill>
              <a:schemeClr val="accent3"/>
            </a:solidFill>
            <a:prstDash val="solid"/>
          </a:ln>
        </p:spPr>
        <p:txBody>
          <a:bodyPr/>
          <a:lstStyle/>
          <a:p>
            <a:endParaRPr lang="en-US"/>
          </a:p>
        </p:txBody>
      </p:sp>
      <p:sp>
        <p:nvSpPr>
          <p:cNvPr id="45" name="Marker 1"/>
          <p:cNvSpPr txBox="1"/>
          <p:nvPr/>
        </p:nvSpPr>
        <p:spPr>
          <a:xfrm>
            <a:off x="6535674" y="549554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46" name="Marker 2"/>
          <p:cNvSpPr txBox="1"/>
          <p:nvPr/>
        </p:nvSpPr>
        <p:spPr>
          <a:xfrm>
            <a:off x="4544568" y="4032504"/>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47" name="Row to be filled"/>
          <p:cNvSpPr/>
          <p:nvPr/>
        </p:nvSpPr>
        <p:spPr>
          <a:xfrm>
            <a:off x="6089904" y="4096512"/>
            <a:ext cx="5632704" cy="219456"/>
          </a:xfrm>
          <a:prstGeom prst="rect">
            <a:avLst/>
          </a:prstGeom>
          <a:solidFill>
            <a:schemeClr val="accent3">
              <a:alpha val="20000"/>
            </a:schemeClr>
          </a:solidFill>
          <a:ln w="19050">
            <a:solidFill>
              <a:schemeClr val="accent3"/>
            </a:solidFill>
            <a:prstDash val="dash"/>
          </a:ln>
        </p:spPr>
        <p:txBody>
          <a:bodyPr/>
          <a:lstStyle/>
          <a:p>
            <a:endParaRPr lang="en-US"/>
          </a:p>
        </p:txBody>
      </p:sp>
      <p:sp>
        <p:nvSpPr>
          <p:cNvPr id="48" name="Text 43"/>
          <p:cNvSpPr txBox="1"/>
          <p:nvPr/>
        </p:nvSpPr>
        <p:spPr>
          <a:xfrm>
            <a:off x="6163056" y="4078224"/>
            <a:ext cx="5486400" cy="256032"/>
          </a:xfrm>
          <a:prstGeom prst="rect">
            <a:avLst/>
          </a:prstGeom>
          <a:noFill/>
          <a:ln/>
        </p:spPr>
        <p:txBody>
          <a:bodyPr wrap="square" lIns="0" tIns="0" rIns="0" bIns="0" rtlCol="0" anchor="ctr"/>
          <a:lstStyle/>
          <a:p>
            <a:pPr marL="0" indent="0">
              <a:buNone/>
            </a:pPr>
            <a:r>
              <a:rPr lang="en-US" sz="1100" i="1" dirty="0">
                <a:solidFill>
                  <a:schemeClr val="tx1"/>
                </a:solidFill>
              </a:rPr>
              <a:t>the scan fills this row, then jumps to A6 →</a:t>
            </a:r>
            <a:endParaRPr lang="en-US" sz="1100" dirty="0"/>
          </a:p>
        </p:txBody>
      </p:sp>
      <p:sp>
        <p:nvSpPr>
          <p:cNvPr id="49" name="Marker 4"/>
          <p:cNvSpPr txBox="1"/>
          <p:nvPr/>
        </p:nvSpPr>
        <p:spPr>
          <a:xfrm>
            <a:off x="11475720" y="4270248"/>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Fixing mistakes</a:t>
            </a:r>
            <a:endParaRPr lang="en-US" sz="3600" dirty="0"/>
          </a:p>
        </p:txBody>
      </p:sp>
      <p:sp>
        <p:nvSpPr>
          <p:cNvPr id="4" name="Excel window"/>
          <p:cNvSpPr/>
          <p:nvPr/>
        </p:nvSpPr>
        <p:spPr>
          <a:xfrm>
            <a:off x="548640" y="1371600"/>
            <a:ext cx="5852160" cy="484632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5" name="Excel title bar"/>
          <p:cNvSpPr/>
          <p:nvPr/>
        </p:nvSpPr>
        <p:spPr>
          <a:xfrm>
            <a:off x="548640" y="1371600"/>
            <a:ext cx="5852160" cy="310896"/>
          </a:xfrm>
          <a:prstGeom prst="rect">
            <a:avLst/>
          </a:prstGeom>
          <a:solidFill>
            <a:srgbClr val="1E7145"/>
          </a:solidFill>
          <a:ln w="12700">
            <a:solidFill>
              <a:srgbClr val="1E7145"/>
            </a:solidFill>
            <a:prstDash val="solid"/>
          </a:ln>
        </p:spPr>
        <p:txBody>
          <a:bodyPr/>
          <a:lstStyle/>
          <a:p>
            <a:endParaRPr lang="en-US"/>
          </a:p>
        </p:txBody>
      </p:sp>
      <p:sp>
        <p:nvSpPr>
          <p:cNvPr id="6" name="Text 3"/>
          <p:cNvSpPr txBox="1"/>
          <p:nvPr/>
        </p:nvSpPr>
        <p:spPr>
          <a:xfrm>
            <a:off x="685800" y="1371600"/>
            <a:ext cx="4663440" cy="310896"/>
          </a:xfrm>
          <a:prstGeom prst="rect">
            <a:avLst/>
          </a:prstGeom>
          <a:noFill/>
          <a:ln/>
        </p:spPr>
        <p:txBody>
          <a:bodyPr wrap="square" lIns="0" tIns="0" rIns="0" bIns="0" rtlCol="0" anchor="ctr"/>
          <a:lstStyle/>
          <a:p>
            <a:pPr marL="0" indent="0" algn="l">
              <a:buNone/>
            </a:pPr>
            <a:r>
              <a:rPr lang="en-US" sz="1100" dirty="0">
                <a:solidFill>
                  <a:srgbClr val="FFFFFF"/>
                </a:solidFill>
              </a:rPr>
              <a:t>DERT_Scouting_REBUILT.xlsx  -  Excel</a:t>
            </a:r>
            <a:endParaRPr lang="en-US" sz="1100" dirty="0"/>
          </a:p>
        </p:txBody>
      </p:sp>
      <p:sp>
        <p:nvSpPr>
          <p:cNvPr id="7" name="Text 4"/>
          <p:cNvSpPr txBox="1"/>
          <p:nvPr/>
        </p:nvSpPr>
        <p:spPr>
          <a:xfrm>
            <a:off x="5440680" y="1371600"/>
            <a:ext cx="868680" cy="310896"/>
          </a:xfrm>
          <a:prstGeom prst="rect">
            <a:avLst/>
          </a:prstGeom>
          <a:noFill/>
          <a:ln/>
        </p:spPr>
        <p:txBody>
          <a:bodyPr wrap="square" lIns="0" tIns="0" rIns="0" bIns="0" rtlCol="0" anchor="ctr"/>
          <a:lstStyle/>
          <a:p>
            <a:pPr marL="0" indent="0" algn="r">
              <a:buNone/>
            </a:pPr>
            <a:r>
              <a:rPr lang="en-US" sz="1000" dirty="0">
                <a:solidFill>
                  <a:srgbClr val="FFFFFF"/>
                </a:solidFill>
              </a:rPr>
              <a:t>—   ☐   ✕</a:t>
            </a:r>
            <a:endParaRPr lang="en-US" sz="1000" dirty="0"/>
          </a:p>
        </p:txBody>
      </p:sp>
      <p:sp>
        <p:nvSpPr>
          <p:cNvPr id="8" name="Formula bar"/>
          <p:cNvSpPr/>
          <p:nvPr/>
        </p:nvSpPr>
        <p:spPr>
          <a:xfrm>
            <a:off x="548640" y="1682496"/>
            <a:ext cx="5852160" cy="310896"/>
          </a:xfrm>
          <a:prstGeom prst="rect">
            <a:avLst/>
          </a:prstGeom>
          <a:solidFill>
            <a:srgbClr val="FFFFFF"/>
          </a:solidFill>
          <a:ln w="6350">
            <a:solidFill>
              <a:srgbClr val="E6E6E6"/>
            </a:solidFill>
            <a:prstDash val="solid"/>
          </a:ln>
        </p:spPr>
        <p:txBody>
          <a:bodyPr/>
          <a:lstStyle/>
          <a:p>
            <a:endParaRPr lang="en-US"/>
          </a:p>
        </p:txBody>
      </p:sp>
      <p:sp>
        <p:nvSpPr>
          <p:cNvPr id="9" name="Name Box"/>
          <p:cNvSpPr txBox="1"/>
          <p:nvPr/>
        </p:nvSpPr>
        <p:spPr>
          <a:xfrm>
            <a:off x="621792" y="1728216"/>
            <a:ext cx="731520" cy="219456"/>
          </a:xfrm>
          <a:prstGeom prst="rect">
            <a:avLst/>
          </a:prstGeom>
          <a:solidFill>
            <a:srgbClr val="FFFFFF"/>
          </a:solidFill>
          <a:ln w="9525">
            <a:solidFill>
              <a:srgbClr val="A6A6A6"/>
            </a:solidFill>
          </a:ln>
        </p:spPr>
        <p:txBody>
          <a:bodyPr wrap="square" lIns="0" tIns="635" rIns="635" bIns="0" rtlCol="0" anchor="ctr"/>
          <a:lstStyle/>
          <a:p>
            <a:pPr marL="0" indent="0">
              <a:buNone/>
            </a:pPr>
            <a:r>
              <a:rPr lang="en-US" sz="1000" dirty="0">
                <a:solidFill>
                  <a:srgbClr val="1C1C1C"/>
                </a:solidFill>
              </a:rPr>
              <a:t>A4</a:t>
            </a:r>
            <a:endParaRPr lang="en-US" sz="1000" dirty="0"/>
          </a:p>
        </p:txBody>
      </p:sp>
      <p:sp>
        <p:nvSpPr>
          <p:cNvPr id="10" name="Text 7"/>
          <p:cNvSpPr txBox="1"/>
          <p:nvPr/>
        </p:nvSpPr>
        <p:spPr>
          <a:xfrm>
            <a:off x="1463040" y="1682496"/>
            <a:ext cx="274320" cy="310896"/>
          </a:xfrm>
          <a:prstGeom prst="rect">
            <a:avLst/>
          </a:prstGeom>
          <a:noFill/>
          <a:ln/>
        </p:spPr>
        <p:txBody>
          <a:bodyPr wrap="square" lIns="0" tIns="0" rIns="0" bIns="0" rtlCol="0" anchor="ctr"/>
          <a:lstStyle/>
          <a:p>
            <a:pPr marL="0" indent="0">
              <a:buNone/>
            </a:pPr>
            <a:r>
              <a:rPr lang="en-US" sz="1000" i="1" dirty="0">
                <a:solidFill>
                  <a:srgbClr val="666666"/>
                </a:solidFill>
              </a:rPr>
              <a:t>fx</a:t>
            </a:r>
            <a:endParaRPr lang="en-US" sz="1000" dirty="0"/>
          </a:p>
        </p:txBody>
      </p:sp>
      <p:graphicFrame>
        <p:nvGraphicFramePr>
          <p:cNvPr id="18" name="Sheet grid"/>
          <p:cNvGraphicFramePr>
            <a:graphicFrameLocks noGrp="1"/>
          </p:cNvGraphicFramePr>
          <p:nvPr>
            <p:extLst>
              <p:ext uri="{D42A27DB-BD31-4B8C-83A1-F6EECF244321}">
                <p14:modId xmlns:p14="http://schemas.microsoft.com/office/powerpoint/2010/main" val="1579011935"/>
              </p:ext>
            </p:extLst>
          </p:nvPr>
        </p:nvGraphicFramePr>
        <p:xfrm>
          <a:off x="557784" y="1993392"/>
          <a:ext cx="4956048" cy="914400"/>
        </p:xfrm>
        <a:graphic>
          <a:graphicData uri="http://schemas.openxmlformats.org/drawingml/2006/table">
            <a:tbl>
              <a:tblPr/>
              <a:tblGrid>
                <a:gridCol w="36576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676656">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676656">
                  <a:extLst>
                    <a:ext uri="{9D8B030D-6E8A-4147-A177-3AD203B41FA5}">
                      <a16:colId xmlns:a16="http://schemas.microsoft.com/office/drawing/2014/main" val="20005"/>
                    </a:ext>
                  </a:extLst>
                </a:gridCol>
                <a:gridCol w="896112">
                  <a:extLst>
                    <a:ext uri="{9D8B030D-6E8A-4147-A177-3AD203B41FA5}">
                      <a16:colId xmlns:a16="http://schemas.microsoft.com/office/drawing/2014/main" val="20006"/>
                    </a:ext>
                  </a:extLst>
                </a:gridCol>
              </a:tblGrid>
              <a:tr h="219456">
                <a:tc>
                  <a:txBody>
                    <a:bodyPr/>
                    <a:lstStyle/>
                    <a:p>
                      <a:pPr marL="0" indent="0" algn="ctr">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A</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B</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C</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D</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F</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20624">
                <a:tc>
                  <a:txBody>
                    <a:bodyPr/>
                    <a:lstStyle/>
                    <a:p>
                      <a:pPr marL="0" indent="0" algn="ctr">
                        <a:buNone/>
                      </a:pPr>
                      <a:r>
                        <a:rPr lang="en-US" sz="1000" dirty="0">
                          <a:solidFill>
                            <a:srgbClr val="444444"/>
                          </a:solidFill>
                        </a:rPr>
                        <a:t>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1C1C1C"/>
                          </a:solidFill>
                        </a:rPr>
                        <a:t>Match type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Match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Team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Alliance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Station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Scout name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444444"/>
                          </a:solidFill>
                        </a:rPr>
                        <a:t>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8719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Ava</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lgn="ctr">
                        <a:buNone/>
                      </a:pPr>
                      <a:r>
                        <a:rPr lang="en-US" sz="1000" dirty="0">
                          <a:solidFill>
                            <a:srgbClr val="444444"/>
                          </a:solidFill>
                        </a:rPr>
                        <a:t>3</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8020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Ben</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000" b="1" dirty="0">
                          <a:solidFill>
                            <a:srgbClr val="1E7145"/>
                          </a:solidFill>
                        </a:rPr>
                        <a:t>4</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E2EFE6"/>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E2EFE6"/>
                    </a:solidFill>
                  </a:tcPr>
                </a:tc>
                <a:tc>
                  <a:txBody>
                    <a:bodyPr/>
                    <a:lstStyle/>
                    <a:p>
                      <a:pPr marL="0" indent="0" algn="r">
                        <a:buNone/>
                      </a:pPr>
                      <a:r>
                        <a:rPr lang="en-US" sz="1000" dirty="0">
                          <a:solidFill>
                            <a:srgbClr val="1C1C1C"/>
                          </a:solidFill>
                        </a:rPr>
                        <a:t>2039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E2EFE6"/>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E2EFE6"/>
                    </a:solidFill>
                  </a:tcPr>
                </a:tc>
                <a:tc>
                  <a:txBody>
                    <a:bodyPr/>
                    <a:lstStyle/>
                    <a:p>
                      <a:pPr marL="0" indent="0" algn="r">
                        <a:buNone/>
                      </a:pPr>
                      <a:r>
                        <a:rPr lang="en-US" sz="1000" dirty="0">
                          <a:solidFill>
                            <a:srgbClr val="1C1C1C"/>
                          </a:solidFill>
                        </a:rPr>
                        <a:t>3</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E2EFE6"/>
                    </a:solidFill>
                  </a:tcPr>
                </a:tc>
                <a:tc>
                  <a:txBody>
                    <a:bodyPr/>
                    <a:lstStyle/>
                    <a:p>
                      <a:pPr marL="0" indent="0" algn="l">
                        <a:buNone/>
                      </a:pPr>
                      <a:r>
                        <a:rPr lang="en-US" sz="1000" dirty="0">
                          <a:solidFill>
                            <a:srgbClr val="1C1C1C"/>
                          </a:solidFill>
                        </a:rPr>
                        <a:t>Chloe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E2EFE6"/>
                    </a:solidFill>
                  </a:tcPr>
                </a:tc>
                <a:extLst>
                  <a:ext uri="{0D108BD9-81ED-4DB2-BD59-A6C34878D82A}">
                    <a16:rowId xmlns:a16="http://schemas.microsoft.com/office/drawing/2014/main" val="10004"/>
                  </a:ext>
                </a:extLst>
              </a:tr>
              <a:tr h="256032">
                <a:tc>
                  <a:txBody>
                    <a:bodyPr/>
                    <a:lstStyle/>
                    <a:p>
                      <a:pPr marL="0" indent="0" algn="ctr">
                        <a:buNone/>
                      </a:pPr>
                      <a:r>
                        <a:rPr lang="en-US" sz="1000" dirty="0">
                          <a:solidFill>
                            <a:srgbClr val="444444"/>
                          </a:solidFill>
                        </a:rPr>
                        <a:t>5</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444444"/>
                          </a:solidFill>
                        </a:rPr>
                        <a:t>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lgn="ctr">
                        <a:buNone/>
                      </a:pPr>
                      <a:r>
                        <a:rPr lang="en-US" sz="1000" dirty="0">
                          <a:solidFill>
                            <a:srgbClr val="444444"/>
                          </a:solidFill>
                        </a:rPr>
                        <a:t>7</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000" dirty="0">
                          <a:solidFill>
                            <a:srgbClr val="444444"/>
                          </a:solidFill>
                        </a:rPr>
                        <a:t>8</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lgn="ctr">
                        <a:buNone/>
                      </a:pPr>
                      <a:r>
                        <a:rPr lang="en-US" sz="1000" dirty="0">
                          <a:solidFill>
                            <a:srgbClr val="444444"/>
                          </a:solidFill>
                        </a:rPr>
                        <a:t>9</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000" dirty="0">
                          <a:solidFill>
                            <a:srgbClr val="444444"/>
                          </a:solidFill>
                        </a:rPr>
                        <a:t>10</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6032">
                <a:tc>
                  <a:txBody>
                    <a:bodyPr/>
                    <a:lstStyle/>
                    <a:p>
                      <a:pPr marL="0" indent="0" algn="ctr">
                        <a:buNone/>
                      </a:pPr>
                      <a:r>
                        <a:rPr lang="en-US" sz="1000" dirty="0">
                          <a:solidFill>
                            <a:srgbClr val="444444"/>
                          </a:solidFill>
                        </a:rPr>
                        <a:t>11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6032">
                <a:tc>
                  <a:txBody>
                    <a:bodyPr/>
                    <a:lstStyle/>
                    <a:p>
                      <a:pPr marL="0" indent="0" algn="ctr">
                        <a:buNone/>
                      </a:pPr>
                      <a:r>
                        <a:rPr lang="en-US" sz="1000" dirty="0">
                          <a:solidFill>
                            <a:srgbClr val="444444"/>
                          </a:solidFill>
                        </a:rPr>
                        <a:t>12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56032">
                <a:tc>
                  <a:txBody>
                    <a:bodyPr/>
                    <a:lstStyle/>
                    <a:p>
                      <a:pPr marL="0" indent="0" algn="ctr">
                        <a:buNone/>
                      </a:pPr>
                      <a:r>
                        <a:rPr lang="en-US" sz="1000" dirty="0">
                          <a:solidFill>
                            <a:srgbClr val="444444"/>
                          </a:solidFill>
                        </a:rPr>
                        <a:t>13</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12" name="Sheet tab bar"/>
          <p:cNvSpPr/>
          <p:nvPr/>
        </p:nvSpPr>
        <p:spPr>
          <a:xfrm>
            <a:off x="548640" y="5907024"/>
            <a:ext cx="5852160" cy="310896"/>
          </a:xfrm>
          <a:prstGeom prst="rect">
            <a:avLst/>
          </a:prstGeom>
          <a:solidFill>
            <a:srgbClr val="F3F3F3"/>
          </a:solidFill>
          <a:ln w="6350">
            <a:solidFill>
              <a:srgbClr val="E0E0E0"/>
            </a:solidFill>
            <a:prstDash val="solid"/>
          </a:ln>
        </p:spPr>
        <p:txBody>
          <a:bodyPr/>
          <a:lstStyle/>
          <a:p>
            <a:endParaRPr lang="en-US"/>
          </a:p>
        </p:txBody>
      </p:sp>
      <p:sp>
        <p:nvSpPr>
          <p:cNvPr id="13" name="Text 9"/>
          <p:cNvSpPr txBox="1"/>
          <p:nvPr/>
        </p:nvSpPr>
        <p:spPr>
          <a:xfrm>
            <a:off x="640080" y="5907024"/>
            <a:ext cx="457200" cy="310896"/>
          </a:xfrm>
          <a:prstGeom prst="rect">
            <a:avLst/>
          </a:prstGeom>
          <a:noFill/>
          <a:ln/>
        </p:spPr>
        <p:txBody>
          <a:bodyPr wrap="square" lIns="0" tIns="0" rIns="0" bIns="0" rtlCol="0" anchor="ctr"/>
          <a:lstStyle/>
          <a:p>
            <a:pPr marL="0" indent="0">
              <a:buNone/>
            </a:pPr>
            <a:r>
              <a:rPr lang="en-US" sz="900" dirty="0">
                <a:solidFill>
                  <a:srgbClr val="666666"/>
                </a:solidFill>
              </a:rPr>
              <a:t>◀  ▶</a:t>
            </a:r>
            <a:endParaRPr lang="en-US" sz="900" dirty="0"/>
          </a:p>
        </p:txBody>
      </p:sp>
      <p:sp>
        <p:nvSpPr>
          <p:cNvPr id="14" name="Text 10"/>
          <p:cNvSpPr txBox="1"/>
          <p:nvPr/>
        </p:nvSpPr>
        <p:spPr>
          <a:xfrm>
            <a:off x="1143000" y="590702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Instructions</a:t>
            </a:r>
            <a:endParaRPr lang="en-US" sz="1000" dirty="0"/>
          </a:p>
        </p:txBody>
      </p:sp>
      <p:sp>
        <p:nvSpPr>
          <p:cNvPr id="15" name="Active sheet tab"/>
          <p:cNvSpPr/>
          <p:nvPr/>
        </p:nvSpPr>
        <p:spPr>
          <a:xfrm>
            <a:off x="2203704" y="5907024"/>
            <a:ext cx="544068" cy="310896"/>
          </a:xfrm>
          <a:prstGeom prst="rect">
            <a:avLst/>
          </a:prstGeom>
          <a:solidFill>
            <a:srgbClr val="FFFFFF"/>
          </a:solidFill>
          <a:ln w="6350">
            <a:solidFill>
              <a:srgbClr val="D0D0D0"/>
            </a:solidFill>
            <a:prstDash val="solid"/>
          </a:ln>
        </p:spPr>
        <p:txBody>
          <a:bodyPr/>
          <a:lstStyle/>
          <a:p>
            <a:endParaRPr lang="en-US"/>
          </a:p>
        </p:txBody>
      </p:sp>
      <p:sp>
        <p:nvSpPr>
          <p:cNvPr id="16" name="Text 12"/>
          <p:cNvSpPr txBox="1"/>
          <p:nvPr/>
        </p:nvSpPr>
        <p:spPr>
          <a:xfrm>
            <a:off x="2203704" y="5907024"/>
            <a:ext cx="544068" cy="274320"/>
          </a:xfrm>
          <a:prstGeom prst="rect">
            <a:avLst/>
          </a:prstGeom>
          <a:noFill/>
          <a:ln/>
        </p:spPr>
        <p:txBody>
          <a:bodyPr wrap="square" lIns="0" tIns="0" rIns="0" bIns="0" rtlCol="0" anchor="ctr"/>
          <a:lstStyle/>
          <a:p>
            <a:pPr marL="0" indent="0" algn="ctr">
              <a:buNone/>
            </a:pPr>
            <a:r>
              <a:rPr lang="en-US" sz="1000" b="1" dirty="0">
                <a:solidFill>
                  <a:srgbClr val="1E7145"/>
                </a:solidFill>
              </a:rPr>
              <a:t>Scans</a:t>
            </a:r>
            <a:endParaRPr lang="en-US" sz="1000" dirty="0"/>
          </a:p>
        </p:txBody>
      </p:sp>
      <p:sp>
        <p:nvSpPr>
          <p:cNvPr id="17" name="Active tab marker"/>
          <p:cNvSpPr/>
          <p:nvPr/>
        </p:nvSpPr>
        <p:spPr>
          <a:xfrm>
            <a:off x="2295144" y="6181344"/>
            <a:ext cx="361188" cy="0"/>
          </a:xfrm>
          <a:prstGeom prst="line">
            <a:avLst/>
          </a:prstGeom>
          <a:noFill/>
          <a:ln w="25400">
            <a:solidFill>
              <a:srgbClr val="1E7145"/>
            </a:solidFill>
            <a:prstDash val="solid"/>
          </a:ln>
        </p:spPr>
        <p:txBody>
          <a:bodyPr/>
          <a:lstStyle/>
          <a:p>
            <a:endParaRPr lang="en-US"/>
          </a:p>
        </p:txBody>
      </p:sp>
      <p:sp>
        <p:nvSpPr>
          <p:cNvPr id="3" name="Text 14"/>
          <p:cNvSpPr txBox="1"/>
          <p:nvPr/>
        </p:nvSpPr>
        <p:spPr>
          <a:xfrm>
            <a:off x="2784348" y="590702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Team Summary</a:t>
            </a:r>
            <a:endParaRPr lang="en-US" sz="1000" dirty="0"/>
          </a:p>
        </p:txBody>
      </p:sp>
      <p:sp>
        <p:nvSpPr>
          <p:cNvPr id="19" name="Text 15"/>
          <p:cNvSpPr txBox="1"/>
          <p:nvPr/>
        </p:nvSpPr>
        <p:spPr>
          <a:xfrm>
            <a:off x="3845052" y="5907024"/>
            <a:ext cx="955548" cy="310896"/>
          </a:xfrm>
          <a:prstGeom prst="rect">
            <a:avLst/>
          </a:prstGeom>
          <a:noFill/>
          <a:ln/>
        </p:spPr>
        <p:txBody>
          <a:bodyPr wrap="square" lIns="0" tIns="0" rIns="0" bIns="0" rtlCol="0" anchor="ctr"/>
          <a:lstStyle/>
          <a:p>
            <a:pPr marL="0" indent="0" algn="ctr">
              <a:buNone/>
            </a:pPr>
            <a:r>
              <a:rPr lang="en-US" sz="1000" dirty="0">
                <a:solidFill>
                  <a:srgbClr val="444444"/>
                </a:solidFill>
              </a:rPr>
              <a:t>Team Lookup</a:t>
            </a:r>
            <a:endParaRPr lang="en-US" sz="1000" dirty="0"/>
          </a:p>
        </p:txBody>
      </p:sp>
      <p:sp>
        <p:nvSpPr>
          <p:cNvPr id="20" name="Text 16"/>
          <p:cNvSpPr txBox="1"/>
          <p:nvPr/>
        </p:nvSpPr>
        <p:spPr>
          <a:xfrm>
            <a:off x="4855464" y="5907024"/>
            <a:ext cx="274320" cy="310896"/>
          </a:xfrm>
          <a:prstGeom prst="rect">
            <a:avLst/>
          </a:prstGeom>
          <a:noFill/>
          <a:ln/>
        </p:spPr>
        <p:txBody>
          <a:bodyPr wrap="square" lIns="0" tIns="0" rIns="0" bIns="0" rtlCol="0" anchor="ctr"/>
          <a:lstStyle/>
          <a:p>
            <a:pPr marL="0" indent="0">
              <a:buNone/>
            </a:pPr>
            <a:r>
              <a:rPr lang="en-US" sz="1200" dirty="0">
                <a:solidFill>
                  <a:srgbClr val="666666"/>
                </a:solidFill>
              </a:rPr>
              <a:t>⊕</a:t>
            </a:r>
            <a:endParaRPr lang="en-US" sz="1200" dirty="0"/>
          </a:p>
        </p:txBody>
      </p:sp>
      <p:sp>
        <p:nvSpPr>
          <p:cNvPr id="21" name="Right-click menu"/>
          <p:cNvSpPr/>
          <p:nvPr/>
        </p:nvSpPr>
        <p:spPr>
          <a:xfrm>
            <a:off x="832104" y="3429000"/>
            <a:ext cx="1874520" cy="2084832"/>
          </a:xfrm>
          <a:prstGeom prst="rect">
            <a:avLst/>
          </a:prstGeom>
          <a:solidFill>
            <a:srgbClr val="FFFFFF"/>
          </a:solidFill>
          <a:ln w="9525">
            <a:solidFill>
              <a:srgbClr val="C8C8C8"/>
            </a:solidFill>
            <a:prstDash val="solid"/>
          </a:ln>
          <a:effectLst>
            <a:outerShdw blurRad="101600" dist="25400" dir="5400000" algn="bl" rotWithShape="0">
              <a:srgbClr val="000000">
                <a:alpha val="18000"/>
              </a:srgbClr>
            </a:outerShdw>
          </a:effectLst>
        </p:spPr>
        <p:txBody>
          <a:bodyPr/>
          <a:lstStyle/>
          <a:p>
            <a:endParaRPr lang="en-US"/>
          </a:p>
        </p:txBody>
      </p:sp>
      <p:sp>
        <p:nvSpPr>
          <p:cNvPr id="22" name="Text 18"/>
          <p:cNvSpPr txBox="1"/>
          <p:nvPr/>
        </p:nvSpPr>
        <p:spPr>
          <a:xfrm>
            <a:off x="1152144" y="3483864"/>
            <a:ext cx="1508760" cy="246888"/>
          </a:xfrm>
          <a:prstGeom prst="rect">
            <a:avLst/>
          </a:prstGeom>
          <a:noFill/>
          <a:ln/>
        </p:spPr>
        <p:txBody>
          <a:bodyPr wrap="square" lIns="0" tIns="0" rIns="0" bIns="0" rtlCol="0" anchor="ctr"/>
          <a:lstStyle/>
          <a:p>
            <a:pPr marL="0" indent="0">
              <a:buNone/>
            </a:pPr>
            <a:r>
              <a:rPr lang="en-US" sz="1000" dirty="0">
                <a:solidFill>
                  <a:srgbClr val="1C1C1C"/>
                </a:solidFill>
              </a:rPr>
              <a:t>Cut</a:t>
            </a:r>
            <a:endParaRPr lang="en-US" sz="1000" dirty="0"/>
          </a:p>
        </p:txBody>
      </p:sp>
      <p:sp>
        <p:nvSpPr>
          <p:cNvPr id="23" name="Text 19"/>
          <p:cNvSpPr txBox="1"/>
          <p:nvPr/>
        </p:nvSpPr>
        <p:spPr>
          <a:xfrm>
            <a:off x="1152144" y="3730752"/>
            <a:ext cx="1508760" cy="246888"/>
          </a:xfrm>
          <a:prstGeom prst="rect">
            <a:avLst/>
          </a:prstGeom>
          <a:noFill/>
          <a:ln/>
        </p:spPr>
        <p:txBody>
          <a:bodyPr wrap="square" lIns="0" tIns="0" rIns="0" bIns="0" rtlCol="0" anchor="ctr"/>
          <a:lstStyle/>
          <a:p>
            <a:pPr marL="0" indent="0">
              <a:buNone/>
            </a:pPr>
            <a:r>
              <a:rPr lang="en-US" sz="1000" dirty="0">
                <a:solidFill>
                  <a:srgbClr val="1C1C1C"/>
                </a:solidFill>
              </a:rPr>
              <a:t>Copy</a:t>
            </a:r>
            <a:endParaRPr lang="en-US" sz="1000" dirty="0"/>
          </a:p>
        </p:txBody>
      </p:sp>
      <p:sp>
        <p:nvSpPr>
          <p:cNvPr id="24" name="Text 20"/>
          <p:cNvSpPr txBox="1"/>
          <p:nvPr/>
        </p:nvSpPr>
        <p:spPr>
          <a:xfrm>
            <a:off x="1152144" y="3977640"/>
            <a:ext cx="1508760" cy="246888"/>
          </a:xfrm>
          <a:prstGeom prst="rect">
            <a:avLst/>
          </a:prstGeom>
          <a:noFill/>
          <a:ln/>
        </p:spPr>
        <p:txBody>
          <a:bodyPr wrap="square" lIns="0" tIns="0" rIns="0" bIns="0" rtlCol="0" anchor="ctr"/>
          <a:lstStyle/>
          <a:p>
            <a:pPr marL="0" indent="0">
              <a:buNone/>
            </a:pPr>
            <a:r>
              <a:rPr lang="en-US" sz="1000" dirty="0">
                <a:solidFill>
                  <a:srgbClr val="1C1C1C"/>
                </a:solidFill>
              </a:rPr>
              <a:t>Paste Options:</a:t>
            </a:r>
            <a:endParaRPr lang="en-US" sz="1000" dirty="0"/>
          </a:p>
        </p:txBody>
      </p:sp>
      <p:sp>
        <p:nvSpPr>
          <p:cNvPr id="25" name="Text 21"/>
          <p:cNvSpPr txBox="1"/>
          <p:nvPr/>
        </p:nvSpPr>
        <p:spPr>
          <a:xfrm>
            <a:off x="1152144" y="4224528"/>
            <a:ext cx="1508760" cy="246888"/>
          </a:xfrm>
          <a:prstGeom prst="rect">
            <a:avLst/>
          </a:prstGeom>
          <a:noFill/>
          <a:ln/>
        </p:spPr>
        <p:txBody>
          <a:bodyPr wrap="square" lIns="0" tIns="0" rIns="0" bIns="0" rtlCol="0" anchor="ctr"/>
          <a:lstStyle/>
          <a:p>
            <a:pPr marL="0" indent="0">
              <a:buNone/>
            </a:pPr>
            <a:r>
              <a:rPr lang="en-US" sz="1000" dirty="0">
                <a:solidFill>
                  <a:srgbClr val="1C1C1C"/>
                </a:solidFill>
              </a:rPr>
              <a:t>Insert</a:t>
            </a:r>
            <a:endParaRPr lang="en-US" sz="1000" dirty="0"/>
          </a:p>
        </p:txBody>
      </p:sp>
      <p:sp>
        <p:nvSpPr>
          <p:cNvPr id="26" name="Delete selected"/>
          <p:cNvSpPr/>
          <p:nvPr/>
        </p:nvSpPr>
        <p:spPr>
          <a:xfrm>
            <a:off x="868680" y="4471416"/>
            <a:ext cx="1801368" cy="246888"/>
          </a:xfrm>
          <a:prstGeom prst="rect">
            <a:avLst/>
          </a:prstGeom>
          <a:solidFill>
            <a:srgbClr val="E2EFE6"/>
          </a:solidFill>
          <a:ln w="12700">
            <a:solidFill>
              <a:srgbClr val="E2EFE6"/>
            </a:solidFill>
            <a:prstDash val="solid"/>
          </a:ln>
        </p:spPr>
        <p:txBody>
          <a:bodyPr/>
          <a:lstStyle/>
          <a:p>
            <a:endParaRPr lang="en-US"/>
          </a:p>
        </p:txBody>
      </p:sp>
      <p:sp>
        <p:nvSpPr>
          <p:cNvPr id="27" name="Delete highlight"/>
          <p:cNvSpPr/>
          <p:nvPr/>
        </p:nvSpPr>
        <p:spPr>
          <a:xfrm>
            <a:off x="850392" y="4453128"/>
            <a:ext cx="1837944" cy="283464"/>
          </a:xfrm>
          <a:prstGeom prst="roundRect">
            <a:avLst>
              <a:gd name="adj" fmla="val 19355"/>
            </a:avLst>
          </a:prstGeom>
          <a:noFill/>
          <a:ln w="31750">
            <a:solidFill>
              <a:schemeClr val="accent3"/>
            </a:solidFill>
            <a:prstDash val="solid"/>
          </a:ln>
        </p:spPr>
        <p:txBody>
          <a:bodyPr/>
          <a:lstStyle/>
          <a:p>
            <a:endParaRPr lang="en-US"/>
          </a:p>
        </p:txBody>
      </p:sp>
      <p:sp>
        <p:nvSpPr>
          <p:cNvPr id="28" name="Marker 2"/>
          <p:cNvSpPr txBox="1"/>
          <p:nvPr/>
        </p:nvSpPr>
        <p:spPr>
          <a:xfrm>
            <a:off x="2734056" y="4421124"/>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29" name="Text 25"/>
          <p:cNvSpPr txBox="1"/>
          <p:nvPr/>
        </p:nvSpPr>
        <p:spPr>
          <a:xfrm>
            <a:off x="1152144" y="4471416"/>
            <a:ext cx="1508760" cy="246888"/>
          </a:xfrm>
          <a:prstGeom prst="rect">
            <a:avLst/>
          </a:prstGeom>
          <a:noFill/>
          <a:ln/>
        </p:spPr>
        <p:txBody>
          <a:bodyPr wrap="square" lIns="0" tIns="0" rIns="0" bIns="0" rtlCol="0" anchor="ctr"/>
          <a:lstStyle/>
          <a:p>
            <a:pPr marL="0" indent="0">
              <a:buNone/>
            </a:pPr>
            <a:r>
              <a:rPr lang="en-US" sz="1000" b="1" dirty="0">
                <a:solidFill>
                  <a:srgbClr val="1C1C1C"/>
                </a:solidFill>
              </a:rPr>
              <a:t>Delete</a:t>
            </a:r>
            <a:endParaRPr lang="en-US" sz="1000" dirty="0"/>
          </a:p>
        </p:txBody>
      </p:sp>
      <p:sp>
        <p:nvSpPr>
          <p:cNvPr id="30" name="Text 26"/>
          <p:cNvSpPr txBox="1"/>
          <p:nvPr/>
        </p:nvSpPr>
        <p:spPr>
          <a:xfrm>
            <a:off x="1152144" y="4718304"/>
            <a:ext cx="1508760" cy="246888"/>
          </a:xfrm>
          <a:prstGeom prst="rect">
            <a:avLst/>
          </a:prstGeom>
          <a:noFill/>
          <a:ln/>
        </p:spPr>
        <p:txBody>
          <a:bodyPr wrap="square" lIns="0" tIns="0" rIns="0" bIns="0" rtlCol="0" anchor="ctr"/>
          <a:lstStyle/>
          <a:p>
            <a:pPr marL="0" indent="0">
              <a:buNone/>
            </a:pPr>
            <a:r>
              <a:rPr lang="en-US" sz="1000" dirty="0">
                <a:solidFill>
                  <a:srgbClr val="1C1C1C"/>
                </a:solidFill>
              </a:rPr>
              <a:t>Clear Contents</a:t>
            </a:r>
            <a:endParaRPr lang="en-US" sz="1000" dirty="0"/>
          </a:p>
        </p:txBody>
      </p:sp>
      <p:sp>
        <p:nvSpPr>
          <p:cNvPr id="31" name="Text 27"/>
          <p:cNvSpPr txBox="1"/>
          <p:nvPr/>
        </p:nvSpPr>
        <p:spPr>
          <a:xfrm>
            <a:off x="1152144" y="4965192"/>
            <a:ext cx="1508760" cy="246888"/>
          </a:xfrm>
          <a:prstGeom prst="rect">
            <a:avLst/>
          </a:prstGeom>
          <a:noFill/>
          <a:ln/>
        </p:spPr>
        <p:txBody>
          <a:bodyPr wrap="square" lIns="0" tIns="0" rIns="0" bIns="0" rtlCol="0" anchor="ctr"/>
          <a:lstStyle/>
          <a:p>
            <a:pPr marL="0" indent="0">
              <a:buNone/>
            </a:pPr>
            <a:r>
              <a:rPr lang="en-US" sz="1000" dirty="0">
                <a:solidFill>
                  <a:srgbClr val="1C1C1C"/>
                </a:solidFill>
              </a:rPr>
              <a:t>Format Cells…</a:t>
            </a:r>
            <a:endParaRPr lang="en-US" sz="1000" dirty="0"/>
          </a:p>
        </p:txBody>
      </p:sp>
      <p:sp>
        <p:nvSpPr>
          <p:cNvPr id="32" name="Text 28"/>
          <p:cNvSpPr txBox="1"/>
          <p:nvPr/>
        </p:nvSpPr>
        <p:spPr>
          <a:xfrm>
            <a:off x="1152144" y="5212080"/>
            <a:ext cx="1508760" cy="246888"/>
          </a:xfrm>
          <a:prstGeom prst="rect">
            <a:avLst/>
          </a:prstGeom>
          <a:noFill/>
          <a:ln/>
        </p:spPr>
        <p:txBody>
          <a:bodyPr wrap="square" lIns="0" tIns="0" rIns="0" bIns="0" rtlCol="0" anchor="ctr"/>
          <a:lstStyle/>
          <a:p>
            <a:pPr marL="0" indent="0">
              <a:buNone/>
            </a:pPr>
            <a:r>
              <a:rPr lang="en-US" sz="1000" dirty="0">
                <a:solidFill>
                  <a:srgbClr val="1C1C1C"/>
                </a:solidFill>
              </a:rPr>
              <a:t>Hide</a:t>
            </a:r>
            <a:endParaRPr lang="en-US" sz="1000" dirty="0"/>
          </a:p>
        </p:txBody>
      </p:sp>
      <p:sp>
        <p:nvSpPr>
          <p:cNvPr id="33" name="Marker 1"/>
          <p:cNvSpPr txBox="1"/>
          <p:nvPr/>
        </p:nvSpPr>
        <p:spPr>
          <a:xfrm>
            <a:off x="338328" y="3099816"/>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34" name="Scanned into the wrong place? card"/>
          <p:cNvSpPr/>
          <p:nvPr/>
        </p:nvSpPr>
        <p:spPr>
          <a:xfrm>
            <a:off x="6812280" y="1371600"/>
            <a:ext cx="4828032" cy="1051560"/>
          </a:xfrm>
          <a:prstGeom prst="roundRect">
            <a:avLst>
              <a:gd name="adj" fmla="val 10435"/>
            </a:avLst>
          </a:prstGeom>
          <a:solidFill>
            <a:schemeClr val="bg2"/>
          </a:solidFill>
          <a:ln w="12700">
            <a:solidFill>
              <a:schemeClr val="bg2"/>
            </a:solidFill>
            <a:prstDash val="solid"/>
          </a:ln>
        </p:spPr>
        <p:txBody>
          <a:bodyPr/>
          <a:lstStyle/>
          <a:p>
            <a:endParaRPr lang="en-US"/>
          </a:p>
        </p:txBody>
      </p:sp>
      <p:sp>
        <p:nvSpPr>
          <p:cNvPr id="35" name="Scanned into the wrong place? circle"/>
          <p:cNvSpPr/>
          <p:nvPr/>
        </p:nvSpPr>
        <p:spPr>
          <a:xfrm>
            <a:off x="7013448" y="1600200"/>
            <a:ext cx="594360" cy="594360"/>
          </a:xfrm>
          <a:prstGeom prst="ellipse">
            <a:avLst/>
          </a:prstGeom>
          <a:solidFill>
            <a:srgbClr val="12B4AF"/>
          </a:solidFill>
          <a:ln w="12700">
            <a:solidFill>
              <a:srgbClr val="12B4AF"/>
            </a:solidFill>
            <a:prstDash val="solid"/>
          </a:ln>
        </p:spPr>
        <p:txBody>
          <a:bodyPr/>
          <a:lstStyle/>
          <a:p>
            <a:endParaRPr lang="en-US"/>
          </a:p>
        </p:txBody>
      </p:sp>
      <p:pic>
        <p:nvPicPr>
          <p:cNvPr id="36" name="Scanned into the wrong place?" descr="Scanned into the wrong place?"/>
          <p:cNvPicPr>
            <a:picLocks noChangeAspect="1"/>
          </p:cNvPicPr>
          <p:nvPr/>
        </p:nvPicPr>
        <p:blipFill>
          <a:blip r:embed="rId3"/>
          <a:stretch>
            <a:fillRect/>
          </a:stretch>
        </p:blipFill>
        <p:spPr>
          <a:xfrm>
            <a:off x="7156094" y="1742846"/>
            <a:ext cx="309067" cy="309067"/>
          </a:xfrm>
          <a:prstGeom prst="rect">
            <a:avLst/>
          </a:prstGeom>
        </p:spPr>
      </p:pic>
      <p:sp>
        <p:nvSpPr>
          <p:cNvPr id="37" name="Text 32"/>
          <p:cNvSpPr txBox="1"/>
          <p:nvPr/>
        </p:nvSpPr>
        <p:spPr>
          <a:xfrm>
            <a:off x="7818120" y="1463040"/>
            <a:ext cx="3639312" cy="868680"/>
          </a:xfrm>
          <a:prstGeom prst="rect">
            <a:avLst/>
          </a:prstGeom>
          <a:noFill/>
          <a:ln/>
        </p:spPr>
        <p:txBody>
          <a:bodyPr wrap="square" lIns="0" tIns="0" rIns="0" bIns="0" rtlCol="0" anchor="ctr"/>
          <a:lstStyle/>
          <a:p>
            <a:pPr marL="0" indent="0">
              <a:buNone/>
            </a:pPr>
            <a:r>
              <a:rPr lang="en-US" sz="1600" b="1" dirty="0">
                <a:solidFill>
                  <a:schemeClr val="tx1"/>
                </a:solidFill>
              </a:rPr>
              <a:t>Scanned into the wrong place?</a:t>
            </a:r>
            <a:endParaRPr lang="en-US" sz="1400" dirty="0"/>
          </a:p>
          <a:p>
            <a:pPr marL="0" indent="0">
              <a:buNone/>
            </a:pPr>
            <a:r>
              <a:rPr lang="en-US" sz="1400" dirty="0">
                <a:solidFill>
                  <a:schemeClr val="tx2"/>
                </a:solidFill>
              </a:rPr>
              <a:t>Press Ctrl + Z right away. It undoes the last scan.</a:t>
            </a:r>
            <a:endParaRPr lang="en-US" sz="1400" dirty="0"/>
          </a:p>
        </p:txBody>
      </p:sp>
      <p:sp>
        <p:nvSpPr>
          <p:cNvPr id="38" name="A bad row, or scanned twice? card"/>
          <p:cNvSpPr/>
          <p:nvPr/>
        </p:nvSpPr>
        <p:spPr>
          <a:xfrm>
            <a:off x="6812280" y="2587752"/>
            <a:ext cx="4828032" cy="1051560"/>
          </a:xfrm>
          <a:prstGeom prst="roundRect">
            <a:avLst>
              <a:gd name="adj" fmla="val 10435"/>
            </a:avLst>
          </a:prstGeom>
          <a:solidFill>
            <a:schemeClr val="bg2"/>
          </a:solidFill>
          <a:ln w="12700">
            <a:solidFill>
              <a:schemeClr val="bg2"/>
            </a:solidFill>
            <a:prstDash val="solid"/>
          </a:ln>
        </p:spPr>
        <p:txBody>
          <a:bodyPr/>
          <a:lstStyle/>
          <a:p>
            <a:endParaRPr lang="en-US"/>
          </a:p>
        </p:txBody>
      </p:sp>
      <p:sp>
        <p:nvSpPr>
          <p:cNvPr id="39" name="A bad row, or scanned twice? circle"/>
          <p:cNvSpPr/>
          <p:nvPr/>
        </p:nvSpPr>
        <p:spPr>
          <a:xfrm>
            <a:off x="7013448" y="2816352"/>
            <a:ext cx="594360" cy="594360"/>
          </a:xfrm>
          <a:prstGeom prst="ellipse">
            <a:avLst/>
          </a:prstGeom>
          <a:solidFill>
            <a:srgbClr val="12B4AF"/>
          </a:solidFill>
          <a:ln w="12700">
            <a:solidFill>
              <a:srgbClr val="12B4AF"/>
            </a:solidFill>
            <a:prstDash val="solid"/>
          </a:ln>
        </p:spPr>
        <p:txBody>
          <a:bodyPr/>
          <a:lstStyle/>
          <a:p>
            <a:endParaRPr lang="en-US"/>
          </a:p>
        </p:txBody>
      </p:sp>
      <p:pic>
        <p:nvPicPr>
          <p:cNvPr id="40" name="A bad row, or scanned twice?" descr="A bad row, or scanned twice?"/>
          <p:cNvPicPr>
            <a:picLocks noChangeAspect="1"/>
          </p:cNvPicPr>
          <p:nvPr/>
        </p:nvPicPr>
        <p:blipFill>
          <a:blip r:embed="rId4"/>
          <a:stretch>
            <a:fillRect/>
          </a:stretch>
        </p:blipFill>
        <p:spPr>
          <a:xfrm>
            <a:off x="7156094" y="2958998"/>
            <a:ext cx="309067" cy="309067"/>
          </a:xfrm>
          <a:prstGeom prst="rect">
            <a:avLst/>
          </a:prstGeom>
        </p:spPr>
      </p:pic>
      <p:sp>
        <p:nvSpPr>
          <p:cNvPr id="41" name="Text 35"/>
          <p:cNvSpPr txBox="1"/>
          <p:nvPr/>
        </p:nvSpPr>
        <p:spPr>
          <a:xfrm>
            <a:off x="7818120" y="2679192"/>
            <a:ext cx="3639312" cy="868680"/>
          </a:xfrm>
          <a:prstGeom prst="rect">
            <a:avLst/>
          </a:prstGeom>
          <a:noFill/>
          <a:ln/>
        </p:spPr>
        <p:txBody>
          <a:bodyPr wrap="square" lIns="0" tIns="0" rIns="0" bIns="0" rtlCol="0" anchor="ctr"/>
          <a:lstStyle/>
          <a:p>
            <a:pPr marL="0" indent="0">
              <a:buNone/>
            </a:pPr>
            <a:r>
              <a:rPr lang="en-US" sz="1600" b="1" dirty="0">
                <a:solidFill>
                  <a:schemeClr val="tx1"/>
                </a:solidFill>
              </a:rPr>
              <a:t>A bad row, or scanned twice?</a:t>
            </a:r>
            <a:endParaRPr lang="en-US" sz="1400" dirty="0"/>
          </a:p>
          <a:p>
            <a:pPr marL="0" indent="0">
              <a:buNone/>
            </a:pPr>
            <a:r>
              <a:rPr lang="en-US" sz="1400" dirty="0">
                <a:solidFill>
                  <a:schemeClr val="tx2"/>
                </a:solidFill>
              </a:rPr>
              <a:t>Right-click the row number (1), click Delete (2). Then scan that QR code again.</a:t>
            </a:r>
            <a:endParaRPr lang="en-US" sz="1400" dirty="0"/>
          </a:p>
        </p:txBody>
      </p:sp>
      <p:sp>
        <p:nvSpPr>
          <p:cNvPr id="42" name="Answers in the wrong columns? card"/>
          <p:cNvSpPr/>
          <p:nvPr/>
        </p:nvSpPr>
        <p:spPr>
          <a:xfrm>
            <a:off x="6812280" y="3803904"/>
            <a:ext cx="4828032" cy="1051560"/>
          </a:xfrm>
          <a:prstGeom prst="roundRect">
            <a:avLst>
              <a:gd name="adj" fmla="val 10435"/>
            </a:avLst>
          </a:prstGeom>
          <a:solidFill>
            <a:schemeClr val="bg2"/>
          </a:solidFill>
          <a:ln w="12700">
            <a:solidFill>
              <a:schemeClr val="bg2"/>
            </a:solidFill>
            <a:prstDash val="solid"/>
          </a:ln>
        </p:spPr>
        <p:txBody>
          <a:bodyPr/>
          <a:lstStyle/>
          <a:p>
            <a:endParaRPr lang="en-US"/>
          </a:p>
        </p:txBody>
      </p:sp>
      <p:sp>
        <p:nvSpPr>
          <p:cNvPr id="43" name="Answers in the wrong columns? circle"/>
          <p:cNvSpPr/>
          <p:nvPr/>
        </p:nvSpPr>
        <p:spPr>
          <a:xfrm>
            <a:off x="7013448" y="4032504"/>
            <a:ext cx="594360" cy="594360"/>
          </a:xfrm>
          <a:prstGeom prst="ellipse">
            <a:avLst/>
          </a:prstGeom>
          <a:solidFill>
            <a:srgbClr val="12B4AF"/>
          </a:solidFill>
          <a:ln w="12700">
            <a:solidFill>
              <a:srgbClr val="12B4AF"/>
            </a:solidFill>
            <a:prstDash val="solid"/>
          </a:ln>
        </p:spPr>
        <p:txBody>
          <a:bodyPr/>
          <a:lstStyle/>
          <a:p>
            <a:endParaRPr lang="en-US"/>
          </a:p>
        </p:txBody>
      </p:sp>
      <p:pic>
        <p:nvPicPr>
          <p:cNvPr id="44" name="Answers in the wrong columns?" descr="Answers in the wrong columns?"/>
          <p:cNvPicPr>
            <a:picLocks noChangeAspect="1"/>
          </p:cNvPicPr>
          <p:nvPr/>
        </p:nvPicPr>
        <p:blipFill>
          <a:blip r:embed="rId5"/>
          <a:stretch>
            <a:fillRect/>
          </a:stretch>
        </p:blipFill>
        <p:spPr>
          <a:xfrm>
            <a:off x="7156094" y="4175150"/>
            <a:ext cx="309067" cy="309067"/>
          </a:xfrm>
          <a:prstGeom prst="rect">
            <a:avLst/>
          </a:prstGeom>
        </p:spPr>
      </p:pic>
      <p:sp>
        <p:nvSpPr>
          <p:cNvPr id="45" name="Text 38"/>
          <p:cNvSpPr txBox="1"/>
          <p:nvPr/>
        </p:nvSpPr>
        <p:spPr>
          <a:xfrm>
            <a:off x="7818120" y="3895344"/>
            <a:ext cx="3639312" cy="868680"/>
          </a:xfrm>
          <a:prstGeom prst="rect">
            <a:avLst/>
          </a:prstGeom>
          <a:noFill/>
          <a:ln/>
        </p:spPr>
        <p:txBody>
          <a:bodyPr wrap="square" lIns="0" tIns="0" rIns="0" bIns="0" rtlCol="0" anchor="ctr"/>
          <a:lstStyle/>
          <a:p>
            <a:pPr marL="0" indent="0">
              <a:buNone/>
            </a:pPr>
            <a:r>
              <a:rPr lang="en-US" sz="1600" b="1" dirty="0">
                <a:solidFill>
                  <a:schemeClr val="tx1"/>
                </a:solidFill>
              </a:rPr>
              <a:t>Answers in the wrong columns?</a:t>
            </a:r>
            <a:endParaRPr lang="en-US" sz="1400" dirty="0"/>
          </a:p>
          <a:p>
            <a:pPr marL="0" indent="0">
              <a:buNone/>
            </a:pPr>
            <a:r>
              <a:rPr lang="en-US" sz="1400" dirty="0">
                <a:solidFill>
                  <a:schemeClr val="tx2"/>
                </a:solidFill>
              </a:rPr>
              <a:t>The cursor wasn't in column A. Delete the row, click column A, scan again.</a:t>
            </a:r>
            <a:endParaRPr lang="en-US" sz="1400" dirty="0"/>
          </a:p>
        </p:txBody>
      </p:sp>
      <p:sp>
        <p:nvSpPr>
          <p:cNvPr id="46" name="Header warning"/>
          <p:cNvSpPr/>
          <p:nvPr/>
        </p:nvSpPr>
        <p:spPr>
          <a:xfrm>
            <a:off x="6812280" y="5074920"/>
            <a:ext cx="4828032" cy="1143000"/>
          </a:xfrm>
          <a:prstGeom prst="roundRect">
            <a:avLst>
              <a:gd name="adj" fmla="val 9600"/>
            </a:avLst>
          </a:prstGeom>
          <a:solidFill>
            <a:schemeClr val="tx1"/>
          </a:solidFill>
          <a:ln w="12700">
            <a:solidFill>
              <a:schemeClr val="tx1"/>
            </a:solidFill>
            <a:prstDash val="solid"/>
          </a:ln>
        </p:spPr>
        <p:txBody>
          <a:bodyPr/>
          <a:lstStyle/>
          <a:p>
            <a:endParaRPr lang="en-US"/>
          </a:p>
        </p:txBody>
      </p:sp>
      <p:sp>
        <p:nvSpPr>
          <p:cNvPr id="47" name="Warning circle"/>
          <p:cNvSpPr/>
          <p:nvPr/>
        </p:nvSpPr>
        <p:spPr>
          <a:xfrm>
            <a:off x="7013448" y="5349240"/>
            <a:ext cx="594360" cy="594360"/>
          </a:xfrm>
          <a:prstGeom prst="ellipse">
            <a:avLst/>
          </a:prstGeom>
          <a:solidFill>
            <a:srgbClr val="F5A623"/>
          </a:solidFill>
          <a:ln w="12700">
            <a:solidFill>
              <a:srgbClr val="F5A623"/>
            </a:solidFill>
            <a:prstDash val="solid"/>
          </a:ln>
        </p:spPr>
        <p:txBody>
          <a:bodyPr/>
          <a:lstStyle/>
          <a:p>
            <a:endParaRPr lang="en-US"/>
          </a:p>
        </p:txBody>
      </p:sp>
      <p:pic>
        <p:nvPicPr>
          <p:cNvPr id="48" name="Warning" descr="Warning"/>
          <p:cNvPicPr>
            <a:picLocks noChangeAspect="1"/>
          </p:cNvPicPr>
          <p:nvPr/>
        </p:nvPicPr>
        <p:blipFill>
          <a:blip r:embed="rId6"/>
          <a:stretch>
            <a:fillRect/>
          </a:stretch>
        </p:blipFill>
        <p:spPr>
          <a:xfrm>
            <a:off x="7156094" y="5491886"/>
            <a:ext cx="309067" cy="309067"/>
          </a:xfrm>
          <a:prstGeom prst="rect">
            <a:avLst/>
          </a:prstGeom>
        </p:spPr>
      </p:pic>
      <p:sp>
        <p:nvSpPr>
          <p:cNvPr id="49" name="Text 41"/>
          <p:cNvSpPr txBox="1"/>
          <p:nvPr/>
        </p:nvSpPr>
        <p:spPr>
          <a:xfrm>
            <a:off x="7818120" y="5120640"/>
            <a:ext cx="3639312" cy="1051560"/>
          </a:xfrm>
          <a:prstGeom prst="rect">
            <a:avLst/>
          </a:prstGeom>
          <a:noFill/>
          <a:ln/>
        </p:spPr>
        <p:txBody>
          <a:bodyPr wrap="square" lIns="0" tIns="0" rIns="0" bIns="0" rtlCol="0" anchor="ctr"/>
          <a:lstStyle/>
          <a:p>
            <a:pPr marL="0" indent="0">
              <a:buNone/>
            </a:pPr>
            <a:r>
              <a:rPr lang="en-US" sz="1600" b="1" dirty="0">
                <a:solidFill>
                  <a:schemeClr val="bg1"/>
                </a:solidFill>
              </a:rPr>
              <a:t>Never change the teal header row</a:t>
            </a:r>
            <a:endParaRPr lang="en-US" sz="1400" dirty="0"/>
          </a:p>
          <a:p>
            <a:pPr marL="0" indent="0">
              <a:buNone/>
            </a:pPr>
            <a:r>
              <a:rPr lang="en-US" sz="1400" dirty="0">
                <a:solidFill>
                  <a:schemeClr val="bg2"/>
                </a:solidFill>
              </a:rPr>
              <a:t>Excel and the dashboard find the data by those names.</a:t>
            </a:r>
            <a:endParaRPr lang="en-US" sz="1400" dirty="0"/>
          </a:p>
        </p:txBody>
      </p:sp>
      <p:sp>
        <p:nvSpPr>
          <p:cNvPr id="1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See the results in Excel</a:t>
            </a:r>
            <a:endParaRPr lang="en-US" sz="3600" dirty="0"/>
          </a:p>
        </p:txBody>
      </p:sp>
      <p:sp>
        <p:nvSpPr>
          <p:cNvPr id="4" name="Text 1"/>
          <p:cNvSpPr txBox="1"/>
          <p:nvPr/>
        </p:nvSpPr>
        <p:spPr>
          <a:xfrm>
            <a:off x="548640" y="1325880"/>
            <a:ext cx="6035040" cy="640080"/>
          </a:xfrm>
          <a:prstGeom prst="rect">
            <a:avLst/>
          </a:prstGeom>
          <a:noFill/>
          <a:ln/>
        </p:spPr>
        <p:txBody>
          <a:bodyPr wrap="square" lIns="0" tIns="0" rIns="0" bIns="0" rtlCol="0" anchor="t"/>
          <a:lstStyle/>
          <a:p>
            <a:pPr marL="0" indent="0">
              <a:buNone/>
            </a:pPr>
            <a:r>
              <a:rPr lang="en-US" sz="1800" b="1" dirty="0">
                <a:solidFill>
                  <a:schemeClr val="tx1"/>
                </a:solidFill>
              </a:rPr>
              <a:t>Team Summary</a:t>
            </a:r>
            <a:endParaRPr lang="en-US" sz="1400" dirty="0"/>
          </a:p>
          <a:p>
            <a:pPr marL="0" indent="0">
              <a:buNone/>
            </a:pPr>
            <a:r>
              <a:rPr lang="en-US" sz="1400" dirty="0">
                <a:solidFill>
                  <a:schemeClr val="tx2"/>
                </a:solidFill>
              </a:rPr>
              <a:t>One row per team. Updates by itself after every scan.</a:t>
            </a:r>
            <a:endParaRPr lang="en-US" sz="1400" dirty="0"/>
          </a:p>
        </p:txBody>
      </p:sp>
      <p:sp>
        <p:nvSpPr>
          <p:cNvPr id="5" name="Excel window"/>
          <p:cNvSpPr/>
          <p:nvPr/>
        </p:nvSpPr>
        <p:spPr>
          <a:xfrm>
            <a:off x="548640" y="2011680"/>
            <a:ext cx="5852160" cy="379476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6" name="Excel title bar"/>
          <p:cNvSpPr/>
          <p:nvPr/>
        </p:nvSpPr>
        <p:spPr>
          <a:xfrm>
            <a:off x="548640" y="2011680"/>
            <a:ext cx="5852160" cy="310896"/>
          </a:xfrm>
          <a:prstGeom prst="rect">
            <a:avLst/>
          </a:prstGeom>
          <a:solidFill>
            <a:srgbClr val="1E7145"/>
          </a:solidFill>
          <a:ln w="12700">
            <a:solidFill>
              <a:srgbClr val="1E7145"/>
            </a:solidFill>
            <a:prstDash val="solid"/>
          </a:ln>
        </p:spPr>
        <p:txBody>
          <a:bodyPr/>
          <a:lstStyle/>
          <a:p>
            <a:endParaRPr lang="en-US"/>
          </a:p>
        </p:txBody>
      </p:sp>
      <p:sp>
        <p:nvSpPr>
          <p:cNvPr id="7" name="Text 4"/>
          <p:cNvSpPr txBox="1"/>
          <p:nvPr/>
        </p:nvSpPr>
        <p:spPr>
          <a:xfrm>
            <a:off x="685800" y="2011680"/>
            <a:ext cx="4663440" cy="310896"/>
          </a:xfrm>
          <a:prstGeom prst="rect">
            <a:avLst/>
          </a:prstGeom>
          <a:noFill/>
          <a:ln/>
        </p:spPr>
        <p:txBody>
          <a:bodyPr wrap="square" lIns="0" tIns="0" rIns="0" bIns="0" rtlCol="0" anchor="ctr"/>
          <a:lstStyle/>
          <a:p>
            <a:pPr marL="0" indent="0" algn="l">
              <a:buNone/>
            </a:pPr>
            <a:r>
              <a:rPr lang="en-US" sz="1100" dirty="0">
                <a:solidFill>
                  <a:srgbClr val="FFFFFF"/>
                </a:solidFill>
              </a:rPr>
              <a:t>DERT_Scouting_REBUILT.xlsx  -  Excel</a:t>
            </a:r>
            <a:endParaRPr lang="en-US" sz="1100" dirty="0"/>
          </a:p>
        </p:txBody>
      </p:sp>
      <p:sp>
        <p:nvSpPr>
          <p:cNvPr id="8" name="Text 5"/>
          <p:cNvSpPr txBox="1"/>
          <p:nvPr/>
        </p:nvSpPr>
        <p:spPr>
          <a:xfrm>
            <a:off x="5440680" y="2011680"/>
            <a:ext cx="868680" cy="310896"/>
          </a:xfrm>
          <a:prstGeom prst="rect">
            <a:avLst/>
          </a:prstGeom>
          <a:noFill/>
          <a:ln/>
        </p:spPr>
        <p:txBody>
          <a:bodyPr wrap="square" lIns="0" tIns="0" rIns="0" bIns="0" rtlCol="0" anchor="ctr"/>
          <a:lstStyle/>
          <a:p>
            <a:pPr marL="0" indent="0" algn="r">
              <a:buNone/>
            </a:pPr>
            <a:r>
              <a:rPr lang="en-US" sz="1000" dirty="0">
                <a:solidFill>
                  <a:srgbClr val="FFFFFF"/>
                </a:solidFill>
              </a:rPr>
              <a:t>—   ☐   ✕</a:t>
            </a:r>
            <a:endParaRPr lang="en-US" sz="1000" dirty="0"/>
          </a:p>
        </p:txBody>
      </p:sp>
      <p:sp>
        <p:nvSpPr>
          <p:cNvPr id="9" name="Formula bar"/>
          <p:cNvSpPr/>
          <p:nvPr/>
        </p:nvSpPr>
        <p:spPr>
          <a:xfrm>
            <a:off x="548640" y="2322576"/>
            <a:ext cx="5852160" cy="310896"/>
          </a:xfrm>
          <a:prstGeom prst="rect">
            <a:avLst/>
          </a:prstGeom>
          <a:solidFill>
            <a:srgbClr val="FFFFFF"/>
          </a:solidFill>
          <a:ln w="6350">
            <a:solidFill>
              <a:srgbClr val="E6E6E6"/>
            </a:solidFill>
            <a:prstDash val="solid"/>
          </a:ln>
        </p:spPr>
        <p:txBody>
          <a:bodyPr/>
          <a:lstStyle/>
          <a:p>
            <a:endParaRPr lang="en-US"/>
          </a:p>
        </p:txBody>
      </p:sp>
      <p:sp>
        <p:nvSpPr>
          <p:cNvPr id="10" name="Name Box"/>
          <p:cNvSpPr txBox="1"/>
          <p:nvPr/>
        </p:nvSpPr>
        <p:spPr>
          <a:xfrm>
            <a:off x="621792" y="2368296"/>
            <a:ext cx="731520" cy="219456"/>
          </a:xfrm>
          <a:prstGeom prst="rect">
            <a:avLst/>
          </a:prstGeom>
          <a:solidFill>
            <a:srgbClr val="FFFFFF"/>
          </a:solidFill>
          <a:ln w="9525">
            <a:solidFill>
              <a:srgbClr val="A6A6A6"/>
            </a:solidFill>
          </a:ln>
        </p:spPr>
        <p:txBody>
          <a:bodyPr wrap="square" lIns="0" tIns="635" rIns="635" bIns="0" rtlCol="0" anchor="ctr"/>
          <a:lstStyle/>
          <a:p>
            <a:pPr marL="0" indent="0">
              <a:buNone/>
            </a:pPr>
            <a:r>
              <a:rPr lang="en-US" sz="1000" dirty="0">
                <a:solidFill>
                  <a:srgbClr val="1C1C1C"/>
                </a:solidFill>
              </a:rPr>
              <a:t>A5</a:t>
            </a:r>
            <a:endParaRPr lang="en-US" sz="1000" dirty="0"/>
          </a:p>
        </p:txBody>
      </p:sp>
      <p:sp>
        <p:nvSpPr>
          <p:cNvPr id="11" name="Text 8"/>
          <p:cNvSpPr txBox="1"/>
          <p:nvPr/>
        </p:nvSpPr>
        <p:spPr>
          <a:xfrm>
            <a:off x="1463040" y="2322576"/>
            <a:ext cx="274320" cy="310896"/>
          </a:xfrm>
          <a:prstGeom prst="rect">
            <a:avLst/>
          </a:prstGeom>
          <a:noFill/>
          <a:ln/>
        </p:spPr>
        <p:txBody>
          <a:bodyPr wrap="square" lIns="0" tIns="0" rIns="0" bIns="0" rtlCol="0" anchor="ctr"/>
          <a:lstStyle/>
          <a:p>
            <a:pPr marL="0" indent="0">
              <a:buNone/>
            </a:pPr>
            <a:r>
              <a:rPr lang="en-US" sz="1000" i="1" dirty="0">
                <a:solidFill>
                  <a:srgbClr val="666666"/>
                </a:solidFill>
              </a:rPr>
              <a:t>fx</a:t>
            </a:r>
            <a:endParaRPr lang="en-US" sz="1000" dirty="0"/>
          </a:p>
        </p:txBody>
      </p:sp>
      <p:graphicFrame>
        <p:nvGraphicFramePr>
          <p:cNvPr id="19" name="Sheet grid"/>
          <p:cNvGraphicFramePr>
            <a:graphicFrameLocks noGrp="1"/>
          </p:cNvGraphicFramePr>
          <p:nvPr>
            <p:extLst>
              <p:ext uri="{D42A27DB-BD31-4B8C-83A1-F6EECF244321}">
                <p14:modId xmlns:p14="http://schemas.microsoft.com/office/powerpoint/2010/main" val="1579011935"/>
              </p:ext>
            </p:extLst>
          </p:nvPr>
        </p:nvGraphicFramePr>
        <p:xfrm>
          <a:off x="557784" y="2633472"/>
          <a:ext cx="5522976" cy="914400"/>
        </p:xfrm>
        <a:graphic>
          <a:graphicData uri="http://schemas.openxmlformats.org/drawingml/2006/table">
            <a:tbl>
              <a:tblPr/>
              <a:tblGrid>
                <a:gridCol w="365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13232">
                  <a:extLst>
                    <a:ext uri="{9D8B030D-6E8A-4147-A177-3AD203B41FA5}">
                      <a16:colId xmlns:a16="http://schemas.microsoft.com/office/drawing/2014/main" val="20007"/>
                    </a:ext>
                  </a:extLst>
                </a:gridCol>
              </a:tblGrid>
              <a:tr h="219456">
                <a:tc>
                  <a:txBody>
                    <a:bodyPr/>
                    <a:lstStyle/>
                    <a:p>
                      <a:pPr marL="0" indent="0" algn="ctr">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A</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B</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C</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D</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F</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G</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56032">
                <a:tc>
                  <a:txBody>
                    <a:bodyPr/>
                    <a:lstStyle/>
                    <a:p>
                      <a:pPr marL="0" indent="0" algn="ctr">
                        <a:buNone/>
                      </a:pPr>
                      <a:r>
                        <a:rPr lang="en-US" sz="1000" dirty="0">
                          <a:solidFill>
                            <a:srgbClr val="444444"/>
                          </a:solidFill>
                        </a:rPr>
                        <a:t>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gridSpan="7">
                  <a:txBody>
                    <a:bodyPr/>
                    <a:lstStyle/>
                    <a:p>
                      <a:pPr marL="0" indent="0" algn="l">
                        <a:buNone/>
                      </a:pPr>
                      <a:r>
                        <a:rPr lang="en-US" sz="1100" b="1" dirty="0">
                          <a:solidFill>
                            <a:srgbClr val="F9F9F9"/>
                          </a:solidFill>
                        </a:rPr>
                        <a:t>DERT #2040 - REBUILT Team Summary</a:t>
                      </a:r>
                      <a:endParaRPr lang="en-US" sz="11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C1C1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444444"/>
                          </a:solidFill>
                        </a:rPr>
                        <a:t>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gridSpan="7">
                  <a:txBody>
                    <a:bodyPr/>
                    <a:lstStyle/>
                    <a:p>
                      <a:pPr marL="0" indent="0" algn="l">
                        <a:buNone/>
                      </a:pPr>
                      <a:r>
                        <a:rPr lang="en-US" sz="1000" b="1" dirty="0">
                          <a:solidFill>
                            <a:srgbClr val="1C1C1C"/>
                          </a:solidFill>
                        </a:rPr>
                        <a:t>Updates automatically from the Scans sheet.</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56032">
                <a:tc>
                  <a:txBody>
                    <a:bodyPr/>
                    <a:lstStyle/>
                    <a:p>
                      <a:pPr marL="0" indent="0" algn="ctr">
                        <a:buNone/>
                      </a:pPr>
                      <a:r>
                        <a:rPr lang="en-US" sz="1000" dirty="0">
                          <a:solidFill>
                            <a:srgbClr val="444444"/>
                          </a:solidFill>
                        </a:rPr>
                        <a:t>3</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1000" dirty="0">
                          <a:solidFill>
                            <a:srgbClr val="444444"/>
                          </a:solidFill>
                        </a:rPr>
                        <a:t>4</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C1C1C"/>
                          </a:solidFill>
                        </a:rPr>
                        <a:t>Team #</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ctr">
                        <a:buNone/>
                      </a:pPr>
                      <a:r>
                        <a:rPr lang="en-US" sz="1000" b="1" dirty="0">
                          <a:solidFill>
                            <a:srgbClr val="1C1C1C"/>
                          </a:solidFill>
                        </a:rPr>
                        <a:t>Matches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ctr">
                        <a:buNone/>
                      </a:pPr>
                      <a:r>
                        <a:rPr lang="en-US" sz="1000" b="1" dirty="0">
                          <a:solidFill>
                            <a:srgbClr val="1C1C1C"/>
                          </a:solidFill>
                        </a:rPr>
                        <a:t>Avg auto pts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ctr">
                        <a:buNone/>
                      </a:pPr>
                      <a:r>
                        <a:rPr lang="en-US" sz="1000" b="1" dirty="0">
                          <a:solidFill>
                            <a:srgbClr val="1C1C1C"/>
                          </a:solidFill>
                        </a:rPr>
                        <a:t>Avg teleop fuel</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ctr">
                        <a:buNone/>
                      </a:pPr>
                      <a:r>
                        <a:rPr lang="en-US" sz="1000" b="1" dirty="0">
                          <a:solidFill>
                            <a:srgbClr val="1C1C1C"/>
                          </a:solidFill>
                        </a:rPr>
                        <a:t>Avg climb pts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ctr">
                        <a:buNone/>
                      </a:pPr>
                      <a:r>
                        <a:rPr lang="en-US" sz="1000" b="1" dirty="0">
                          <a:solidFill>
                            <a:srgbClr val="1C1C1C"/>
                          </a:solidFill>
                        </a:rPr>
                        <a:t>Avg total pts</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ctr">
                        <a:buNone/>
                      </a:pPr>
                      <a:r>
                        <a:rPr lang="en-US" sz="1000" b="1" dirty="0">
                          <a:solidFill>
                            <a:srgbClr val="1C1C1C"/>
                          </a:solidFill>
                        </a:rPr>
                        <a:t>Best total</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extLst>
                  <a:ext uri="{0D108BD9-81ED-4DB2-BD59-A6C34878D82A}">
                    <a16:rowId xmlns:a16="http://schemas.microsoft.com/office/drawing/2014/main" val="10004"/>
                  </a:ext>
                </a:extLst>
              </a:tr>
              <a:tr h="256032">
                <a:tc>
                  <a:txBody>
                    <a:bodyPr/>
                    <a:lstStyle/>
                    <a:p>
                      <a:pPr marL="0" indent="0" algn="ctr">
                        <a:buNone/>
                      </a:pPr>
                      <a:r>
                        <a:rPr lang="en-US" sz="1000" dirty="0">
                          <a:solidFill>
                            <a:srgbClr val="444444"/>
                          </a:solidFill>
                        </a:rPr>
                        <a:t>5</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C1C1C"/>
                          </a:solidFill>
                        </a:rPr>
                        <a:t>648</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8.2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14.0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0.0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22.2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BA877"/>
                    </a:solidFill>
                  </a:tcPr>
                </a:tc>
                <a:tc>
                  <a:txBody>
                    <a:bodyPr/>
                    <a:lstStyle/>
                    <a:p>
                      <a:pPr marL="0" indent="0" algn="ctr">
                        <a:buNone/>
                      </a:pPr>
                      <a:r>
                        <a:rPr lang="en-US" sz="1000" dirty="0">
                          <a:solidFill>
                            <a:srgbClr val="1C1C1C"/>
                          </a:solidFill>
                        </a:rPr>
                        <a:t>37</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444444"/>
                          </a:solidFill>
                        </a:rPr>
                        <a:t>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C1C1C"/>
                          </a:solidFill>
                        </a:rPr>
                        <a:t>1625</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26.4</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70.6</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0.0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97.0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D9E082"/>
                    </a:solidFill>
                  </a:tcPr>
                </a:tc>
                <a:tc>
                  <a:txBody>
                    <a:bodyPr/>
                    <a:lstStyle/>
                    <a:p>
                      <a:pPr marL="0" indent="0" algn="ctr">
                        <a:buNone/>
                      </a:pPr>
                      <a:r>
                        <a:rPr lang="en-US" sz="1000" dirty="0">
                          <a:solidFill>
                            <a:srgbClr val="1C1C1C"/>
                          </a:solidFill>
                        </a:rPr>
                        <a:t>137</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lgn="ctr">
                        <a:buNone/>
                      </a:pPr>
                      <a:r>
                        <a:rPr lang="en-US" sz="1000" dirty="0">
                          <a:solidFill>
                            <a:srgbClr val="444444"/>
                          </a:solidFill>
                        </a:rPr>
                        <a:t>7</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C1C1C"/>
                          </a:solidFill>
                        </a:rPr>
                        <a:t>1736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3.8</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20.9</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0.0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24.8</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CB179"/>
                    </a:solidFill>
                  </a:tcPr>
                </a:tc>
                <a:tc>
                  <a:txBody>
                    <a:bodyPr/>
                    <a:lstStyle/>
                    <a:p>
                      <a:pPr marL="0" indent="0" algn="ctr">
                        <a:buNone/>
                      </a:pPr>
                      <a:r>
                        <a:rPr lang="en-US" sz="1000" dirty="0">
                          <a:solidFill>
                            <a:srgbClr val="1C1C1C"/>
                          </a:solidFill>
                        </a:rPr>
                        <a:t>40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000" dirty="0">
                          <a:solidFill>
                            <a:srgbClr val="444444"/>
                          </a:solidFill>
                        </a:rPr>
                        <a:t>8</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C1C1C"/>
                          </a:solidFill>
                        </a:rPr>
                        <a:t>1756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19.2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144.2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0.0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163.3</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AED37F"/>
                    </a:solidFill>
                  </a:tcPr>
                </a:tc>
                <a:tc>
                  <a:txBody>
                    <a:bodyPr/>
                    <a:lstStyle/>
                    <a:p>
                      <a:pPr marL="0" indent="0" algn="ctr">
                        <a:buNone/>
                      </a:pPr>
                      <a:r>
                        <a:rPr lang="en-US" sz="1000" dirty="0">
                          <a:solidFill>
                            <a:srgbClr val="1C1C1C"/>
                          </a:solidFill>
                        </a:rPr>
                        <a:t>261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lgn="ctr">
                        <a:buNone/>
                      </a:pPr>
                      <a:r>
                        <a:rPr lang="en-US" sz="1000" dirty="0">
                          <a:solidFill>
                            <a:srgbClr val="444444"/>
                          </a:solidFill>
                        </a:rPr>
                        <a:t>9</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C1C1C"/>
                          </a:solidFill>
                        </a:rPr>
                        <a:t>2022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3.2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35.7</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0.0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1C1C"/>
                          </a:solidFill>
                        </a:rPr>
                        <a:t>38.8</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E683"/>
                    </a:solidFill>
                  </a:tcPr>
                </a:tc>
                <a:tc>
                  <a:txBody>
                    <a:bodyPr/>
                    <a:lstStyle/>
                    <a:p>
                      <a:pPr marL="0" indent="0" algn="ctr">
                        <a:buNone/>
                      </a:pPr>
                      <a:r>
                        <a:rPr lang="en-US" sz="1000" dirty="0">
                          <a:solidFill>
                            <a:srgbClr val="1C1C1C"/>
                          </a:solidFill>
                        </a:rPr>
                        <a:t>77</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3" name="Sheet tab bar"/>
          <p:cNvSpPr/>
          <p:nvPr/>
        </p:nvSpPr>
        <p:spPr>
          <a:xfrm>
            <a:off x="548640" y="5495544"/>
            <a:ext cx="5852160" cy="310896"/>
          </a:xfrm>
          <a:prstGeom prst="rect">
            <a:avLst/>
          </a:prstGeom>
          <a:solidFill>
            <a:srgbClr val="F3F3F3"/>
          </a:solidFill>
          <a:ln w="6350">
            <a:solidFill>
              <a:srgbClr val="E0E0E0"/>
            </a:solidFill>
            <a:prstDash val="solid"/>
          </a:ln>
        </p:spPr>
        <p:txBody>
          <a:bodyPr/>
          <a:lstStyle/>
          <a:p>
            <a:endParaRPr lang="en-US"/>
          </a:p>
        </p:txBody>
      </p:sp>
      <p:sp>
        <p:nvSpPr>
          <p:cNvPr id="14" name="Text 10"/>
          <p:cNvSpPr txBox="1"/>
          <p:nvPr/>
        </p:nvSpPr>
        <p:spPr>
          <a:xfrm>
            <a:off x="640080" y="5495544"/>
            <a:ext cx="457200" cy="310896"/>
          </a:xfrm>
          <a:prstGeom prst="rect">
            <a:avLst/>
          </a:prstGeom>
          <a:noFill/>
          <a:ln/>
        </p:spPr>
        <p:txBody>
          <a:bodyPr wrap="square" lIns="0" tIns="0" rIns="0" bIns="0" rtlCol="0" anchor="ctr"/>
          <a:lstStyle/>
          <a:p>
            <a:pPr marL="0" indent="0">
              <a:buNone/>
            </a:pPr>
            <a:r>
              <a:rPr lang="en-US" sz="900" dirty="0">
                <a:solidFill>
                  <a:srgbClr val="666666"/>
                </a:solidFill>
              </a:rPr>
              <a:t>◀  ▶</a:t>
            </a:r>
            <a:endParaRPr lang="en-US" sz="900" dirty="0"/>
          </a:p>
        </p:txBody>
      </p:sp>
      <p:sp>
        <p:nvSpPr>
          <p:cNvPr id="15" name="Text 11"/>
          <p:cNvSpPr txBox="1"/>
          <p:nvPr/>
        </p:nvSpPr>
        <p:spPr>
          <a:xfrm>
            <a:off x="1143000" y="549554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Instructions</a:t>
            </a:r>
            <a:endParaRPr lang="en-US" sz="1000" dirty="0"/>
          </a:p>
        </p:txBody>
      </p:sp>
      <p:sp>
        <p:nvSpPr>
          <p:cNvPr id="16" name="Text 12"/>
          <p:cNvSpPr txBox="1"/>
          <p:nvPr/>
        </p:nvSpPr>
        <p:spPr>
          <a:xfrm>
            <a:off x="2203704" y="5495544"/>
            <a:ext cx="544068" cy="310896"/>
          </a:xfrm>
          <a:prstGeom prst="rect">
            <a:avLst/>
          </a:prstGeom>
          <a:noFill/>
          <a:ln/>
        </p:spPr>
        <p:txBody>
          <a:bodyPr wrap="square" lIns="0" tIns="0" rIns="0" bIns="0" rtlCol="0" anchor="ctr"/>
          <a:lstStyle/>
          <a:p>
            <a:pPr marL="0" indent="0" algn="ctr">
              <a:buNone/>
            </a:pPr>
            <a:r>
              <a:rPr lang="en-US" sz="1000" dirty="0">
                <a:solidFill>
                  <a:srgbClr val="444444"/>
                </a:solidFill>
              </a:rPr>
              <a:t>Scans</a:t>
            </a:r>
            <a:endParaRPr lang="en-US" sz="1000" dirty="0"/>
          </a:p>
        </p:txBody>
      </p:sp>
      <p:sp>
        <p:nvSpPr>
          <p:cNvPr id="17" name="Active sheet tab"/>
          <p:cNvSpPr/>
          <p:nvPr/>
        </p:nvSpPr>
        <p:spPr>
          <a:xfrm>
            <a:off x="2784348" y="5495544"/>
            <a:ext cx="1024128" cy="310896"/>
          </a:xfrm>
          <a:prstGeom prst="rect">
            <a:avLst/>
          </a:prstGeom>
          <a:solidFill>
            <a:srgbClr val="FFFFFF"/>
          </a:solidFill>
          <a:ln w="6350">
            <a:solidFill>
              <a:srgbClr val="D0D0D0"/>
            </a:solidFill>
            <a:prstDash val="solid"/>
          </a:ln>
        </p:spPr>
        <p:txBody>
          <a:bodyPr/>
          <a:lstStyle/>
          <a:p>
            <a:endParaRPr lang="en-US"/>
          </a:p>
        </p:txBody>
      </p:sp>
      <p:sp>
        <p:nvSpPr>
          <p:cNvPr id="18" name="Text 14"/>
          <p:cNvSpPr txBox="1"/>
          <p:nvPr/>
        </p:nvSpPr>
        <p:spPr>
          <a:xfrm>
            <a:off x="2784348" y="5495544"/>
            <a:ext cx="1024128" cy="274320"/>
          </a:xfrm>
          <a:prstGeom prst="rect">
            <a:avLst/>
          </a:prstGeom>
          <a:noFill/>
          <a:ln/>
        </p:spPr>
        <p:txBody>
          <a:bodyPr wrap="square" lIns="0" tIns="0" rIns="0" bIns="0" rtlCol="0" anchor="ctr"/>
          <a:lstStyle/>
          <a:p>
            <a:pPr marL="0" indent="0" algn="ctr">
              <a:buNone/>
            </a:pPr>
            <a:r>
              <a:rPr lang="en-US" sz="1000" b="1" dirty="0">
                <a:solidFill>
                  <a:srgbClr val="1E7145"/>
                </a:solidFill>
              </a:rPr>
              <a:t>Team Summary</a:t>
            </a:r>
            <a:endParaRPr lang="en-US" sz="1000" dirty="0"/>
          </a:p>
        </p:txBody>
      </p:sp>
      <p:sp>
        <p:nvSpPr>
          <p:cNvPr id="3" name="Active tab marker"/>
          <p:cNvSpPr/>
          <p:nvPr/>
        </p:nvSpPr>
        <p:spPr>
          <a:xfrm>
            <a:off x="2875788" y="5769864"/>
            <a:ext cx="841248" cy="0"/>
          </a:xfrm>
          <a:prstGeom prst="line">
            <a:avLst/>
          </a:prstGeom>
          <a:noFill/>
          <a:ln w="25400">
            <a:solidFill>
              <a:srgbClr val="1E7145"/>
            </a:solidFill>
            <a:prstDash val="solid"/>
          </a:ln>
        </p:spPr>
        <p:txBody>
          <a:bodyPr/>
          <a:lstStyle/>
          <a:p>
            <a:endParaRPr lang="en-US"/>
          </a:p>
        </p:txBody>
      </p:sp>
      <p:sp>
        <p:nvSpPr>
          <p:cNvPr id="20" name="Text 16"/>
          <p:cNvSpPr txBox="1"/>
          <p:nvPr/>
        </p:nvSpPr>
        <p:spPr>
          <a:xfrm>
            <a:off x="3845052" y="5495544"/>
            <a:ext cx="955548" cy="310896"/>
          </a:xfrm>
          <a:prstGeom prst="rect">
            <a:avLst/>
          </a:prstGeom>
          <a:noFill/>
          <a:ln/>
        </p:spPr>
        <p:txBody>
          <a:bodyPr wrap="square" lIns="0" tIns="0" rIns="0" bIns="0" rtlCol="0" anchor="ctr"/>
          <a:lstStyle/>
          <a:p>
            <a:pPr marL="0" indent="0" algn="ctr">
              <a:buNone/>
            </a:pPr>
            <a:r>
              <a:rPr lang="en-US" sz="1000" dirty="0">
                <a:solidFill>
                  <a:srgbClr val="444444"/>
                </a:solidFill>
              </a:rPr>
              <a:t>Team Lookup</a:t>
            </a:r>
            <a:endParaRPr lang="en-US" sz="1000" dirty="0"/>
          </a:p>
        </p:txBody>
      </p:sp>
      <p:sp>
        <p:nvSpPr>
          <p:cNvPr id="21" name="Text 17"/>
          <p:cNvSpPr txBox="1"/>
          <p:nvPr/>
        </p:nvSpPr>
        <p:spPr>
          <a:xfrm>
            <a:off x="4855464" y="5495544"/>
            <a:ext cx="274320" cy="310896"/>
          </a:xfrm>
          <a:prstGeom prst="rect">
            <a:avLst/>
          </a:prstGeom>
          <a:noFill/>
          <a:ln/>
        </p:spPr>
        <p:txBody>
          <a:bodyPr wrap="square" lIns="0" tIns="0" rIns="0" bIns="0" rtlCol="0" anchor="ctr"/>
          <a:lstStyle/>
          <a:p>
            <a:pPr marL="0" indent="0">
              <a:buNone/>
            </a:pPr>
            <a:r>
              <a:rPr lang="en-US" sz="1200" dirty="0">
                <a:solidFill>
                  <a:srgbClr val="666666"/>
                </a:solidFill>
              </a:rPr>
              <a:t>⊕</a:t>
            </a:r>
            <a:endParaRPr lang="en-US" sz="1200" dirty="0"/>
          </a:p>
        </p:txBody>
      </p:sp>
      <p:sp>
        <p:nvSpPr>
          <p:cNvPr id="22" name="Marker 1"/>
          <p:cNvSpPr txBox="1"/>
          <p:nvPr/>
        </p:nvSpPr>
        <p:spPr>
          <a:xfrm>
            <a:off x="4800600" y="3401568"/>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23" name="Text 19"/>
          <p:cNvSpPr txBox="1"/>
          <p:nvPr/>
        </p:nvSpPr>
        <p:spPr>
          <a:xfrm>
            <a:off x="548640" y="5897880"/>
            <a:ext cx="5852160" cy="411480"/>
          </a:xfrm>
          <a:prstGeom prst="rect">
            <a:avLst/>
          </a:prstGeom>
          <a:noFill/>
          <a:ln/>
        </p:spPr>
        <p:txBody>
          <a:bodyPr wrap="square" lIns="0" tIns="0" rIns="0" bIns="0" rtlCol="0" anchor="t"/>
          <a:lstStyle/>
          <a:p>
            <a:pPr marL="0" indent="0">
              <a:buNone/>
            </a:pPr>
            <a:r>
              <a:rPr lang="en-US" sz="1300" b="1" dirty="0">
                <a:solidFill>
                  <a:schemeClr val="accent2"/>
                </a:solidFill>
              </a:rPr>
              <a:t>1  </a:t>
            </a:r>
            <a:r>
              <a:rPr lang="en-US" sz="1300" dirty="0">
                <a:solidFill>
                  <a:schemeClr val="tx2"/>
                </a:solidFill>
              </a:rPr>
              <a:t>Green is better, red is worse. More columns and a pick list are further right.</a:t>
            </a:r>
            <a:endParaRPr lang="en-US" sz="1300" dirty="0"/>
          </a:p>
        </p:txBody>
      </p:sp>
      <p:sp>
        <p:nvSpPr>
          <p:cNvPr id="24" name="Text 20"/>
          <p:cNvSpPr txBox="1"/>
          <p:nvPr/>
        </p:nvSpPr>
        <p:spPr>
          <a:xfrm>
            <a:off x="6766560" y="1325880"/>
            <a:ext cx="4873752" cy="640080"/>
          </a:xfrm>
          <a:prstGeom prst="rect">
            <a:avLst/>
          </a:prstGeom>
          <a:noFill/>
          <a:ln/>
        </p:spPr>
        <p:txBody>
          <a:bodyPr wrap="square" lIns="0" tIns="0" rIns="0" bIns="0" rtlCol="0" anchor="t"/>
          <a:lstStyle/>
          <a:p>
            <a:pPr marL="0" indent="0">
              <a:buNone/>
            </a:pPr>
            <a:r>
              <a:rPr lang="en-US" sz="1800" b="1" dirty="0">
                <a:solidFill>
                  <a:schemeClr val="tx1"/>
                </a:solidFill>
              </a:rPr>
              <a:t>Team Lookup</a:t>
            </a:r>
            <a:endParaRPr lang="en-US" sz="1400" dirty="0"/>
          </a:p>
          <a:p>
            <a:pPr marL="0" indent="0">
              <a:buNone/>
            </a:pPr>
            <a:r>
              <a:rPr lang="en-US" sz="1400" dirty="0">
                <a:solidFill>
                  <a:schemeClr val="tx2"/>
                </a:solidFill>
              </a:rPr>
              <a:t>Every scan of one team, with all the notes.</a:t>
            </a:r>
            <a:endParaRPr lang="en-US" sz="1400" dirty="0"/>
          </a:p>
        </p:txBody>
      </p:sp>
      <p:sp>
        <p:nvSpPr>
          <p:cNvPr id="25" name="Excel window"/>
          <p:cNvSpPr/>
          <p:nvPr/>
        </p:nvSpPr>
        <p:spPr>
          <a:xfrm>
            <a:off x="6766560" y="2011680"/>
            <a:ext cx="4873752" cy="3794760"/>
          </a:xfrm>
          <a:prstGeom prst="rect">
            <a:avLst/>
          </a:prstGeom>
          <a:solidFill>
            <a:srgbClr val="FFFFFF"/>
          </a:solidFill>
          <a:ln w="9525">
            <a:solidFill>
              <a:srgbClr val="BFBFBF"/>
            </a:solidFill>
            <a:prstDash val="solid"/>
          </a:ln>
          <a:effectLst>
            <a:outerShdw blurRad="101600" dist="25400" dir="5400000" algn="bl" rotWithShape="0">
              <a:srgbClr val="000000">
                <a:alpha val="18000"/>
              </a:srgbClr>
            </a:outerShdw>
          </a:effectLst>
        </p:spPr>
        <p:txBody>
          <a:bodyPr/>
          <a:lstStyle/>
          <a:p>
            <a:endParaRPr lang="en-US"/>
          </a:p>
        </p:txBody>
      </p:sp>
      <p:sp>
        <p:nvSpPr>
          <p:cNvPr id="26" name="Excel title bar"/>
          <p:cNvSpPr/>
          <p:nvPr/>
        </p:nvSpPr>
        <p:spPr>
          <a:xfrm>
            <a:off x="6766560" y="2011680"/>
            <a:ext cx="4873752" cy="310896"/>
          </a:xfrm>
          <a:prstGeom prst="rect">
            <a:avLst/>
          </a:prstGeom>
          <a:solidFill>
            <a:srgbClr val="1E7145"/>
          </a:solidFill>
          <a:ln w="12700">
            <a:solidFill>
              <a:srgbClr val="1E7145"/>
            </a:solidFill>
            <a:prstDash val="solid"/>
          </a:ln>
        </p:spPr>
        <p:txBody>
          <a:bodyPr/>
          <a:lstStyle/>
          <a:p>
            <a:endParaRPr lang="en-US"/>
          </a:p>
        </p:txBody>
      </p:sp>
      <p:sp>
        <p:nvSpPr>
          <p:cNvPr id="27" name="Text 23"/>
          <p:cNvSpPr txBox="1"/>
          <p:nvPr/>
        </p:nvSpPr>
        <p:spPr>
          <a:xfrm>
            <a:off x="6903720" y="2011680"/>
            <a:ext cx="3685032" cy="310896"/>
          </a:xfrm>
          <a:prstGeom prst="rect">
            <a:avLst/>
          </a:prstGeom>
          <a:noFill/>
          <a:ln/>
        </p:spPr>
        <p:txBody>
          <a:bodyPr wrap="square" lIns="0" tIns="0" rIns="0" bIns="0" rtlCol="0" anchor="ctr"/>
          <a:lstStyle/>
          <a:p>
            <a:pPr marL="0" indent="0" algn="l">
              <a:buNone/>
            </a:pPr>
            <a:r>
              <a:rPr lang="en-US" sz="1100" dirty="0">
                <a:solidFill>
                  <a:srgbClr val="FFFFFF"/>
                </a:solidFill>
              </a:rPr>
              <a:t>DERT_Scouting_REBUILT.xlsx  -  Excel</a:t>
            </a:r>
            <a:endParaRPr lang="en-US" sz="1100" dirty="0"/>
          </a:p>
        </p:txBody>
      </p:sp>
      <p:sp>
        <p:nvSpPr>
          <p:cNvPr id="28" name="Text 24"/>
          <p:cNvSpPr txBox="1"/>
          <p:nvPr/>
        </p:nvSpPr>
        <p:spPr>
          <a:xfrm>
            <a:off x="10680192" y="2011680"/>
            <a:ext cx="868680" cy="310896"/>
          </a:xfrm>
          <a:prstGeom prst="rect">
            <a:avLst/>
          </a:prstGeom>
          <a:noFill/>
          <a:ln/>
        </p:spPr>
        <p:txBody>
          <a:bodyPr wrap="square" lIns="0" tIns="0" rIns="0" bIns="0" rtlCol="0" anchor="ctr"/>
          <a:lstStyle/>
          <a:p>
            <a:pPr marL="0" indent="0" algn="r">
              <a:buNone/>
            </a:pPr>
            <a:r>
              <a:rPr lang="en-US" sz="1000" dirty="0">
                <a:solidFill>
                  <a:srgbClr val="FFFFFF"/>
                </a:solidFill>
              </a:rPr>
              <a:t>—   ☐   ✕</a:t>
            </a:r>
            <a:endParaRPr lang="en-US" sz="1000" dirty="0"/>
          </a:p>
        </p:txBody>
      </p:sp>
      <p:sp>
        <p:nvSpPr>
          <p:cNvPr id="29" name="Formula bar"/>
          <p:cNvSpPr/>
          <p:nvPr/>
        </p:nvSpPr>
        <p:spPr>
          <a:xfrm>
            <a:off x="6766560" y="2322576"/>
            <a:ext cx="4873752" cy="310896"/>
          </a:xfrm>
          <a:prstGeom prst="rect">
            <a:avLst/>
          </a:prstGeom>
          <a:solidFill>
            <a:srgbClr val="FFFFFF"/>
          </a:solidFill>
          <a:ln w="6350">
            <a:solidFill>
              <a:srgbClr val="E6E6E6"/>
            </a:solidFill>
            <a:prstDash val="solid"/>
          </a:ln>
        </p:spPr>
        <p:txBody>
          <a:bodyPr/>
          <a:lstStyle/>
          <a:p>
            <a:endParaRPr lang="en-US"/>
          </a:p>
        </p:txBody>
      </p:sp>
      <p:sp>
        <p:nvSpPr>
          <p:cNvPr id="30" name="Name Box"/>
          <p:cNvSpPr txBox="1"/>
          <p:nvPr/>
        </p:nvSpPr>
        <p:spPr>
          <a:xfrm>
            <a:off x="6839712" y="2368296"/>
            <a:ext cx="731520" cy="219456"/>
          </a:xfrm>
          <a:prstGeom prst="rect">
            <a:avLst/>
          </a:prstGeom>
          <a:solidFill>
            <a:srgbClr val="FFFFFF"/>
          </a:solidFill>
          <a:ln w="9525">
            <a:solidFill>
              <a:srgbClr val="A6A6A6"/>
            </a:solidFill>
          </a:ln>
        </p:spPr>
        <p:txBody>
          <a:bodyPr wrap="square" lIns="0" tIns="635" rIns="635" bIns="0" rtlCol="0" anchor="ctr"/>
          <a:lstStyle/>
          <a:p>
            <a:pPr marL="0" indent="0">
              <a:buNone/>
            </a:pPr>
            <a:r>
              <a:rPr lang="en-US" sz="1000" dirty="0">
                <a:solidFill>
                  <a:srgbClr val="1C1C1C"/>
                </a:solidFill>
              </a:rPr>
              <a:t>B3</a:t>
            </a:r>
            <a:endParaRPr lang="en-US" sz="1000" dirty="0"/>
          </a:p>
        </p:txBody>
      </p:sp>
      <p:sp>
        <p:nvSpPr>
          <p:cNvPr id="31" name="Text 27"/>
          <p:cNvSpPr txBox="1"/>
          <p:nvPr/>
        </p:nvSpPr>
        <p:spPr>
          <a:xfrm>
            <a:off x="7680960" y="2322576"/>
            <a:ext cx="274320" cy="310896"/>
          </a:xfrm>
          <a:prstGeom prst="rect">
            <a:avLst/>
          </a:prstGeom>
          <a:noFill/>
          <a:ln/>
        </p:spPr>
        <p:txBody>
          <a:bodyPr wrap="square" lIns="0" tIns="0" rIns="0" bIns="0" rtlCol="0" anchor="ctr"/>
          <a:lstStyle/>
          <a:p>
            <a:pPr marL="0" indent="0">
              <a:buNone/>
            </a:pPr>
            <a:r>
              <a:rPr lang="en-US" sz="1000" i="1" dirty="0">
                <a:solidFill>
                  <a:srgbClr val="666666"/>
                </a:solidFill>
              </a:rPr>
              <a:t>fx</a:t>
            </a:r>
            <a:endParaRPr lang="en-US" sz="1000" dirty="0"/>
          </a:p>
        </p:txBody>
      </p:sp>
      <p:graphicFrame>
        <p:nvGraphicFramePr>
          <p:cNvPr id="37" name="Sheet grid"/>
          <p:cNvGraphicFramePr>
            <a:graphicFrameLocks noGrp="1"/>
          </p:cNvGraphicFramePr>
          <p:nvPr>
            <p:extLst>
              <p:ext uri="{D42A27DB-BD31-4B8C-83A1-F6EECF244321}">
                <p14:modId xmlns:p14="http://schemas.microsoft.com/office/powerpoint/2010/main" val="1579011935"/>
              </p:ext>
            </p:extLst>
          </p:nvPr>
        </p:nvGraphicFramePr>
        <p:xfrm>
          <a:off x="6775704" y="2633472"/>
          <a:ext cx="4251960" cy="914400"/>
        </p:xfrm>
        <a:graphic>
          <a:graphicData uri="http://schemas.openxmlformats.org/drawingml/2006/table">
            <a:tbl>
              <a:tblPr/>
              <a:tblGrid>
                <a:gridCol w="3657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841248">
                  <a:extLst>
                    <a:ext uri="{9D8B030D-6E8A-4147-A177-3AD203B41FA5}">
                      <a16:colId xmlns:a16="http://schemas.microsoft.com/office/drawing/2014/main" val="20005"/>
                    </a:ext>
                  </a:extLst>
                </a:gridCol>
              </a:tblGrid>
              <a:tr h="219456">
                <a:tc>
                  <a:txBody>
                    <a:bodyPr/>
                    <a:lstStyle/>
                    <a:p>
                      <a:pPr marL="0" indent="0" algn="ctr">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A</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b="1" dirty="0">
                          <a:solidFill>
                            <a:srgbClr val="1E7145"/>
                          </a:solidFill>
                        </a:rPr>
                        <a:t>B</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lgn="ctr">
                        <a:buNone/>
                      </a:pPr>
                      <a:r>
                        <a:rPr lang="en-US" sz="1000" dirty="0">
                          <a:solidFill>
                            <a:srgbClr val="444444"/>
                          </a:solidFill>
                        </a:rPr>
                        <a:t>C</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D</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444444"/>
                          </a:solidFill>
                        </a:rPr>
                        <a:t>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56032">
                <a:tc>
                  <a:txBody>
                    <a:bodyPr/>
                    <a:lstStyle/>
                    <a:p>
                      <a:pPr marL="0" indent="0" algn="ctr">
                        <a:buNone/>
                      </a:pPr>
                      <a:r>
                        <a:rPr lang="en-US" sz="1000" dirty="0">
                          <a:solidFill>
                            <a:srgbClr val="444444"/>
                          </a:solidFill>
                        </a:rPr>
                        <a:t>1</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gridSpan="5">
                  <a:txBody>
                    <a:bodyPr/>
                    <a:lstStyle/>
                    <a:p>
                      <a:pPr marL="0" indent="0" algn="l">
                        <a:buNone/>
                      </a:pPr>
                      <a:r>
                        <a:rPr lang="en-US" sz="1100" b="1" dirty="0">
                          <a:solidFill>
                            <a:srgbClr val="F9F9F9"/>
                          </a:solidFill>
                        </a:rPr>
                        <a:t>DERT #2040 - Team Lookup</a:t>
                      </a:r>
                      <a:endParaRPr lang="en-US" sz="11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C1C1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444444"/>
                          </a:solidFill>
                        </a:rPr>
                        <a:t>2</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gridSpan="5">
                  <a:txBody>
                    <a:bodyPr/>
                    <a:lstStyle/>
                    <a:p>
                      <a:pPr marL="0" indent="0" algn="l">
                        <a:buNone/>
                      </a:pPr>
                      <a:r>
                        <a:rPr lang="en-US" sz="1000" b="1" dirty="0">
                          <a:solidFill>
                            <a:srgbClr val="1C1C1C"/>
                          </a:solidFill>
                        </a:rPr>
                        <a:t>Type a team number in the yellow cell.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29184">
                <a:tc>
                  <a:txBody>
                    <a:bodyPr/>
                    <a:lstStyle/>
                    <a:p>
                      <a:pPr marL="0" indent="0" algn="ctr">
                        <a:buNone/>
                      </a:pPr>
                      <a:r>
                        <a:rPr lang="en-US" sz="1000" b="1" dirty="0">
                          <a:solidFill>
                            <a:srgbClr val="1E7145"/>
                          </a:solidFill>
                        </a:rPr>
                        <a:t>3</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6E0CE"/>
                    </a:solidFill>
                  </a:tcPr>
                </a:tc>
                <a:tc>
                  <a:txBody>
                    <a:bodyPr/>
                    <a:lstStyle/>
                    <a:p>
                      <a:pPr marL="0" indent="0" algn="r">
                        <a:buNone/>
                      </a:pPr>
                      <a:r>
                        <a:rPr lang="en-US" sz="1000" b="1" dirty="0">
                          <a:solidFill>
                            <a:srgbClr val="1C1C1C"/>
                          </a:solidFill>
                        </a:rPr>
                        <a:t>Team #:</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300" b="1" dirty="0">
                          <a:solidFill>
                            <a:srgbClr val="1C1C1C"/>
                          </a:solidFill>
                        </a:rPr>
                        <a:t>2040</a:t>
                      </a:r>
                      <a:endParaRPr lang="en-US" sz="13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299"/>
                    </a:solidFill>
                  </a:tcPr>
                </a:tc>
                <a:tc gridSpan="2">
                  <a:txBody>
                    <a:bodyPr/>
                    <a:lstStyle/>
                    <a:p>
                      <a:pPr marL="0" indent="0" algn="l">
                        <a:buNone/>
                      </a:pPr>
                      <a:r>
                        <a:rPr lang="en-US" sz="1000" dirty="0">
                          <a:solidFill>
                            <a:srgbClr val="1C1C1C"/>
                          </a:solidFill>
                        </a:rPr>
                        <a:t>Avg total: 116.1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indent="0" algn="l">
                        <a:buNone/>
                      </a:pPr>
                      <a:r>
                        <a:rPr lang="en-US" sz="1000" dirty="0">
                          <a:solidFill>
                            <a:srgbClr val="1C1C1C"/>
                          </a:solidFill>
                        </a:rPr>
                        <a:t>Rank 4 of 31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000" dirty="0">
                          <a:solidFill>
                            <a:srgbClr val="444444"/>
                          </a:solidFill>
                        </a:rPr>
                        <a:t>4</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buNone/>
                      </a:pP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buNone/>
                      </a:pP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ctr">
                        <a:buNone/>
                      </a:pPr>
                      <a:r>
                        <a:rPr lang="en-US" sz="1000" dirty="0">
                          <a:solidFill>
                            <a:srgbClr val="444444"/>
                          </a:solidFill>
                        </a:rPr>
                        <a:t>5</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b="1" dirty="0">
                          <a:solidFill>
                            <a:srgbClr val="1C1C1C"/>
                          </a:solidFill>
                        </a:rPr>
                        <a:t>Match type</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Match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Team #</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Alliance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tc>
                  <a:txBody>
                    <a:bodyPr/>
                    <a:lstStyle/>
                    <a:p>
                      <a:pPr marL="0" indent="0" algn="l">
                        <a:buNone/>
                      </a:pPr>
                      <a:r>
                        <a:rPr lang="en-US" sz="1000" b="1" dirty="0">
                          <a:solidFill>
                            <a:srgbClr val="1C1C1C"/>
                          </a:solidFill>
                        </a:rPr>
                        <a:t>Scout name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12B4AF"/>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444444"/>
                          </a:solidFill>
                        </a:rPr>
                        <a:t>6</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2040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Blue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Ella</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lgn="ctr">
                        <a:buNone/>
                      </a:pPr>
                      <a:r>
                        <a:rPr lang="en-US" sz="1000" dirty="0">
                          <a:solidFill>
                            <a:srgbClr val="444444"/>
                          </a:solidFill>
                        </a:rPr>
                        <a:t>7</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7</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2040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Red</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Ava</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000" dirty="0">
                          <a:solidFill>
                            <a:srgbClr val="444444"/>
                          </a:solidFill>
                        </a:rPr>
                        <a:t>8</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12</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2040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Blue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Dev</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lgn="ctr">
                        <a:buNone/>
                      </a:pPr>
                      <a:r>
                        <a:rPr lang="en-US" sz="1000" dirty="0">
                          <a:solidFill>
                            <a:srgbClr val="444444"/>
                          </a:solidFill>
                        </a:rPr>
                        <a:t>9</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2F2F2"/>
                    </a:solidFill>
                  </a:tcPr>
                </a:tc>
                <a:tc>
                  <a:txBody>
                    <a:bodyPr/>
                    <a:lstStyle/>
                    <a:p>
                      <a:pPr marL="0" indent="0" algn="l">
                        <a:buNone/>
                      </a:pPr>
                      <a:r>
                        <a:rPr lang="en-US" sz="1000" dirty="0">
                          <a:solidFill>
                            <a:srgbClr val="1C1C1C"/>
                          </a:solidFill>
                        </a:rPr>
                        <a:t>Qual</a:t>
                      </a:r>
                      <a:endParaRPr lang="en-US" sz="1000" dirty="0"/>
                    </a:p>
                  </a:txBody>
                  <a:tcPr marL="45720" marR="45720" marT="9144" marB="9144" anchor="ctr">
                    <a:lnL w="6350" cap="flat" cmpd="sng" algn="ctr">
                      <a:solidFill>
                        <a:srgbClr val="D0D0D0"/>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18</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r">
                        <a:buNone/>
                      </a:pPr>
                      <a:r>
                        <a:rPr lang="en-US" sz="1000" dirty="0">
                          <a:solidFill>
                            <a:srgbClr val="1C1C1C"/>
                          </a:solidFill>
                        </a:rPr>
                        <a:t>2040</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Blue</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1C1C"/>
                          </a:solidFill>
                        </a:rPr>
                        <a:t>Ella</a:t>
                      </a:r>
                      <a:endParaRPr lang="en-US" sz="1000" dirty="0"/>
                    </a:p>
                  </a:txBody>
                  <a:tcPr marL="45720" marR="45720" marT="9144" marB="9144"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33" name="Selected cell"/>
          <p:cNvSpPr/>
          <p:nvPr/>
        </p:nvSpPr>
        <p:spPr>
          <a:xfrm>
            <a:off x="8001000" y="3355848"/>
            <a:ext cx="749808" cy="347472"/>
          </a:xfrm>
          <a:prstGeom prst="rect">
            <a:avLst/>
          </a:prstGeom>
          <a:noFill/>
          <a:ln w="28575">
            <a:solidFill>
              <a:srgbClr val="1E7145"/>
            </a:solidFill>
            <a:prstDash val="solid"/>
          </a:ln>
        </p:spPr>
        <p:txBody>
          <a:bodyPr/>
          <a:lstStyle/>
          <a:p>
            <a:endParaRPr lang="en-US"/>
          </a:p>
        </p:txBody>
      </p:sp>
      <p:sp>
        <p:nvSpPr>
          <p:cNvPr id="34" name="Sheet tab bar"/>
          <p:cNvSpPr/>
          <p:nvPr/>
        </p:nvSpPr>
        <p:spPr>
          <a:xfrm>
            <a:off x="6766560" y="5495544"/>
            <a:ext cx="4873752" cy="310896"/>
          </a:xfrm>
          <a:prstGeom prst="rect">
            <a:avLst/>
          </a:prstGeom>
          <a:solidFill>
            <a:srgbClr val="F3F3F3"/>
          </a:solidFill>
          <a:ln w="6350">
            <a:solidFill>
              <a:srgbClr val="E0E0E0"/>
            </a:solidFill>
            <a:prstDash val="solid"/>
          </a:ln>
        </p:spPr>
        <p:txBody>
          <a:bodyPr/>
          <a:lstStyle/>
          <a:p>
            <a:endParaRPr lang="en-US"/>
          </a:p>
        </p:txBody>
      </p:sp>
      <p:sp>
        <p:nvSpPr>
          <p:cNvPr id="35" name="Text 30"/>
          <p:cNvSpPr txBox="1"/>
          <p:nvPr/>
        </p:nvSpPr>
        <p:spPr>
          <a:xfrm>
            <a:off x="6858000" y="5495544"/>
            <a:ext cx="457200" cy="310896"/>
          </a:xfrm>
          <a:prstGeom prst="rect">
            <a:avLst/>
          </a:prstGeom>
          <a:noFill/>
          <a:ln/>
        </p:spPr>
        <p:txBody>
          <a:bodyPr wrap="square" lIns="0" tIns="0" rIns="0" bIns="0" rtlCol="0" anchor="ctr"/>
          <a:lstStyle/>
          <a:p>
            <a:pPr marL="0" indent="0">
              <a:buNone/>
            </a:pPr>
            <a:r>
              <a:rPr lang="en-US" sz="900" dirty="0">
                <a:solidFill>
                  <a:srgbClr val="666666"/>
                </a:solidFill>
              </a:rPr>
              <a:t>◀  ▶</a:t>
            </a:r>
            <a:endParaRPr lang="en-US" sz="900" dirty="0"/>
          </a:p>
        </p:txBody>
      </p:sp>
      <p:sp>
        <p:nvSpPr>
          <p:cNvPr id="36" name="Text 31"/>
          <p:cNvSpPr txBox="1"/>
          <p:nvPr/>
        </p:nvSpPr>
        <p:spPr>
          <a:xfrm>
            <a:off x="7360920" y="5495544"/>
            <a:ext cx="544068" cy="310896"/>
          </a:xfrm>
          <a:prstGeom prst="rect">
            <a:avLst/>
          </a:prstGeom>
          <a:noFill/>
          <a:ln/>
        </p:spPr>
        <p:txBody>
          <a:bodyPr wrap="square" lIns="0" tIns="0" rIns="0" bIns="0" rtlCol="0" anchor="ctr"/>
          <a:lstStyle/>
          <a:p>
            <a:pPr marL="0" indent="0" algn="ctr">
              <a:buNone/>
            </a:pPr>
            <a:r>
              <a:rPr lang="en-US" sz="1000" dirty="0">
                <a:solidFill>
                  <a:srgbClr val="444444"/>
                </a:solidFill>
              </a:rPr>
              <a:t>Scans</a:t>
            </a:r>
            <a:endParaRPr lang="en-US" sz="1000" dirty="0"/>
          </a:p>
        </p:txBody>
      </p:sp>
      <p:sp>
        <p:nvSpPr>
          <p:cNvPr id="12" name="Text 32"/>
          <p:cNvSpPr txBox="1"/>
          <p:nvPr/>
        </p:nvSpPr>
        <p:spPr>
          <a:xfrm>
            <a:off x="7941564" y="5495544"/>
            <a:ext cx="1024128" cy="310896"/>
          </a:xfrm>
          <a:prstGeom prst="rect">
            <a:avLst/>
          </a:prstGeom>
          <a:noFill/>
          <a:ln/>
        </p:spPr>
        <p:txBody>
          <a:bodyPr wrap="square" lIns="0" tIns="0" rIns="0" bIns="0" rtlCol="0" anchor="ctr"/>
          <a:lstStyle/>
          <a:p>
            <a:pPr marL="0" indent="0" algn="ctr">
              <a:buNone/>
            </a:pPr>
            <a:r>
              <a:rPr lang="en-US" sz="1000" dirty="0">
                <a:solidFill>
                  <a:srgbClr val="444444"/>
                </a:solidFill>
              </a:rPr>
              <a:t>Team Summary</a:t>
            </a:r>
            <a:endParaRPr lang="en-US" sz="1000" dirty="0"/>
          </a:p>
        </p:txBody>
      </p:sp>
      <p:sp>
        <p:nvSpPr>
          <p:cNvPr id="38" name="Active sheet tab"/>
          <p:cNvSpPr/>
          <p:nvPr/>
        </p:nvSpPr>
        <p:spPr>
          <a:xfrm>
            <a:off x="9002268" y="5495544"/>
            <a:ext cx="955548" cy="310896"/>
          </a:xfrm>
          <a:prstGeom prst="rect">
            <a:avLst/>
          </a:prstGeom>
          <a:solidFill>
            <a:srgbClr val="FFFFFF"/>
          </a:solidFill>
          <a:ln w="6350">
            <a:solidFill>
              <a:srgbClr val="D0D0D0"/>
            </a:solidFill>
            <a:prstDash val="solid"/>
          </a:ln>
        </p:spPr>
        <p:txBody>
          <a:bodyPr/>
          <a:lstStyle/>
          <a:p>
            <a:endParaRPr lang="en-US"/>
          </a:p>
        </p:txBody>
      </p:sp>
      <p:sp>
        <p:nvSpPr>
          <p:cNvPr id="39" name="Text 34"/>
          <p:cNvSpPr txBox="1"/>
          <p:nvPr/>
        </p:nvSpPr>
        <p:spPr>
          <a:xfrm>
            <a:off x="9002268" y="5495544"/>
            <a:ext cx="955548" cy="274320"/>
          </a:xfrm>
          <a:prstGeom prst="rect">
            <a:avLst/>
          </a:prstGeom>
          <a:noFill/>
          <a:ln/>
        </p:spPr>
        <p:txBody>
          <a:bodyPr wrap="square" lIns="0" tIns="0" rIns="0" bIns="0" rtlCol="0" anchor="ctr"/>
          <a:lstStyle/>
          <a:p>
            <a:pPr marL="0" indent="0" algn="ctr">
              <a:buNone/>
            </a:pPr>
            <a:r>
              <a:rPr lang="en-US" sz="1000" b="1" dirty="0">
                <a:solidFill>
                  <a:srgbClr val="1E7145"/>
                </a:solidFill>
              </a:rPr>
              <a:t>Team Lookup</a:t>
            </a:r>
            <a:endParaRPr lang="en-US" sz="1000" dirty="0"/>
          </a:p>
        </p:txBody>
      </p:sp>
      <p:sp>
        <p:nvSpPr>
          <p:cNvPr id="40" name="Active tab marker"/>
          <p:cNvSpPr/>
          <p:nvPr/>
        </p:nvSpPr>
        <p:spPr>
          <a:xfrm>
            <a:off x="9093708" y="5769864"/>
            <a:ext cx="772668" cy="0"/>
          </a:xfrm>
          <a:prstGeom prst="line">
            <a:avLst/>
          </a:prstGeom>
          <a:noFill/>
          <a:ln w="25400">
            <a:solidFill>
              <a:srgbClr val="1E7145"/>
            </a:solidFill>
            <a:prstDash val="solid"/>
          </a:ln>
        </p:spPr>
        <p:txBody>
          <a:bodyPr/>
          <a:lstStyle/>
          <a:p>
            <a:endParaRPr lang="en-US"/>
          </a:p>
        </p:txBody>
      </p:sp>
      <p:sp>
        <p:nvSpPr>
          <p:cNvPr id="41" name="Text 36"/>
          <p:cNvSpPr txBox="1"/>
          <p:nvPr/>
        </p:nvSpPr>
        <p:spPr>
          <a:xfrm>
            <a:off x="10012680" y="5495544"/>
            <a:ext cx="274320" cy="310896"/>
          </a:xfrm>
          <a:prstGeom prst="rect">
            <a:avLst/>
          </a:prstGeom>
          <a:noFill/>
          <a:ln/>
        </p:spPr>
        <p:txBody>
          <a:bodyPr wrap="square" lIns="0" tIns="0" rIns="0" bIns="0" rtlCol="0" anchor="ctr"/>
          <a:lstStyle/>
          <a:p>
            <a:pPr marL="0" indent="0">
              <a:buNone/>
            </a:pPr>
            <a:r>
              <a:rPr lang="en-US" sz="1200" dirty="0">
                <a:solidFill>
                  <a:srgbClr val="666666"/>
                </a:solidFill>
              </a:rPr>
              <a:t>⊕</a:t>
            </a:r>
            <a:endParaRPr lang="en-US" sz="1200" dirty="0"/>
          </a:p>
        </p:txBody>
      </p:sp>
      <p:sp>
        <p:nvSpPr>
          <p:cNvPr id="42" name="Marker 2"/>
          <p:cNvSpPr txBox="1"/>
          <p:nvPr/>
        </p:nvSpPr>
        <p:spPr>
          <a:xfrm>
            <a:off x="7187184" y="3355848"/>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43" name="Text 38"/>
          <p:cNvSpPr txBox="1"/>
          <p:nvPr/>
        </p:nvSpPr>
        <p:spPr>
          <a:xfrm>
            <a:off x="6766560" y="5897880"/>
            <a:ext cx="4873752" cy="411480"/>
          </a:xfrm>
          <a:prstGeom prst="rect">
            <a:avLst/>
          </a:prstGeom>
          <a:noFill/>
          <a:ln/>
        </p:spPr>
        <p:txBody>
          <a:bodyPr wrap="square" lIns="0" tIns="0" rIns="0" bIns="0" rtlCol="0" anchor="t"/>
          <a:lstStyle/>
          <a:p>
            <a:pPr marL="0" indent="0">
              <a:buNone/>
            </a:pPr>
            <a:r>
              <a:rPr lang="en-US" sz="1300" b="1" dirty="0">
                <a:solidFill>
                  <a:schemeClr val="accent2"/>
                </a:solidFill>
              </a:rPr>
              <a:t>2  </a:t>
            </a:r>
            <a:r>
              <a:rPr lang="en-US" sz="1300" dirty="0">
                <a:solidFill>
                  <a:schemeClr val="tx2"/>
                </a:solidFill>
              </a:rPr>
              <a:t>Type a team number in the yellow cell and press Enter.</a:t>
            </a:r>
            <a:endParaRPr lang="en-US" sz="13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731520" y="2011680"/>
            <a:ext cx="6400800" cy="457200"/>
          </a:xfrm>
          <a:prstGeom prst="rect">
            <a:avLst/>
          </a:prstGeom>
          <a:noFill/>
          <a:ln/>
        </p:spPr>
        <p:txBody>
          <a:bodyPr wrap="square" lIns="0" tIns="0" rIns="0" bIns="0" rtlCol="0"/>
          <a:lstStyle/>
          <a:p>
            <a:pPr marL="0" indent="0">
              <a:buNone/>
            </a:pPr>
            <a:r>
              <a:rPr lang="en-US" sz="1800" b="1" kern="0" spc="300" dirty="0">
                <a:solidFill>
                  <a:schemeClr val="accent1"/>
                </a:solidFill>
              </a:rPr>
              <a:t>PART 3  ·  DASHBOARD</a:t>
            </a:r>
            <a:endParaRPr lang="en-US" sz="1800" dirty="0"/>
          </a:p>
        </p:txBody>
      </p:sp>
      <p:sp>
        <p:nvSpPr>
          <p:cNvPr id="4" name="Text 0"/>
          <p:cNvSpPr>
            <a:spLocks noGrp="1"/>
          </p:cNvSpPr>
          <p:nvPr>
            <p:ph type="title" idx="101" hasCustomPrompt="1"/>
          </p:nvPr>
        </p:nvSpPr>
        <p:spPr>
          <a:xfrm>
            <a:off x="731520" y="2514600"/>
            <a:ext cx="6949440" cy="1371600"/>
          </a:xfrm>
          <a:prstGeom prst="rect">
            <a:avLst/>
          </a:prstGeom>
          <a:noFill/>
          <a:ln/>
        </p:spPr>
        <p:txBody>
          <a:bodyPr wrap="square" lIns="0" tIns="0" rIns="0" bIns="0" rtlCol="0" anchor="t"/>
          <a:lstStyle/>
          <a:p>
            <a:pPr marL="0" indent="0" algn="l">
              <a:buNone/>
            </a:pPr>
            <a:r>
              <a:rPr lang="en-US" sz="4800" b="1" dirty="0">
                <a:solidFill>
                  <a:schemeClr val="bg1"/>
                </a:solidFill>
              </a:rPr>
              <a:t>From scans to a pick list</a:t>
            </a:r>
            <a:endParaRPr lang="en-US" sz="4800" dirty="0"/>
          </a:p>
        </p:txBody>
      </p:sp>
      <p:sp>
        <p:nvSpPr>
          <p:cNvPr id="5" name="Text 0"/>
          <p:cNvSpPr>
            <a:spLocks noGrp="1"/>
          </p:cNvSpPr>
          <p:nvPr>
            <p:ph type="body" idx="102" hasCustomPrompt="1"/>
          </p:nvPr>
        </p:nvSpPr>
        <p:spPr>
          <a:xfrm>
            <a:off x="731520" y="3977640"/>
            <a:ext cx="6583680" cy="1005840"/>
          </a:xfrm>
          <a:prstGeom prst="rect">
            <a:avLst/>
          </a:prstGeom>
          <a:noFill/>
          <a:ln/>
        </p:spPr>
        <p:txBody>
          <a:bodyPr wrap="square" lIns="0" tIns="0" rIns="0" bIns="0" rtlCol="0" anchor="t"/>
          <a:lstStyle/>
          <a:p>
            <a:pPr marL="0" indent="0">
              <a:buNone/>
            </a:pPr>
            <a:r>
              <a:rPr lang="en-US" sz="2000" dirty="0">
                <a:solidFill>
                  <a:schemeClr val="bg2"/>
                </a:solidFill>
              </a:rPr>
              <a:t>For the strategy team: load the workbook into the dashboard and rank the teams your way.</a:t>
            </a:r>
            <a:endParaRPr lang="en-US" sz="2000" dirty="0"/>
          </a:p>
        </p:txBody>
      </p:sp>
      <p:sp>
        <p:nvSpPr>
          <p:cNvPr id="6" name="From scans to a pick list circle"/>
          <p:cNvSpPr/>
          <p:nvPr/>
        </p:nvSpPr>
        <p:spPr>
          <a:xfrm>
            <a:off x="8138160" y="1691640"/>
            <a:ext cx="3017520" cy="3017520"/>
          </a:xfrm>
          <a:prstGeom prst="ellipse">
            <a:avLst/>
          </a:prstGeom>
          <a:solidFill>
            <a:srgbClr val="12B4AF"/>
          </a:solidFill>
          <a:ln w="12700">
            <a:solidFill>
              <a:srgbClr val="12B4AF"/>
            </a:solidFill>
            <a:prstDash val="solid"/>
          </a:ln>
        </p:spPr>
        <p:txBody>
          <a:bodyPr/>
          <a:lstStyle/>
          <a:p>
            <a:endParaRPr lang="en-US"/>
          </a:p>
        </p:txBody>
      </p:sp>
      <p:pic>
        <p:nvPicPr>
          <p:cNvPr id="7" name="From scans to a pick list" descr="From scans to a pick list"/>
          <p:cNvPicPr>
            <a:picLocks noChangeAspect="1"/>
          </p:cNvPicPr>
          <p:nvPr/>
        </p:nvPicPr>
        <p:blipFill>
          <a:blip r:embed="rId3"/>
          <a:stretch>
            <a:fillRect/>
          </a:stretch>
        </p:blipFill>
        <p:spPr>
          <a:xfrm>
            <a:off x="8862365" y="2415845"/>
            <a:ext cx="1569110" cy="156911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Update the dashboard</a:t>
            </a:r>
            <a:endParaRPr lang="en-US" sz="3600" dirty="0"/>
          </a:p>
        </p:txBody>
      </p:sp>
      <p:sp>
        <p:nvSpPr>
          <p:cNvPr id="4" name="Save in Excel card"/>
          <p:cNvSpPr/>
          <p:nvPr/>
        </p:nvSpPr>
        <p:spPr>
          <a:xfrm>
            <a:off x="548640" y="1371600"/>
            <a:ext cx="2567864"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5" name="Save in Excel circle"/>
          <p:cNvSpPr/>
          <p:nvPr/>
        </p:nvSpPr>
        <p:spPr>
          <a:xfrm>
            <a:off x="777240" y="1572768"/>
            <a:ext cx="658368" cy="658368"/>
          </a:xfrm>
          <a:prstGeom prst="ellipse">
            <a:avLst/>
          </a:prstGeom>
          <a:solidFill>
            <a:srgbClr val="12B4AF"/>
          </a:solidFill>
          <a:ln w="12700">
            <a:solidFill>
              <a:srgbClr val="12B4AF"/>
            </a:solidFill>
            <a:prstDash val="solid"/>
          </a:ln>
        </p:spPr>
        <p:txBody>
          <a:bodyPr/>
          <a:lstStyle/>
          <a:p>
            <a:endParaRPr lang="en-US"/>
          </a:p>
        </p:txBody>
      </p:sp>
      <p:pic>
        <p:nvPicPr>
          <p:cNvPr id="6" name="Save in Excel" descr="Save in Excel"/>
          <p:cNvPicPr>
            <a:picLocks noChangeAspect="1"/>
          </p:cNvPicPr>
          <p:nvPr/>
        </p:nvPicPr>
        <p:blipFill>
          <a:blip r:embed="rId3"/>
          <a:stretch>
            <a:fillRect/>
          </a:stretch>
        </p:blipFill>
        <p:spPr>
          <a:xfrm>
            <a:off x="935248" y="1730776"/>
            <a:ext cx="342351" cy="342351"/>
          </a:xfrm>
          <a:prstGeom prst="rect">
            <a:avLst/>
          </a:prstGeom>
        </p:spPr>
      </p:pic>
      <p:sp>
        <p:nvSpPr>
          <p:cNvPr id="7" name="Marker 1"/>
          <p:cNvSpPr txBox="1"/>
          <p:nvPr/>
        </p:nvSpPr>
        <p:spPr>
          <a:xfrm>
            <a:off x="1243584" y="1453896"/>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8" name="Text 4"/>
          <p:cNvSpPr txBox="1"/>
          <p:nvPr/>
        </p:nvSpPr>
        <p:spPr>
          <a:xfrm>
            <a:off x="777240" y="2377440"/>
            <a:ext cx="2156384" cy="118872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Save in Excel</a:t>
            </a:r>
            <a:endParaRPr lang="en-US" sz="1400" dirty="0"/>
          </a:p>
          <a:p>
            <a:pPr marL="0" indent="0">
              <a:spcAft>
                <a:spcPts val="300"/>
              </a:spcAft>
              <a:buNone/>
            </a:pPr>
            <a:r>
              <a:rPr lang="en-US" sz="1400" dirty="0">
                <a:solidFill>
                  <a:schemeClr val="tx2"/>
                </a:solidFill>
              </a:rPr>
              <a:t>Press Ctrl + S. The dashboard reads the saved file, not what's on screen.</a:t>
            </a:r>
            <a:endParaRPr lang="en-US" sz="1400" dirty="0"/>
          </a:p>
        </p:txBody>
      </p:sp>
      <p:sp>
        <p:nvSpPr>
          <p:cNvPr id="9" name="Open the dashboard card"/>
          <p:cNvSpPr/>
          <p:nvPr/>
        </p:nvSpPr>
        <p:spPr>
          <a:xfrm>
            <a:off x="3390824" y="1371600"/>
            <a:ext cx="2567864"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10" name="Open the dashboard circle"/>
          <p:cNvSpPr/>
          <p:nvPr/>
        </p:nvSpPr>
        <p:spPr>
          <a:xfrm>
            <a:off x="3619424" y="1572768"/>
            <a:ext cx="658368" cy="658368"/>
          </a:xfrm>
          <a:prstGeom prst="ellipse">
            <a:avLst/>
          </a:prstGeom>
          <a:solidFill>
            <a:srgbClr val="12B4AF"/>
          </a:solidFill>
          <a:ln w="12700">
            <a:solidFill>
              <a:srgbClr val="12B4AF"/>
            </a:solidFill>
            <a:prstDash val="solid"/>
          </a:ln>
        </p:spPr>
        <p:txBody>
          <a:bodyPr/>
          <a:lstStyle/>
          <a:p>
            <a:endParaRPr lang="en-US"/>
          </a:p>
        </p:txBody>
      </p:sp>
      <p:pic>
        <p:nvPicPr>
          <p:cNvPr id="11" name="Open the dashboard" descr="Open the dashboard"/>
          <p:cNvPicPr>
            <a:picLocks noChangeAspect="1"/>
          </p:cNvPicPr>
          <p:nvPr/>
        </p:nvPicPr>
        <p:blipFill>
          <a:blip r:embed="rId4"/>
          <a:stretch>
            <a:fillRect/>
          </a:stretch>
        </p:blipFill>
        <p:spPr>
          <a:xfrm>
            <a:off x="3777432" y="1730776"/>
            <a:ext cx="342351" cy="342351"/>
          </a:xfrm>
          <a:prstGeom prst="rect">
            <a:avLst/>
          </a:prstGeom>
        </p:spPr>
      </p:pic>
      <p:sp>
        <p:nvSpPr>
          <p:cNvPr id="12" name="Marker 2"/>
          <p:cNvSpPr txBox="1"/>
          <p:nvPr/>
        </p:nvSpPr>
        <p:spPr>
          <a:xfrm>
            <a:off x="4085768" y="1453896"/>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13" name="Text 8"/>
          <p:cNvSpPr txBox="1"/>
          <p:nvPr/>
        </p:nvSpPr>
        <p:spPr>
          <a:xfrm>
            <a:off x="3619424" y="2377440"/>
            <a:ext cx="2156384" cy="118872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Open the dashboard</a:t>
            </a:r>
            <a:endParaRPr lang="en-US" sz="1400" dirty="0"/>
          </a:p>
          <a:p>
            <a:pPr marL="0" indent="0">
              <a:spcAft>
                <a:spcPts val="300"/>
              </a:spcAft>
              <a:buNone/>
            </a:pPr>
            <a:r>
              <a:rPr lang="en-US" sz="1400" dirty="0">
                <a:solidFill>
                  <a:schemeClr val="tx2"/>
                </a:solidFill>
              </a:rPr>
              <a:t>Tap Dashboard at the top of the scouting form, or open dashboard.html.</a:t>
            </a:r>
            <a:endParaRPr lang="en-US" sz="1400" dirty="0"/>
          </a:p>
        </p:txBody>
      </p:sp>
      <p:sp>
        <p:nvSpPr>
          <p:cNvPr id="14" name="Click Load Excel file… card"/>
          <p:cNvSpPr/>
          <p:nvPr/>
        </p:nvSpPr>
        <p:spPr>
          <a:xfrm>
            <a:off x="6233008" y="1371600"/>
            <a:ext cx="2567864"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15" name="Click Load Excel file… circle"/>
          <p:cNvSpPr/>
          <p:nvPr/>
        </p:nvSpPr>
        <p:spPr>
          <a:xfrm>
            <a:off x="6461608" y="1572768"/>
            <a:ext cx="658368" cy="658368"/>
          </a:xfrm>
          <a:prstGeom prst="ellipse">
            <a:avLst/>
          </a:prstGeom>
          <a:solidFill>
            <a:srgbClr val="12B4AF"/>
          </a:solidFill>
          <a:ln w="12700">
            <a:solidFill>
              <a:srgbClr val="12B4AF"/>
            </a:solidFill>
            <a:prstDash val="solid"/>
          </a:ln>
        </p:spPr>
        <p:txBody>
          <a:bodyPr/>
          <a:lstStyle/>
          <a:p>
            <a:endParaRPr lang="en-US"/>
          </a:p>
        </p:txBody>
      </p:sp>
      <p:pic>
        <p:nvPicPr>
          <p:cNvPr id="16" name="Click Load Excel file…" descr="Click Load Excel file…"/>
          <p:cNvPicPr>
            <a:picLocks noChangeAspect="1"/>
          </p:cNvPicPr>
          <p:nvPr/>
        </p:nvPicPr>
        <p:blipFill>
          <a:blip r:embed="rId5"/>
          <a:stretch>
            <a:fillRect/>
          </a:stretch>
        </p:blipFill>
        <p:spPr>
          <a:xfrm>
            <a:off x="6619616" y="1730776"/>
            <a:ext cx="342351" cy="342351"/>
          </a:xfrm>
          <a:prstGeom prst="rect">
            <a:avLst/>
          </a:prstGeom>
        </p:spPr>
      </p:pic>
      <p:sp>
        <p:nvSpPr>
          <p:cNvPr id="17" name="Marker 3"/>
          <p:cNvSpPr txBox="1"/>
          <p:nvPr/>
        </p:nvSpPr>
        <p:spPr>
          <a:xfrm>
            <a:off x="6927952" y="1453896"/>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18" name="Text 12"/>
          <p:cNvSpPr txBox="1"/>
          <p:nvPr/>
        </p:nvSpPr>
        <p:spPr>
          <a:xfrm>
            <a:off x="6461608" y="2377440"/>
            <a:ext cx="2156384" cy="118872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Click Load Excel file…</a:t>
            </a:r>
            <a:endParaRPr lang="en-US" sz="1400" dirty="0"/>
          </a:p>
          <a:p>
            <a:pPr marL="0" indent="0">
              <a:spcAft>
                <a:spcPts val="300"/>
              </a:spcAft>
              <a:buNone/>
            </a:pPr>
            <a:r>
              <a:rPr lang="en-US" sz="1400" dirty="0">
                <a:solidFill>
                  <a:schemeClr val="tx2"/>
                </a:solidFill>
              </a:rPr>
              <a:t>Choose the workbook. You can also drag the file onto the page.</a:t>
            </a:r>
            <a:endParaRPr lang="en-US" sz="1400" dirty="0"/>
          </a:p>
        </p:txBody>
      </p:sp>
      <p:sp>
        <p:nvSpPr>
          <p:cNvPr id="19" name="Check the count card"/>
          <p:cNvSpPr/>
          <p:nvPr/>
        </p:nvSpPr>
        <p:spPr>
          <a:xfrm>
            <a:off x="9075191" y="1371600"/>
            <a:ext cx="2567864" cy="2286000"/>
          </a:xfrm>
          <a:prstGeom prst="roundRect">
            <a:avLst>
              <a:gd name="adj" fmla="val 4800"/>
            </a:avLst>
          </a:prstGeom>
          <a:solidFill>
            <a:schemeClr val="bg2"/>
          </a:solidFill>
          <a:ln w="12700">
            <a:solidFill>
              <a:schemeClr val="bg2"/>
            </a:solidFill>
            <a:prstDash val="solid"/>
          </a:ln>
        </p:spPr>
        <p:txBody>
          <a:bodyPr/>
          <a:lstStyle/>
          <a:p>
            <a:endParaRPr lang="en-US"/>
          </a:p>
        </p:txBody>
      </p:sp>
      <p:sp>
        <p:nvSpPr>
          <p:cNvPr id="20" name="Check the count circle"/>
          <p:cNvSpPr/>
          <p:nvPr/>
        </p:nvSpPr>
        <p:spPr>
          <a:xfrm>
            <a:off x="9303791" y="1572768"/>
            <a:ext cx="658368" cy="658368"/>
          </a:xfrm>
          <a:prstGeom prst="ellipse">
            <a:avLst/>
          </a:prstGeom>
          <a:solidFill>
            <a:srgbClr val="12B4AF"/>
          </a:solidFill>
          <a:ln w="12700">
            <a:solidFill>
              <a:srgbClr val="12B4AF"/>
            </a:solidFill>
            <a:prstDash val="solid"/>
          </a:ln>
        </p:spPr>
        <p:txBody>
          <a:bodyPr/>
          <a:lstStyle/>
          <a:p>
            <a:endParaRPr lang="en-US"/>
          </a:p>
        </p:txBody>
      </p:sp>
      <p:pic>
        <p:nvPicPr>
          <p:cNvPr id="21" name="Check the count" descr="Check the count"/>
          <p:cNvPicPr>
            <a:picLocks noChangeAspect="1"/>
          </p:cNvPicPr>
          <p:nvPr/>
        </p:nvPicPr>
        <p:blipFill>
          <a:blip r:embed="rId6"/>
          <a:stretch>
            <a:fillRect/>
          </a:stretch>
        </p:blipFill>
        <p:spPr>
          <a:xfrm>
            <a:off x="9461800" y="1730776"/>
            <a:ext cx="342351" cy="342351"/>
          </a:xfrm>
          <a:prstGeom prst="rect">
            <a:avLst/>
          </a:prstGeom>
        </p:spPr>
      </p:pic>
      <p:sp>
        <p:nvSpPr>
          <p:cNvPr id="22" name="Marker 4"/>
          <p:cNvSpPr txBox="1"/>
          <p:nvPr/>
        </p:nvSpPr>
        <p:spPr>
          <a:xfrm>
            <a:off x="9770135" y="1453896"/>
            <a:ext cx="347472" cy="347472"/>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23" name="Text 16"/>
          <p:cNvSpPr txBox="1"/>
          <p:nvPr/>
        </p:nvSpPr>
        <p:spPr>
          <a:xfrm>
            <a:off x="9303791" y="2377440"/>
            <a:ext cx="2156384" cy="1188720"/>
          </a:xfrm>
          <a:prstGeom prst="rect">
            <a:avLst/>
          </a:prstGeom>
          <a:noFill/>
          <a:ln/>
        </p:spPr>
        <p:txBody>
          <a:bodyPr wrap="square" lIns="0" tIns="0" rIns="0" bIns="0" rtlCol="0" anchor="t"/>
          <a:lstStyle/>
          <a:p>
            <a:pPr marL="0" indent="0">
              <a:spcAft>
                <a:spcPts val="300"/>
              </a:spcAft>
              <a:buNone/>
            </a:pPr>
            <a:r>
              <a:rPr lang="en-US" sz="1700" b="1" dirty="0">
                <a:solidFill>
                  <a:schemeClr val="tx1"/>
                </a:solidFill>
              </a:rPr>
              <a:t>Check the count</a:t>
            </a:r>
            <a:endParaRPr lang="en-US" sz="1400" dirty="0"/>
          </a:p>
          <a:p>
            <a:pPr marL="0" indent="0">
              <a:spcAft>
                <a:spcPts val="300"/>
              </a:spcAft>
              <a:buNone/>
            </a:pPr>
            <a:r>
              <a:rPr lang="en-US" sz="1400" dirty="0">
                <a:solidFill>
                  <a:schemeClr val="tx2"/>
                </a:solidFill>
              </a:rPr>
              <a:t>The top bar shows the file name and how many scans it read.</a:t>
            </a:r>
            <a:endParaRPr lang="en-US" sz="1400" dirty="0"/>
          </a:p>
        </p:txBody>
      </p:sp>
      <p:sp>
        <p:nvSpPr>
          <p:cNvPr id="24" name="Dashboard top bar frame"/>
          <p:cNvSpPr/>
          <p:nvPr/>
        </p:nvSpPr>
        <p:spPr>
          <a:xfrm>
            <a:off x="530352" y="4050792"/>
            <a:ext cx="11130991" cy="1026078"/>
          </a:xfrm>
          <a:prstGeom prst="rect">
            <a:avLst/>
          </a:prstGeom>
          <a:solidFill>
            <a:srgbClr val="D9D9D9"/>
          </a:solidFill>
          <a:ln w="12700">
            <a:solidFill>
              <a:srgbClr val="D9D9D9"/>
            </a:solidFill>
            <a:prstDash val="solid"/>
          </a:ln>
          <a:effectLst>
            <a:outerShdw blurRad="101600" dist="25400" dir="5400000" algn="bl" rotWithShape="0">
              <a:srgbClr val="000000">
                <a:alpha val="18000"/>
              </a:srgbClr>
            </a:outerShdw>
          </a:effectLst>
        </p:spPr>
        <p:txBody>
          <a:bodyPr/>
          <a:lstStyle/>
          <a:p>
            <a:endParaRPr lang="en-US"/>
          </a:p>
        </p:txBody>
      </p:sp>
      <p:pic>
        <p:nvPicPr>
          <p:cNvPr id="25" name="Dashboard top bar" descr="Dashboard top bar"/>
          <p:cNvPicPr>
            <a:picLocks noChangeAspect="1"/>
          </p:cNvPicPr>
          <p:nvPr/>
        </p:nvPicPr>
        <p:blipFill>
          <a:blip r:embed="rId7"/>
          <a:stretch>
            <a:fillRect/>
          </a:stretch>
        </p:blipFill>
        <p:spPr>
          <a:xfrm>
            <a:off x="548640" y="4069080"/>
            <a:ext cx="11094415" cy="989502"/>
          </a:xfrm>
          <a:prstGeom prst="rect">
            <a:avLst/>
          </a:prstGeom>
        </p:spPr>
      </p:pic>
      <p:sp>
        <p:nvSpPr>
          <p:cNvPr id="26" name="Marker 3"/>
          <p:cNvSpPr txBox="1"/>
          <p:nvPr/>
        </p:nvSpPr>
        <p:spPr>
          <a:xfrm>
            <a:off x="7454531" y="4691429"/>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27" name="Marker 4"/>
          <p:cNvSpPr txBox="1"/>
          <p:nvPr/>
        </p:nvSpPr>
        <p:spPr>
          <a:xfrm>
            <a:off x="2718162" y="471800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28" name="Text 20"/>
          <p:cNvSpPr txBox="1"/>
          <p:nvPr/>
        </p:nvSpPr>
        <p:spPr>
          <a:xfrm>
            <a:off x="3291840" y="5168310"/>
            <a:ext cx="6400800" cy="274320"/>
          </a:xfrm>
          <a:prstGeom prst="rect">
            <a:avLst/>
          </a:prstGeom>
          <a:noFill/>
          <a:ln/>
        </p:spPr>
        <p:txBody>
          <a:bodyPr wrap="square" lIns="0" tIns="0" rIns="0" bIns="0" rtlCol="0" anchor="t"/>
          <a:lstStyle/>
          <a:p>
            <a:pPr marL="0" indent="0">
              <a:buNone/>
            </a:pPr>
            <a:r>
              <a:rPr lang="en-US" sz="1200" dirty="0">
                <a:solidFill>
                  <a:schemeClr val="tx2"/>
                </a:solidFill>
              </a:rPr>
              <a:t>Top-right corner of the dashboard, here with the sample data loaded.</a:t>
            </a:r>
            <a:endParaRPr lang="en-US" sz="1200" dirty="0"/>
          </a:p>
        </p:txBody>
      </p:sp>
      <p:sp>
        <p:nvSpPr>
          <p:cNvPr id="29" name="Refresh note"/>
          <p:cNvSpPr/>
          <p:nvPr/>
        </p:nvSpPr>
        <p:spPr>
          <a:xfrm>
            <a:off x="548640" y="5623560"/>
            <a:ext cx="11094415" cy="594360"/>
          </a:xfrm>
          <a:prstGeom prst="roundRect">
            <a:avLst>
              <a:gd name="adj" fmla="val 18462"/>
            </a:avLst>
          </a:prstGeom>
          <a:solidFill>
            <a:schemeClr val="bg2"/>
          </a:solidFill>
          <a:ln w="12700">
            <a:solidFill>
              <a:schemeClr val="bg2"/>
            </a:solidFill>
            <a:prstDash val="solid"/>
          </a:ln>
        </p:spPr>
        <p:txBody>
          <a:bodyPr/>
          <a:lstStyle/>
          <a:p>
            <a:endParaRPr lang="en-US"/>
          </a:p>
        </p:txBody>
      </p:sp>
      <p:pic>
        <p:nvPicPr>
          <p:cNvPr id="30" name="Refresh icon" descr="Refresh"/>
          <p:cNvPicPr>
            <a:picLocks noChangeAspect="1"/>
          </p:cNvPicPr>
          <p:nvPr/>
        </p:nvPicPr>
        <p:blipFill>
          <a:blip r:embed="rId8"/>
          <a:stretch>
            <a:fillRect/>
          </a:stretch>
        </p:blipFill>
        <p:spPr>
          <a:xfrm>
            <a:off x="749808" y="5751576"/>
            <a:ext cx="329184" cy="329184"/>
          </a:xfrm>
          <a:prstGeom prst="rect">
            <a:avLst/>
          </a:prstGeom>
        </p:spPr>
      </p:pic>
      <p:sp>
        <p:nvSpPr>
          <p:cNvPr id="31" name="Text 22"/>
          <p:cNvSpPr txBox="1"/>
          <p:nvPr/>
        </p:nvSpPr>
        <p:spPr>
          <a:xfrm>
            <a:off x="1280160" y="5623560"/>
            <a:ext cx="10180015" cy="594360"/>
          </a:xfrm>
          <a:prstGeom prst="rect">
            <a:avLst/>
          </a:prstGeom>
          <a:noFill/>
          <a:ln/>
        </p:spPr>
        <p:txBody>
          <a:bodyPr wrap="square" lIns="0" tIns="0" rIns="0" bIns="0" rtlCol="0" anchor="ctr"/>
          <a:lstStyle/>
          <a:p>
            <a:pPr marL="0" indent="0">
              <a:buNone/>
            </a:pPr>
            <a:r>
              <a:rPr lang="en-US" sz="1500" b="1" dirty="0">
                <a:solidFill>
                  <a:schemeClr val="tx1"/>
                </a:solidFill>
              </a:rPr>
              <a:t>It doesn't refresh by itself. </a:t>
            </a:r>
            <a:r>
              <a:rPr lang="en-US" sz="1500" dirty="0">
                <a:solidFill>
                  <a:schemeClr val="tx1"/>
                </a:solidFill>
              </a:rPr>
              <a:t>After new scans: save in Excel, then click Load Excel file… again.</a:t>
            </a:r>
            <a:endParaRPr lang="en-US" sz="15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Read the pick list</a:t>
            </a:r>
            <a:endParaRPr lang="en-US" sz="3600" dirty="0"/>
          </a:p>
        </p:txBody>
      </p:sp>
      <p:sp>
        <p:nvSpPr>
          <p:cNvPr id="4" name="Dashboard pick list frame"/>
          <p:cNvSpPr/>
          <p:nvPr/>
        </p:nvSpPr>
        <p:spPr>
          <a:xfrm>
            <a:off x="530352" y="1399032"/>
            <a:ext cx="7808976" cy="3236976"/>
          </a:xfrm>
          <a:prstGeom prst="rect">
            <a:avLst/>
          </a:prstGeom>
          <a:solidFill>
            <a:srgbClr val="D9D9D9"/>
          </a:solidFill>
          <a:ln w="12700">
            <a:solidFill>
              <a:srgbClr val="D9D9D9"/>
            </a:solidFill>
            <a:prstDash val="solid"/>
          </a:ln>
          <a:effectLst>
            <a:outerShdw blurRad="101600" dist="25400" dir="5400000" algn="bl" rotWithShape="0">
              <a:srgbClr val="000000">
                <a:alpha val="18000"/>
              </a:srgbClr>
            </a:outerShdw>
          </a:effectLst>
        </p:spPr>
        <p:txBody>
          <a:bodyPr/>
          <a:lstStyle/>
          <a:p>
            <a:endParaRPr lang="en-US"/>
          </a:p>
        </p:txBody>
      </p:sp>
      <p:pic>
        <p:nvPicPr>
          <p:cNvPr id="5" name="Dashboard pick list" descr="Dashboard pick list"/>
          <p:cNvPicPr>
            <a:picLocks noChangeAspect="1"/>
          </p:cNvPicPr>
          <p:nvPr/>
        </p:nvPicPr>
        <p:blipFill>
          <a:blip r:embed="rId3"/>
          <a:stretch>
            <a:fillRect/>
          </a:stretch>
        </p:blipFill>
        <p:spPr>
          <a:xfrm>
            <a:off x="548640" y="1417320"/>
            <a:ext cx="7772400" cy="3200400"/>
          </a:xfrm>
          <a:prstGeom prst="rect">
            <a:avLst/>
          </a:prstGeom>
        </p:spPr>
      </p:pic>
      <p:sp>
        <p:nvSpPr>
          <p:cNvPr id="6" name="Marker 1"/>
          <p:cNvSpPr txBox="1"/>
          <p:nvPr/>
        </p:nvSpPr>
        <p:spPr>
          <a:xfrm>
            <a:off x="3356991" y="1814477"/>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Marker 2"/>
          <p:cNvSpPr txBox="1"/>
          <p:nvPr/>
        </p:nvSpPr>
        <p:spPr>
          <a:xfrm>
            <a:off x="4071366" y="22768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8" name="Marker 3"/>
          <p:cNvSpPr txBox="1"/>
          <p:nvPr/>
        </p:nvSpPr>
        <p:spPr>
          <a:xfrm>
            <a:off x="1945386" y="378561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9" name="Marker 4"/>
          <p:cNvSpPr txBox="1"/>
          <p:nvPr/>
        </p:nvSpPr>
        <p:spPr>
          <a:xfrm>
            <a:off x="7814691" y="378561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0" name="Marker 5"/>
          <p:cNvSpPr txBox="1"/>
          <p:nvPr/>
        </p:nvSpPr>
        <p:spPr>
          <a:xfrm>
            <a:off x="1373886" y="275691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11" name="Marker 1"/>
          <p:cNvSpPr txBox="1"/>
          <p:nvPr/>
        </p:nvSpPr>
        <p:spPr>
          <a:xfrm>
            <a:off x="8641080" y="13624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8"/>
          <p:cNvSpPr txBox="1"/>
          <p:nvPr/>
        </p:nvSpPr>
        <p:spPr>
          <a:xfrm>
            <a:off x="9171432" y="1389888"/>
            <a:ext cx="2468880" cy="841248"/>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Presets</a:t>
            </a:r>
            <a:endParaRPr lang="en-US" sz="1400" dirty="0"/>
          </a:p>
          <a:p>
            <a:pPr marL="0" indent="0">
              <a:spcAft>
                <a:spcPts val="200"/>
              </a:spcAft>
              <a:buNone/>
            </a:pPr>
            <a:r>
              <a:rPr lang="en-US" sz="1300" dirty="0">
                <a:solidFill>
                  <a:schemeClr val="tx2"/>
                </a:solidFill>
              </a:rPr>
              <a:t>1st pick scorer, 2nd pick reliable, or defender.</a:t>
            </a:r>
            <a:endParaRPr lang="en-US" sz="1400" dirty="0"/>
          </a:p>
        </p:txBody>
      </p:sp>
      <p:sp>
        <p:nvSpPr>
          <p:cNvPr id="13" name="Marker 2"/>
          <p:cNvSpPr txBox="1"/>
          <p:nvPr/>
        </p:nvSpPr>
        <p:spPr>
          <a:xfrm>
            <a:off x="8641080" y="22768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4" name="Text 10"/>
          <p:cNvSpPr txBox="1"/>
          <p:nvPr/>
        </p:nvSpPr>
        <p:spPr>
          <a:xfrm>
            <a:off x="9171432" y="2304288"/>
            <a:ext cx="2468880" cy="841248"/>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Sliders</a:t>
            </a:r>
            <a:endParaRPr lang="en-US" sz="1400" dirty="0"/>
          </a:p>
          <a:p>
            <a:pPr marL="0" indent="0">
              <a:spcAft>
                <a:spcPts val="200"/>
              </a:spcAft>
              <a:buNone/>
            </a:pPr>
            <a:r>
              <a:rPr lang="en-US" sz="1300" dirty="0">
                <a:solidFill>
                  <a:schemeClr val="tx2"/>
                </a:solidFill>
              </a:rPr>
              <a:t>Drag to say what matters most. The list re-sorts.</a:t>
            </a:r>
            <a:endParaRPr lang="en-US" sz="1400" dirty="0"/>
          </a:p>
        </p:txBody>
      </p:sp>
      <p:sp>
        <p:nvSpPr>
          <p:cNvPr id="15" name="Marker 3"/>
          <p:cNvSpPr txBox="1"/>
          <p:nvPr/>
        </p:nvSpPr>
        <p:spPr>
          <a:xfrm>
            <a:off x="8641080" y="31912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6" name="Text 12"/>
          <p:cNvSpPr txBox="1"/>
          <p:nvPr/>
        </p:nvSpPr>
        <p:spPr>
          <a:xfrm>
            <a:off x="9171432" y="3218688"/>
            <a:ext cx="2468880" cy="841248"/>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Score 0–100</a:t>
            </a:r>
            <a:endParaRPr lang="en-US" sz="1400" dirty="0"/>
          </a:p>
          <a:p>
            <a:pPr marL="0" indent="0">
              <a:spcAft>
                <a:spcPts val="200"/>
              </a:spcAft>
              <a:buNone/>
            </a:pPr>
            <a:r>
              <a:rPr lang="en-US" sz="1300" dirty="0">
                <a:solidFill>
                  <a:schemeClr val="tx2"/>
                </a:solidFill>
              </a:rPr>
              <a:t>Each stat scaled from worst (0) to best (100) at this event.</a:t>
            </a:r>
            <a:endParaRPr lang="en-US" sz="1400" dirty="0"/>
          </a:p>
        </p:txBody>
      </p:sp>
      <p:sp>
        <p:nvSpPr>
          <p:cNvPr id="17" name="Marker 4"/>
          <p:cNvSpPr txBox="1"/>
          <p:nvPr/>
        </p:nvSpPr>
        <p:spPr>
          <a:xfrm>
            <a:off x="8641080" y="41056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18" name="Text 14"/>
          <p:cNvSpPr txBox="1"/>
          <p:nvPr/>
        </p:nvSpPr>
        <p:spPr>
          <a:xfrm>
            <a:off x="9171432" y="4133088"/>
            <a:ext cx="2468880" cy="841248"/>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Marks</a:t>
            </a:r>
            <a:endParaRPr lang="en-US" sz="1400" dirty="0"/>
          </a:p>
          <a:p>
            <a:pPr marL="0" indent="0">
              <a:spcAft>
                <a:spcPts val="200"/>
              </a:spcAft>
              <a:buNone/>
            </a:pPr>
            <a:r>
              <a:rPr lang="en-US" sz="1300" dirty="0">
                <a:solidFill>
                  <a:schemeClr val="tx2"/>
                </a:solidFill>
              </a:rPr>
              <a:t>✓ picked, ✕ do not pick, + add to Compare.</a:t>
            </a:r>
            <a:endParaRPr lang="en-US" sz="1400" dirty="0"/>
          </a:p>
        </p:txBody>
      </p:sp>
      <p:sp>
        <p:nvSpPr>
          <p:cNvPr id="19" name="Marker 5"/>
          <p:cNvSpPr txBox="1"/>
          <p:nvPr/>
        </p:nvSpPr>
        <p:spPr>
          <a:xfrm>
            <a:off x="8641080" y="502005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5</a:t>
            </a:r>
            <a:endParaRPr lang="en-US" sz="1500" dirty="0"/>
          </a:p>
        </p:txBody>
      </p:sp>
      <p:sp>
        <p:nvSpPr>
          <p:cNvPr id="20" name="Text 16"/>
          <p:cNvSpPr txBox="1"/>
          <p:nvPr/>
        </p:nvSpPr>
        <p:spPr>
          <a:xfrm>
            <a:off x="9171432" y="5047488"/>
            <a:ext cx="2468880" cy="841248"/>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Click a row</a:t>
            </a:r>
            <a:endParaRPr lang="en-US" sz="1400" dirty="0"/>
          </a:p>
          <a:p>
            <a:pPr marL="0" indent="0">
              <a:spcAft>
                <a:spcPts val="200"/>
              </a:spcAft>
              <a:buNone/>
            </a:pPr>
            <a:r>
              <a:rPr lang="en-US" sz="1300" dirty="0">
                <a:solidFill>
                  <a:schemeClr val="tx2"/>
                </a:solidFill>
              </a:rPr>
              <a:t>Opens that team's details below.</a:t>
            </a:r>
            <a:endParaRPr lang="en-US" sz="1400" dirty="0"/>
          </a:p>
        </p:txBody>
      </p:sp>
      <p:sp>
        <p:nvSpPr>
          <p:cNvPr id="21" name="Strategy tip"/>
          <p:cNvSpPr/>
          <p:nvPr/>
        </p:nvSpPr>
        <p:spPr>
          <a:xfrm>
            <a:off x="548640" y="4846320"/>
            <a:ext cx="777240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22" name="Sliders circle"/>
          <p:cNvSpPr/>
          <p:nvPr/>
        </p:nvSpPr>
        <p:spPr>
          <a:xfrm>
            <a:off x="777240" y="5120640"/>
            <a:ext cx="777240" cy="777240"/>
          </a:xfrm>
          <a:prstGeom prst="ellipse">
            <a:avLst/>
          </a:prstGeom>
          <a:solidFill>
            <a:srgbClr val="12B4AF"/>
          </a:solidFill>
          <a:ln w="12700">
            <a:solidFill>
              <a:srgbClr val="12B4AF"/>
            </a:solidFill>
            <a:prstDash val="solid"/>
          </a:ln>
        </p:spPr>
        <p:txBody>
          <a:bodyPr/>
          <a:lstStyle/>
          <a:p>
            <a:endParaRPr lang="en-US"/>
          </a:p>
        </p:txBody>
      </p:sp>
      <p:pic>
        <p:nvPicPr>
          <p:cNvPr id="23" name="Sliders" descr="Sliders"/>
          <p:cNvPicPr>
            <a:picLocks noChangeAspect="1"/>
          </p:cNvPicPr>
          <p:nvPr/>
        </p:nvPicPr>
        <p:blipFill>
          <a:blip r:embed="rId4"/>
          <a:stretch>
            <a:fillRect/>
          </a:stretch>
        </p:blipFill>
        <p:spPr>
          <a:xfrm>
            <a:off x="963778" y="5307178"/>
            <a:ext cx="404165" cy="404165"/>
          </a:xfrm>
          <a:prstGeom prst="rect">
            <a:avLst/>
          </a:prstGeom>
        </p:spPr>
      </p:pic>
      <p:sp>
        <p:nvSpPr>
          <p:cNvPr id="24" name="Text 19"/>
          <p:cNvSpPr txBox="1"/>
          <p:nvPr/>
        </p:nvSpPr>
        <p:spPr>
          <a:xfrm>
            <a:off x="1783080" y="4892040"/>
            <a:ext cx="6355080" cy="1280160"/>
          </a:xfrm>
          <a:prstGeom prst="rect">
            <a:avLst/>
          </a:prstGeom>
          <a:noFill/>
          <a:ln/>
        </p:spPr>
        <p:txBody>
          <a:bodyPr wrap="square" lIns="0" tIns="0" rIns="0" bIns="0" rtlCol="0" anchor="ctr"/>
          <a:lstStyle/>
          <a:p>
            <a:pPr marL="0" indent="0">
              <a:buNone/>
            </a:pPr>
            <a:r>
              <a:rPr lang="en-US" sz="1700" b="1" dirty="0">
                <a:solidFill>
                  <a:schemeClr val="tx1"/>
                </a:solidFill>
              </a:rPr>
              <a:t>Before alliance selection</a:t>
            </a:r>
            <a:endParaRPr lang="en-US" sz="1400" dirty="0"/>
          </a:p>
          <a:p>
            <a:pPr marL="0" indent="0">
              <a:buNone/>
            </a:pPr>
            <a:r>
              <a:rPr lang="en-US" sz="1400" dirty="0">
                <a:solidFill>
                  <a:schemeClr val="tx2"/>
                </a:solidFill>
              </a:rPr>
              <a:t>Load the newest file, pick a preset, then move the sliders until the list matches what our robot needs from a partner.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Look closer at one team</a:t>
            </a:r>
            <a:endParaRPr lang="en-US" sz="3600" dirty="0"/>
          </a:p>
        </p:txBody>
      </p:sp>
      <p:sp>
        <p:nvSpPr>
          <p:cNvPr id="4" name="Team details card frame"/>
          <p:cNvSpPr/>
          <p:nvPr/>
        </p:nvSpPr>
        <p:spPr>
          <a:xfrm>
            <a:off x="530352" y="1399032"/>
            <a:ext cx="4471416" cy="4788190"/>
          </a:xfrm>
          <a:prstGeom prst="rect">
            <a:avLst/>
          </a:prstGeom>
          <a:solidFill>
            <a:srgbClr val="D9D9D9"/>
          </a:solidFill>
          <a:ln w="12700">
            <a:solidFill>
              <a:srgbClr val="D9D9D9"/>
            </a:solidFill>
            <a:prstDash val="solid"/>
          </a:ln>
          <a:effectLst>
            <a:outerShdw blurRad="101600" dist="25400" dir="5400000" algn="bl" rotWithShape="0">
              <a:srgbClr val="000000">
                <a:alpha val="18000"/>
              </a:srgbClr>
            </a:outerShdw>
          </a:effectLst>
        </p:spPr>
        <p:txBody>
          <a:bodyPr/>
          <a:lstStyle/>
          <a:p>
            <a:endParaRPr lang="en-US"/>
          </a:p>
        </p:txBody>
      </p:sp>
      <p:pic>
        <p:nvPicPr>
          <p:cNvPr id="5" name="Team details card" descr="Team details card"/>
          <p:cNvPicPr>
            <a:picLocks noChangeAspect="1"/>
          </p:cNvPicPr>
          <p:nvPr/>
        </p:nvPicPr>
        <p:blipFill>
          <a:blip r:embed="rId3"/>
          <a:stretch>
            <a:fillRect/>
          </a:stretch>
        </p:blipFill>
        <p:spPr>
          <a:xfrm>
            <a:off x="548640" y="1417320"/>
            <a:ext cx="4434840" cy="4751614"/>
          </a:xfrm>
          <a:prstGeom prst="rect">
            <a:avLst/>
          </a:prstGeom>
        </p:spPr>
      </p:pic>
      <p:sp>
        <p:nvSpPr>
          <p:cNvPr id="6" name="Marker 1"/>
          <p:cNvSpPr txBox="1"/>
          <p:nvPr/>
        </p:nvSpPr>
        <p:spPr>
          <a:xfrm>
            <a:off x="4837176" y="2215216"/>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Marker 2"/>
          <p:cNvSpPr txBox="1"/>
          <p:nvPr/>
        </p:nvSpPr>
        <p:spPr>
          <a:xfrm>
            <a:off x="4837176" y="4327044"/>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8" name="Auto vs Teleop chart frame"/>
          <p:cNvSpPr/>
          <p:nvPr/>
        </p:nvSpPr>
        <p:spPr>
          <a:xfrm>
            <a:off x="5513832" y="1399032"/>
            <a:ext cx="4105656" cy="2791682"/>
          </a:xfrm>
          <a:prstGeom prst="rect">
            <a:avLst/>
          </a:prstGeom>
          <a:solidFill>
            <a:srgbClr val="D9D9D9"/>
          </a:solidFill>
          <a:ln w="12700">
            <a:solidFill>
              <a:srgbClr val="D9D9D9"/>
            </a:solidFill>
            <a:prstDash val="solid"/>
          </a:ln>
          <a:effectLst>
            <a:outerShdw blurRad="101600" dist="25400" dir="5400000" algn="bl" rotWithShape="0">
              <a:srgbClr val="000000">
                <a:alpha val="18000"/>
              </a:srgbClr>
            </a:outerShdw>
          </a:effectLst>
        </p:spPr>
        <p:txBody>
          <a:bodyPr/>
          <a:lstStyle/>
          <a:p>
            <a:endParaRPr lang="en-US"/>
          </a:p>
        </p:txBody>
      </p:sp>
      <p:pic>
        <p:nvPicPr>
          <p:cNvPr id="9" name="Auto vs Teleop chart" descr="Auto vs Teleop chart"/>
          <p:cNvPicPr>
            <a:picLocks noChangeAspect="1"/>
          </p:cNvPicPr>
          <p:nvPr/>
        </p:nvPicPr>
        <p:blipFill>
          <a:blip r:embed="rId4"/>
          <a:stretch>
            <a:fillRect/>
          </a:stretch>
        </p:blipFill>
        <p:spPr>
          <a:xfrm>
            <a:off x="5532120" y="1417320"/>
            <a:ext cx="4069080" cy="2755106"/>
          </a:xfrm>
          <a:prstGeom prst="rect">
            <a:avLst/>
          </a:prstGeom>
        </p:spPr>
      </p:pic>
      <p:sp>
        <p:nvSpPr>
          <p:cNvPr id="10" name="Marker 3"/>
          <p:cNvSpPr txBox="1"/>
          <p:nvPr/>
        </p:nvSpPr>
        <p:spPr>
          <a:xfrm>
            <a:off x="9454896" y="2602849"/>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1" name="Marker 1"/>
          <p:cNvSpPr txBox="1"/>
          <p:nvPr/>
        </p:nvSpPr>
        <p:spPr>
          <a:xfrm>
            <a:off x="5532120" y="4453128"/>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7"/>
          <p:cNvSpPr txBox="1"/>
          <p:nvPr/>
        </p:nvSpPr>
        <p:spPr>
          <a:xfrm>
            <a:off x="6062472" y="4480560"/>
            <a:ext cx="5577840" cy="502920"/>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Compared to the event</a:t>
            </a:r>
            <a:endParaRPr lang="en-US" sz="1400" dirty="0"/>
          </a:p>
          <a:p>
            <a:pPr marL="0" indent="0">
              <a:spcAft>
                <a:spcPts val="200"/>
              </a:spcAft>
              <a:buNone/>
            </a:pPr>
            <a:r>
              <a:rPr lang="en-US" sz="1300" dirty="0">
                <a:solidFill>
                  <a:schemeClr val="tx2"/>
                </a:solidFill>
              </a:rPr>
              <a:t>▲ better or ▼ worse than the average team.</a:t>
            </a:r>
            <a:endParaRPr lang="en-US" sz="1400" dirty="0"/>
          </a:p>
        </p:txBody>
      </p:sp>
      <p:sp>
        <p:nvSpPr>
          <p:cNvPr id="13" name="Marker 2"/>
          <p:cNvSpPr txBox="1"/>
          <p:nvPr/>
        </p:nvSpPr>
        <p:spPr>
          <a:xfrm>
            <a:off x="5532120" y="5029200"/>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4" name="Text 9"/>
          <p:cNvSpPr txBox="1"/>
          <p:nvPr/>
        </p:nvSpPr>
        <p:spPr>
          <a:xfrm>
            <a:off x="6062472" y="5056632"/>
            <a:ext cx="5577840" cy="502920"/>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Points per match</a:t>
            </a:r>
            <a:endParaRPr lang="en-US" sz="1400" dirty="0"/>
          </a:p>
          <a:p>
            <a:pPr marL="0" indent="0">
              <a:spcAft>
                <a:spcPts val="200"/>
              </a:spcAft>
              <a:buNone/>
            </a:pPr>
            <a:r>
              <a:rPr lang="en-US" sz="1300" dirty="0">
                <a:solidFill>
                  <a:schemeClr val="tx2"/>
                </a:solidFill>
              </a:rPr>
              <a:t>Getting better? One bad match? Scout notes are under the chart.</a:t>
            </a:r>
            <a:endParaRPr lang="en-US" sz="1400" dirty="0"/>
          </a:p>
        </p:txBody>
      </p:sp>
      <p:sp>
        <p:nvSpPr>
          <p:cNvPr id="15" name="Marker 3"/>
          <p:cNvSpPr txBox="1"/>
          <p:nvPr/>
        </p:nvSpPr>
        <p:spPr>
          <a:xfrm>
            <a:off x="5532120" y="5605272"/>
            <a:ext cx="384048" cy="384048"/>
          </a:xfrm>
          <a:prstGeom prst="ellipse">
            <a:avLst/>
          </a:prstGeom>
          <a:solidFill>
            <a:schemeClr val="accent3"/>
          </a:solidFill>
          <a:ln w="19050">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6" name="Text 11"/>
          <p:cNvSpPr txBox="1"/>
          <p:nvPr/>
        </p:nvSpPr>
        <p:spPr>
          <a:xfrm>
            <a:off x="6062472" y="5632704"/>
            <a:ext cx="5577840" cy="502920"/>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Auto vs Teleop</a:t>
            </a:r>
            <a:endParaRPr lang="en-US" sz="1400" dirty="0"/>
          </a:p>
          <a:p>
            <a:pPr marL="0" indent="0">
              <a:spcAft>
                <a:spcPts val="200"/>
              </a:spcAft>
              <a:buNone/>
            </a:pPr>
            <a:r>
              <a:rPr lang="en-US" sz="1300" dirty="0">
                <a:solidFill>
                  <a:schemeClr val="tx2"/>
                </a:solidFill>
              </a:rPr>
              <a:t>Top-right = strong in both. Click a dot to open that team.</a:t>
            </a:r>
            <a:endParaRPr lang="en-US" sz="1400" dirty="0"/>
          </a:p>
        </p:txBody>
      </p:sp>
      <p:sp>
        <p:nvSpPr>
          <p:cNvPr id="17" name="Compare card"/>
          <p:cNvSpPr/>
          <p:nvPr/>
        </p:nvSpPr>
        <p:spPr>
          <a:xfrm>
            <a:off x="9921240" y="1417320"/>
            <a:ext cx="1719072" cy="2755106"/>
          </a:xfrm>
          <a:prstGeom prst="roundRect">
            <a:avLst>
              <a:gd name="adj" fmla="val 6383"/>
            </a:avLst>
          </a:prstGeom>
          <a:solidFill>
            <a:schemeClr val="bg2"/>
          </a:solidFill>
          <a:ln w="12700">
            <a:solidFill>
              <a:schemeClr val="bg2"/>
            </a:solidFill>
            <a:prstDash val="solid"/>
          </a:ln>
        </p:spPr>
        <p:txBody>
          <a:bodyPr/>
          <a:lstStyle/>
          <a:p>
            <a:endParaRPr lang="en-US"/>
          </a:p>
        </p:txBody>
      </p:sp>
      <p:sp>
        <p:nvSpPr>
          <p:cNvPr id="18" name="Compare circle"/>
          <p:cNvSpPr/>
          <p:nvPr/>
        </p:nvSpPr>
        <p:spPr>
          <a:xfrm>
            <a:off x="10104120" y="1600200"/>
            <a:ext cx="548640" cy="548640"/>
          </a:xfrm>
          <a:prstGeom prst="ellipse">
            <a:avLst/>
          </a:prstGeom>
          <a:solidFill>
            <a:srgbClr val="12B4AF"/>
          </a:solidFill>
          <a:ln w="12700">
            <a:solidFill>
              <a:srgbClr val="12B4AF"/>
            </a:solidFill>
            <a:prstDash val="solid"/>
          </a:ln>
        </p:spPr>
        <p:txBody>
          <a:bodyPr/>
          <a:lstStyle/>
          <a:p>
            <a:endParaRPr lang="en-US"/>
          </a:p>
        </p:txBody>
      </p:sp>
      <p:pic>
        <p:nvPicPr>
          <p:cNvPr id="19" name="Compare" descr="Compare"/>
          <p:cNvPicPr>
            <a:picLocks noChangeAspect="1"/>
          </p:cNvPicPr>
          <p:nvPr/>
        </p:nvPicPr>
        <p:blipFill>
          <a:blip r:embed="rId5"/>
          <a:stretch>
            <a:fillRect/>
          </a:stretch>
        </p:blipFill>
        <p:spPr>
          <a:xfrm>
            <a:off x="10235794" y="1731874"/>
            <a:ext cx="285293" cy="285293"/>
          </a:xfrm>
          <a:prstGeom prst="rect">
            <a:avLst/>
          </a:prstGeom>
        </p:spPr>
      </p:pic>
      <p:sp>
        <p:nvSpPr>
          <p:cNvPr id="20" name="Text 14"/>
          <p:cNvSpPr txBox="1"/>
          <p:nvPr/>
        </p:nvSpPr>
        <p:spPr>
          <a:xfrm>
            <a:off x="10104120" y="2286000"/>
            <a:ext cx="1399032" cy="1749266"/>
          </a:xfrm>
          <a:prstGeom prst="rect">
            <a:avLst/>
          </a:prstGeom>
          <a:noFill/>
          <a:ln/>
        </p:spPr>
        <p:txBody>
          <a:bodyPr wrap="square" lIns="0" tIns="0" rIns="0" bIns="0" rtlCol="0" anchor="t"/>
          <a:lstStyle/>
          <a:p>
            <a:pPr marL="0" indent="0">
              <a:buNone/>
            </a:pPr>
            <a:r>
              <a:rPr lang="en-US" sz="1500" b="1" dirty="0">
                <a:solidFill>
                  <a:schemeClr val="tx1"/>
                </a:solidFill>
              </a:rPr>
              <a:t>Compare Teams</a:t>
            </a:r>
            <a:endParaRPr lang="en-US" sz="1400" dirty="0"/>
          </a:p>
          <a:p>
            <a:pPr marL="0" indent="0">
              <a:buNone/>
            </a:pPr>
            <a:r>
              <a:rPr lang="en-US" sz="1300" dirty="0">
                <a:solidFill>
                  <a:schemeClr val="tx2"/>
                </a:solidFill>
              </a:rPr>
              <a:t>Tap + in the pick list on up to 3 teams to see them side by side.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Troubleshooting</a:t>
            </a:r>
            <a:endParaRPr lang="en-US" sz="3600" dirty="0"/>
          </a:p>
        </p:txBody>
      </p:sp>
      <p:graphicFrame>
        <p:nvGraphicFramePr>
          <p:cNvPr id="24" name="Troubleshooting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06240">
                  <a:extLst>
                    <a:ext uri="{9D8B030D-6E8A-4147-A177-3AD203B41FA5}">
                      <a16:colId xmlns:a16="http://schemas.microsoft.com/office/drawing/2014/main" val="20000"/>
                    </a:ext>
                  </a:extLst>
                </a:gridCol>
                <a:gridCol w="6888175">
                  <a:extLst>
                    <a:ext uri="{9D8B030D-6E8A-4147-A177-3AD203B41FA5}">
                      <a16:colId xmlns:a16="http://schemas.microsoft.com/office/drawing/2014/main" val="20001"/>
                    </a:ext>
                  </a:extLst>
                </a:gridCol>
              </a:tblGrid>
              <a:tr h="512064">
                <a:tc>
                  <a:txBody>
                    <a:bodyPr/>
                    <a:lstStyle/>
                    <a:p>
                      <a:pPr marL="0" indent="0">
                        <a:buNone/>
                      </a:pPr>
                      <a:r>
                        <a:rPr lang="en-US" sz="1500" b="1" dirty="0">
                          <a:solidFill>
                            <a:schemeClr val="bg1"/>
                          </a:solidFill>
                        </a:rPr>
                        <a:t>If this happens…</a:t>
                      </a:r>
                      <a:endParaRPr lang="en-US" sz="15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Do this</a:t>
                      </a:r>
                      <a:endParaRPr lang="en-US" sz="15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chemeClr val="tx1"/>
                          </a:solidFill>
                        </a:rPr>
                        <a:t>The scanner won't read the QR code</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Turn the phone's brightness up, hold it 10 to 20 cm from the scanner, and keep it still.</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12064">
                <a:tc>
                  <a:txBody>
                    <a:bodyPr/>
                    <a:lstStyle/>
                    <a:p>
                      <a:pPr marL="0" indent="0">
                        <a:buNone/>
                      </a:pPr>
                      <a:r>
                        <a:rPr lang="en-US" sz="1400" b="1" dirty="0">
                          <a:solidFill>
                            <a:schemeClr val="tx1"/>
                          </a:solidFill>
                        </a:rPr>
                        <a:t>Answers landed in the wrong columns</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cursor wasn't in column A. Delete the row, click column A, scan again.</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64">
                <a:tc>
                  <a:txBody>
                    <a:bodyPr/>
                    <a:lstStyle/>
                    <a:p>
                      <a:pPr marL="0" indent="0">
                        <a:buNone/>
                      </a:pPr>
                      <a:r>
                        <a:rPr lang="en-US" sz="1400" b="1" dirty="0">
                          <a:solidFill>
                            <a:schemeClr val="tx1"/>
                          </a:solidFill>
                        </a:rPr>
                        <a:t>The scan typed into another window</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The scanner types wherever the cursor is. Click into Excel first, then scan again.</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12064">
                <a:tc>
                  <a:txBody>
                    <a:bodyPr/>
                    <a:lstStyle/>
                    <a:p>
                      <a:pPr marL="0" indent="0">
                        <a:buNone/>
                      </a:pPr>
                      <a:r>
                        <a:rPr lang="en-US" sz="1400" b="1" dirty="0">
                          <a:solidFill>
                            <a:schemeClr val="tx1"/>
                          </a:solidFill>
                        </a:rPr>
                        <a:t>Odd letters or symbols in the cells</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Set the scanner's keyboard language to match Windows (see its manual).</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2064">
                <a:tc>
                  <a:txBody>
                    <a:bodyPr/>
                    <a:lstStyle/>
                    <a:p>
                      <a:pPr marL="0" indent="0">
                        <a:buNone/>
                      </a:pPr>
                      <a:r>
                        <a:rPr lang="en-US" sz="1400" b="1" dirty="0">
                          <a:solidFill>
                            <a:schemeClr val="tx1"/>
                          </a:solidFill>
                        </a:rPr>
                        <a:t>Excel changed a word (Depot → Depot; Outpost)</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AutoComplete is on. Turn it off and scan that row again.</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12064">
                <a:tc>
                  <a:txBody>
                    <a:bodyPr/>
                    <a:lstStyle/>
                    <a:p>
                      <a:pPr marL="0" indent="0">
                        <a:buNone/>
                      </a:pPr>
                      <a:r>
                        <a:rPr lang="en-US" sz="1400" b="1" dirty="0">
                          <a:solidFill>
                            <a:schemeClr val="tx1"/>
                          </a:solidFill>
                        </a:rPr>
                        <a:t>Can't type or scan; yellow bar at the top</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Click Enable Editing.</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2064">
                <a:tc>
                  <a:txBody>
                    <a:bodyPr/>
                    <a:lstStyle/>
                    <a:p>
                      <a:pPr marL="0" indent="0">
                        <a:buNone/>
                      </a:pPr>
                      <a:r>
                        <a:rPr lang="en-US" sz="1400" b="1" dirty="0">
                          <a:solidFill>
                            <a:schemeClr val="tx1"/>
                          </a:solidFill>
                        </a:rPr>
                        <a:t>Dashboard: "no 'Team #' column"</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Load the DERT workbook. Don't rename or move the teal headers on the Scans sheet.</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512064">
                <a:tc>
                  <a:txBody>
                    <a:bodyPr/>
                    <a:lstStyle/>
                    <a:p>
                      <a:pPr marL="0" indent="0">
                        <a:buNone/>
                      </a:pPr>
                      <a:r>
                        <a:rPr lang="en-US" sz="1400" b="1" dirty="0">
                          <a:solidFill>
                            <a:schemeClr val="tx1"/>
                          </a:solidFill>
                        </a:rPr>
                        <a:t>Dashboard doesn't show the newest matches</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Save in Excel (Ctrl + S), then click Load Excel file… again.</a:t>
                      </a:r>
                      <a:endParaRPr lang="en-US" sz="1400" dirty="0"/>
                    </a:p>
                  </a:txBody>
                  <a:tcPr marL="109728" marR="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777240"/>
          </a:xfrm>
          <a:prstGeom prst="rect">
            <a:avLst/>
          </a:prstGeom>
          <a:noFill/>
          <a:ln/>
        </p:spPr>
        <p:txBody>
          <a:bodyPr wrap="square" lIns="0" tIns="0" rIns="0" bIns="0" rtlCol="0" anchor="ctr"/>
          <a:lstStyle/>
          <a:p>
            <a:pPr marL="0" indent="0" algn="l">
              <a:buNone/>
            </a:pPr>
            <a:r>
              <a:rPr lang="en-US" sz="3600" b="1" dirty="0">
                <a:solidFill>
                  <a:schemeClr val="bg1"/>
                </a:solidFill>
              </a:rPr>
              <a:t>Event-day checklist</a:t>
            </a:r>
            <a:endParaRPr lang="en-US" sz="3600" dirty="0"/>
          </a:p>
        </p:txBody>
      </p:sp>
      <p:sp>
        <p:nvSpPr>
          <p:cNvPr id="4" name="Before the event card"/>
          <p:cNvSpPr/>
          <p:nvPr/>
        </p:nvSpPr>
        <p:spPr>
          <a:xfrm>
            <a:off x="548640" y="1417320"/>
            <a:ext cx="3515258" cy="4754880"/>
          </a:xfrm>
          <a:prstGeom prst="roundRect">
            <a:avLst>
              <a:gd name="adj" fmla="val 3121"/>
            </a:avLst>
          </a:prstGeom>
          <a:solidFill>
            <a:schemeClr val="tx2"/>
          </a:solidFill>
          <a:ln w="12700">
            <a:solidFill>
              <a:schemeClr val="tx2"/>
            </a:solidFill>
            <a:prstDash val="solid"/>
          </a:ln>
        </p:spPr>
        <p:txBody>
          <a:bodyPr/>
          <a:lstStyle/>
          <a:p>
            <a:endParaRPr lang="en-US"/>
          </a:p>
        </p:txBody>
      </p:sp>
      <p:sp>
        <p:nvSpPr>
          <p:cNvPr id="5" name="Before the event circle"/>
          <p:cNvSpPr/>
          <p:nvPr/>
        </p:nvSpPr>
        <p:spPr>
          <a:xfrm>
            <a:off x="822960" y="1691640"/>
            <a:ext cx="731520" cy="731520"/>
          </a:xfrm>
          <a:prstGeom prst="ellipse">
            <a:avLst/>
          </a:prstGeom>
          <a:solidFill>
            <a:srgbClr val="12B4AF"/>
          </a:solidFill>
          <a:ln w="12700">
            <a:solidFill>
              <a:srgbClr val="12B4AF"/>
            </a:solidFill>
            <a:prstDash val="solid"/>
          </a:ln>
        </p:spPr>
        <p:txBody>
          <a:bodyPr/>
          <a:lstStyle/>
          <a:p>
            <a:endParaRPr lang="en-US"/>
          </a:p>
        </p:txBody>
      </p:sp>
      <p:pic>
        <p:nvPicPr>
          <p:cNvPr id="6" name="Before the event" descr="Before the event"/>
          <p:cNvPicPr>
            <a:picLocks noChangeAspect="1"/>
          </p:cNvPicPr>
          <p:nvPr/>
        </p:nvPicPr>
        <p:blipFill>
          <a:blip r:embed="rId3"/>
          <a:stretch>
            <a:fillRect/>
          </a:stretch>
        </p:blipFill>
        <p:spPr>
          <a:xfrm>
            <a:off x="998525" y="1867205"/>
            <a:ext cx="380390" cy="380390"/>
          </a:xfrm>
          <a:prstGeom prst="rect">
            <a:avLst/>
          </a:prstGeom>
        </p:spPr>
      </p:pic>
      <p:sp>
        <p:nvSpPr>
          <p:cNvPr id="7" name="Text 3"/>
          <p:cNvSpPr txBox="1"/>
          <p:nvPr/>
        </p:nvSpPr>
        <p:spPr>
          <a:xfrm>
            <a:off x="822960" y="2606040"/>
            <a:ext cx="2966618" cy="457200"/>
          </a:xfrm>
          <a:prstGeom prst="rect">
            <a:avLst/>
          </a:prstGeom>
          <a:noFill/>
          <a:ln/>
        </p:spPr>
        <p:txBody>
          <a:bodyPr wrap="square" lIns="0" tIns="0" rIns="0" bIns="0" rtlCol="0" anchor="t"/>
          <a:lstStyle/>
          <a:p>
            <a:pPr marL="0" indent="0">
              <a:buNone/>
            </a:pPr>
            <a:r>
              <a:rPr lang="en-US" sz="2000" b="1" dirty="0">
                <a:solidFill>
                  <a:schemeClr val="bg1"/>
                </a:solidFill>
                <a:latin typeface="+mj-lt" pitchFamily="34" charset="0"/>
                <a:ea typeface="+mj-lt" pitchFamily="34" charset="-122"/>
                <a:cs typeface="+mj-lt" pitchFamily="34" charset="-120"/>
              </a:rPr>
              <a:t>Before the event</a:t>
            </a:r>
            <a:endParaRPr lang="en-US" sz="2000" dirty="0"/>
          </a:p>
        </p:txBody>
      </p:sp>
      <p:pic>
        <p:nvPicPr>
          <p:cNvPr id="8" name="Check" descr="check"/>
          <p:cNvPicPr>
            <a:picLocks noChangeAspect="1"/>
          </p:cNvPicPr>
          <p:nvPr/>
        </p:nvPicPr>
        <p:blipFill>
          <a:blip r:embed="rId4"/>
          <a:stretch>
            <a:fillRect/>
          </a:stretch>
        </p:blipFill>
        <p:spPr>
          <a:xfrm>
            <a:off x="822960" y="3246120"/>
            <a:ext cx="219456" cy="219456"/>
          </a:xfrm>
          <a:prstGeom prst="rect">
            <a:avLst/>
          </a:prstGeom>
        </p:spPr>
      </p:pic>
      <p:sp>
        <p:nvSpPr>
          <p:cNvPr id="9" name="Text 4"/>
          <p:cNvSpPr txBox="1"/>
          <p:nvPr/>
        </p:nvSpPr>
        <p:spPr>
          <a:xfrm>
            <a:off x="1188720" y="3200400"/>
            <a:ext cx="2600858" cy="658368"/>
          </a:xfrm>
          <a:prstGeom prst="rect">
            <a:avLst/>
          </a:prstGeom>
          <a:noFill/>
          <a:ln/>
        </p:spPr>
        <p:txBody>
          <a:bodyPr wrap="square" lIns="0" tIns="0" rIns="0" bIns="0" rtlCol="0" anchor="t"/>
          <a:lstStyle/>
          <a:p>
            <a:pPr marL="0" indent="0">
              <a:buNone/>
            </a:pPr>
            <a:r>
              <a:rPr lang="en-US" sz="1500" dirty="0">
                <a:solidFill>
                  <a:schemeClr val="bg1"/>
                </a:solidFill>
              </a:rPr>
              <a:t>App on every scout's phone, opened once on Wi-Fi</a:t>
            </a:r>
            <a:endParaRPr lang="en-US" sz="1500" dirty="0"/>
          </a:p>
        </p:txBody>
      </p:sp>
      <p:pic>
        <p:nvPicPr>
          <p:cNvPr id="10" name="Check" descr="check"/>
          <p:cNvPicPr>
            <a:picLocks noChangeAspect="1"/>
          </p:cNvPicPr>
          <p:nvPr/>
        </p:nvPicPr>
        <p:blipFill>
          <a:blip r:embed="rId4"/>
          <a:stretch>
            <a:fillRect/>
          </a:stretch>
        </p:blipFill>
        <p:spPr>
          <a:xfrm>
            <a:off x="822960" y="3959352"/>
            <a:ext cx="219456" cy="219456"/>
          </a:xfrm>
          <a:prstGeom prst="rect">
            <a:avLst/>
          </a:prstGeom>
        </p:spPr>
      </p:pic>
      <p:sp>
        <p:nvSpPr>
          <p:cNvPr id="11" name="Text 5"/>
          <p:cNvSpPr txBox="1"/>
          <p:nvPr/>
        </p:nvSpPr>
        <p:spPr>
          <a:xfrm>
            <a:off x="1188720" y="3913632"/>
            <a:ext cx="2600858" cy="658368"/>
          </a:xfrm>
          <a:prstGeom prst="rect">
            <a:avLst/>
          </a:prstGeom>
          <a:noFill/>
          <a:ln/>
        </p:spPr>
        <p:txBody>
          <a:bodyPr wrap="square" lIns="0" tIns="0" rIns="0" bIns="0" rtlCol="0" anchor="t"/>
          <a:lstStyle/>
          <a:p>
            <a:pPr marL="0" indent="0">
              <a:buNone/>
            </a:pPr>
            <a:r>
              <a:rPr lang="en-US" sz="1500" dirty="0">
                <a:solidFill>
                  <a:schemeClr val="bg1"/>
                </a:solidFill>
              </a:rPr>
              <a:t>Laptop and scanner charged</a:t>
            </a:r>
            <a:endParaRPr lang="en-US" sz="1500" dirty="0"/>
          </a:p>
        </p:txBody>
      </p:sp>
      <p:pic>
        <p:nvPicPr>
          <p:cNvPr id="12" name="Check" descr="check"/>
          <p:cNvPicPr>
            <a:picLocks noChangeAspect="1"/>
          </p:cNvPicPr>
          <p:nvPr/>
        </p:nvPicPr>
        <p:blipFill>
          <a:blip r:embed="rId4"/>
          <a:stretch>
            <a:fillRect/>
          </a:stretch>
        </p:blipFill>
        <p:spPr>
          <a:xfrm>
            <a:off x="822960" y="4672584"/>
            <a:ext cx="219456" cy="219456"/>
          </a:xfrm>
          <a:prstGeom prst="rect">
            <a:avLst/>
          </a:prstGeom>
        </p:spPr>
      </p:pic>
      <p:sp>
        <p:nvSpPr>
          <p:cNvPr id="13" name="Text 6"/>
          <p:cNvSpPr txBox="1"/>
          <p:nvPr/>
        </p:nvSpPr>
        <p:spPr>
          <a:xfrm>
            <a:off x="1188720" y="4626864"/>
            <a:ext cx="2600858" cy="658368"/>
          </a:xfrm>
          <a:prstGeom prst="rect">
            <a:avLst/>
          </a:prstGeom>
          <a:noFill/>
          <a:ln/>
        </p:spPr>
        <p:txBody>
          <a:bodyPr wrap="square" lIns="0" tIns="0" rIns="0" bIns="0" rtlCol="0" anchor="t"/>
          <a:lstStyle/>
          <a:p>
            <a:pPr marL="0" indent="0">
              <a:buNone/>
            </a:pPr>
            <a:r>
              <a:rPr lang="en-US" sz="1500" dirty="0">
                <a:solidFill>
                  <a:schemeClr val="bg1"/>
                </a:solidFill>
              </a:rPr>
              <a:t>AutoComplete off, scanner tested in Notepad</a:t>
            </a:r>
            <a:endParaRPr lang="en-US" sz="1500" dirty="0"/>
          </a:p>
        </p:txBody>
      </p:sp>
      <p:pic>
        <p:nvPicPr>
          <p:cNvPr id="14" name="Check" descr="check"/>
          <p:cNvPicPr>
            <a:picLocks noChangeAspect="1"/>
          </p:cNvPicPr>
          <p:nvPr/>
        </p:nvPicPr>
        <p:blipFill>
          <a:blip r:embed="rId4"/>
          <a:stretch>
            <a:fillRect/>
          </a:stretch>
        </p:blipFill>
        <p:spPr>
          <a:xfrm>
            <a:off x="822960" y="5385816"/>
            <a:ext cx="219456" cy="219456"/>
          </a:xfrm>
          <a:prstGeom prst="rect">
            <a:avLst/>
          </a:prstGeom>
        </p:spPr>
      </p:pic>
      <p:sp>
        <p:nvSpPr>
          <p:cNvPr id="15" name="Text 7"/>
          <p:cNvSpPr txBox="1"/>
          <p:nvPr/>
        </p:nvSpPr>
        <p:spPr>
          <a:xfrm>
            <a:off x="1188720" y="5340096"/>
            <a:ext cx="2600858" cy="658368"/>
          </a:xfrm>
          <a:prstGeom prst="rect">
            <a:avLst/>
          </a:prstGeom>
          <a:noFill/>
          <a:ln/>
        </p:spPr>
        <p:txBody>
          <a:bodyPr wrap="square" lIns="0" tIns="0" rIns="0" bIns="0" rtlCol="0" anchor="t"/>
          <a:lstStyle/>
          <a:p>
            <a:pPr marL="0" indent="0">
              <a:buNone/>
            </a:pPr>
            <a:r>
              <a:rPr lang="en-US" sz="1500" dirty="0">
                <a:solidFill>
                  <a:schemeClr val="bg1"/>
                </a:solidFill>
              </a:rPr>
              <a:t>A fresh copy of the workbook</a:t>
            </a:r>
            <a:endParaRPr lang="en-US" sz="1500" dirty="0"/>
          </a:p>
        </p:txBody>
      </p:sp>
      <p:sp>
        <p:nvSpPr>
          <p:cNvPr id="16" name="During matches card"/>
          <p:cNvSpPr/>
          <p:nvPr/>
        </p:nvSpPr>
        <p:spPr>
          <a:xfrm>
            <a:off x="4338218" y="1417320"/>
            <a:ext cx="3515258" cy="4754880"/>
          </a:xfrm>
          <a:prstGeom prst="roundRect">
            <a:avLst>
              <a:gd name="adj" fmla="val 3121"/>
            </a:avLst>
          </a:prstGeom>
          <a:solidFill>
            <a:schemeClr val="tx2"/>
          </a:solidFill>
          <a:ln w="12700">
            <a:solidFill>
              <a:schemeClr val="tx2"/>
            </a:solidFill>
            <a:prstDash val="solid"/>
          </a:ln>
        </p:spPr>
        <p:txBody>
          <a:bodyPr/>
          <a:lstStyle/>
          <a:p>
            <a:endParaRPr lang="en-US"/>
          </a:p>
        </p:txBody>
      </p:sp>
      <p:sp>
        <p:nvSpPr>
          <p:cNvPr id="17" name="During matches circle"/>
          <p:cNvSpPr/>
          <p:nvPr/>
        </p:nvSpPr>
        <p:spPr>
          <a:xfrm>
            <a:off x="4612538" y="1691640"/>
            <a:ext cx="731520" cy="731520"/>
          </a:xfrm>
          <a:prstGeom prst="ellipse">
            <a:avLst/>
          </a:prstGeom>
          <a:solidFill>
            <a:srgbClr val="12B4AF"/>
          </a:solidFill>
          <a:ln w="12700">
            <a:solidFill>
              <a:srgbClr val="12B4AF"/>
            </a:solidFill>
            <a:prstDash val="solid"/>
          </a:ln>
        </p:spPr>
        <p:txBody>
          <a:bodyPr/>
          <a:lstStyle/>
          <a:p>
            <a:endParaRPr lang="en-US"/>
          </a:p>
        </p:txBody>
      </p:sp>
      <p:pic>
        <p:nvPicPr>
          <p:cNvPr id="18" name="During matches" descr="During matches"/>
          <p:cNvPicPr>
            <a:picLocks noChangeAspect="1"/>
          </p:cNvPicPr>
          <p:nvPr/>
        </p:nvPicPr>
        <p:blipFill>
          <a:blip r:embed="rId5"/>
          <a:stretch>
            <a:fillRect/>
          </a:stretch>
        </p:blipFill>
        <p:spPr>
          <a:xfrm>
            <a:off x="4788103" y="1867205"/>
            <a:ext cx="380390" cy="380390"/>
          </a:xfrm>
          <a:prstGeom prst="rect">
            <a:avLst/>
          </a:prstGeom>
        </p:spPr>
      </p:pic>
      <p:sp>
        <p:nvSpPr>
          <p:cNvPr id="19" name="Text 10"/>
          <p:cNvSpPr txBox="1"/>
          <p:nvPr/>
        </p:nvSpPr>
        <p:spPr>
          <a:xfrm>
            <a:off x="4612538" y="2606040"/>
            <a:ext cx="2966618" cy="457200"/>
          </a:xfrm>
          <a:prstGeom prst="rect">
            <a:avLst/>
          </a:prstGeom>
          <a:noFill/>
          <a:ln/>
        </p:spPr>
        <p:txBody>
          <a:bodyPr wrap="square" lIns="0" tIns="0" rIns="0" bIns="0" rtlCol="0" anchor="t"/>
          <a:lstStyle/>
          <a:p>
            <a:pPr marL="0" indent="0">
              <a:buNone/>
            </a:pPr>
            <a:r>
              <a:rPr lang="en-US" sz="2000" b="1" dirty="0">
                <a:solidFill>
                  <a:schemeClr val="bg1"/>
                </a:solidFill>
                <a:latin typeface="+mj-lt" pitchFamily="34" charset="0"/>
                <a:ea typeface="+mj-lt" pitchFamily="34" charset="-122"/>
                <a:cs typeface="+mj-lt" pitchFamily="34" charset="-120"/>
              </a:rPr>
              <a:t>During matches</a:t>
            </a:r>
            <a:endParaRPr lang="en-US" sz="2000" dirty="0"/>
          </a:p>
        </p:txBody>
      </p:sp>
      <p:pic>
        <p:nvPicPr>
          <p:cNvPr id="20" name="Check" descr="check"/>
          <p:cNvPicPr>
            <a:picLocks noChangeAspect="1"/>
          </p:cNvPicPr>
          <p:nvPr/>
        </p:nvPicPr>
        <p:blipFill>
          <a:blip r:embed="rId4"/>
          <a:stretch>
            <a:fillRect/>
          </a:stretch>
        </p:blipFill>
        <p:spPr>
          <a:xfrm>
            <a:off x="4612538" y="3246120"/>
            <a:ext cx="219456" cy="219456"/>
          </a:xfrm>
          <a:prstGeom prst="rect">
            <a:avLst/>
          </a:prstGeom>
        </p:spPr>
      </p:pic>
      <p:sp>
        <p:nvSpPr>
          <p:cNvPr id="21" name="Text 11"/>
          <p:cNvSpPr txBox="1"/>
          <p:nvPr/>
        </p:nvSpPr>
        <p:spPr>
          <a:xfrm>
            <a:off x="4978298" y="3200400"/>
            <a:ext cx="2600858" cy="658368"/>
          </a:xfrm>
          <a:prstGeom prst="rect">
            <a:avLst/>
          </a:prstGeom>
          <a:noFill/>
          <a:ln/>
        </p:spPr>
        <p:txBody>
          <a:bodyPr wrap="square" lIns="0" tIns="0" rIns="0" bIns="0" rtlCol="0" anchor="t"/>
          <a:lstStyle/>
          <a:p>
            <a:pPr marL="0" indent="0">
              <a:buNone/>
            </a:pPr>
            <a:r>
              <a:rPr lang="en-US" sz="1500" dirty="0">
                <a:solidFill>
                  <a:schemeClr val="bg1"/>
                </a:solidFill>
              </a:rPr>
              <a:t>Scan every QR code right after the match</a:t>
            </a:r>
            <a:endParaRPr lang="en-US" sz="1500" dirty="0"/>
          </a:p>
        </p:txBody>
      </p:sp>
      <p:pic>
        <p:nvPicPr>
          <p:cNvPr id="22" name="Check" descr="check"/>
          <p:cNvPicPr>
            <a:picLocks noChangeAspect="1"/>
          </p:cNvPicPr>
          <p:nvPr/>
        </p:nvPicPr>
        <p:blipFill>
          <a:blip r:embed="rId4"/>
          <a:stretch>
            <a:fillRect/>
          </a:stretch>
        </p:blipFill>
        <p:spPr>
          <a:xfrm>
            <a:off x="4612538" y="3959352"/>
            <a:ext cx="219456" cy="219456"/>
          </a:xfrm>
          <a:prstGeom prst="rect">
            <a:avLst/>
          </a:prstGeom>
        </p:spPr>
      </p:pic>
      <p:sp>
        <p:nvSpPr>
          <p:cNvPr id="23" name="Text 12"/>
          <p:cNvSpPr txBox="1"/>
          <p:nvPr/>
        </p:nvSpPr>
        <p:spPr>
          <a:xfrm>
            <a:off x="4978298" y="3913632"/>
            <a:ext cx="2600858" cy="658368"/>
          </a:xfrm>
          <a:prstGeom prst="rect">
            <a:avLst/>
          </a:prstGeom>
          <a:noFill/>
          <a:ln/>
        </p:spPr>
        <p:txBody>
          <a:bodyPr wrap="square" lIns="0" tIns="0" rIns="0" bIns="0" rtlCol="0" anchor="t"/>
          <a:lstStyle/>
          <a:p>
            <a:pPr marL="0" indent="0">
              <a:buNone/>
            </a:pPr>
            <a:r>
              <a:rPr lang="en-US" sz="1500" dirty="0">
                <a:solidFill>
                  <a:schemeClr val="bg1"/>
                </a:solidFill>
              </a:rPr>
              <a:t>Expect 6 QR codes per match: find any missing scout</a:t>
            </a:r>
            <a:endParaRPr lang="en-US" sz="1500" dirty="0"/>
          </a:p>
        </p:txBody>
      </p:sp>
      <p:pic>
        <p:nvPicPr>
          <p:cNvPr id="24" name="Check" descr="check"/>
          <p:cNvPicPr>
            <a:picLocks noChangeAspect="1"/>
          </p:cNvPicPr>
          <p:nvPr/>
        </p:nvPicPr>
        <p:blipFill>
          <a:blip r:embed="rId4"/>
          <a:stretch>
            <a:fillRect/>
          </a:stretch>
        </p:blipFill>
        <p:spPr>
          <a:xfrm>
            <a:off x="4612538" y="4672584"/>
            <a:ext cx="219456" cy="219456"/>
          </a:xfrm>
          <a:prstGeom prst="rect">
            <a:avLst/>
          </a:prstGeom>
        </p:spPr>
      </p:pic>
      <p:sp>
        <p:nvSpPr>
          <p:cNvPr id="25" name="Text 13"/>
          <p:cNvSpPr txBox="1"/>
          <p:nvPr/>
        </p:nvSpPr>
        <p:spPr>
          <a:xfrm>
            <a:off x="4978298" y="4626864"/>
            <a:ext cx="2600858" cy="658368"/>
          </a:xfrm>
          <a:prstGeom prst="rect">
            <a:avLst/>
          </a:prstGeom>
          <a:noFill/>
          <a:ln/>
        </p:spPr>
        <p:txBody>
          <a:bodyPr wrap="square" lIns="0" tIns="0" rIns="0" bIns="0" rtlCol="0" anchor="t"/>
          <a:lstStyle/>
          <a:p>
            <a:pPr marL="0" indent="0">
              <a:buNone/>
            </a:pPr>
            <a:r>
              <a:rPr lang="en-US" sz="1500" dirty="0">
                <a:solidFill>
                  <a:schemeClr val="bg1"/>
                </a:solidFill>
              </a:rPr>
              <a:t>Save with Ctrl + S every few scans</a:t>
            </a:r>
            <a:endParaRPr lang="en-US" sz="1500" dirty="0"/>
          </a:p>
        </p:txBody>
      </p:sp>
      <p:sp>
        <p:nvSpPr>
          <p:cNvPr id="26" name="Alliance selection card"/>
          <p:cNvSpPr/>
          <p:nvPr/>
        </p:nvSpPr>
        <p:spPr>
          <a:xfrm>
            <a:off x="8127797" y="1417320"/>
            <a:ext cx="3515258" cy="4754880"/>
          </a:xfrm>
          <a:prstGeom prst="roundRect">
            <a:avLst>
              <a:gd name="adj" fmla="val 3121"/>
            </a:avLst>
          </a:prstGeom>
          <a:solidFill>
            <a:schemeClr val="tx2"/>
          </a:solidFill>
          <a:ln w="12700">
            <a:solidFill>
              <a:schemeClr val="tx2"/>
            </a:solidFill>
            <a:prstDash val="solid"/>
          </a:ln>
        </p:spPr>
        <p:txBody>
          <a:bodyPr/>
          <a:lstStyle/>
          <a:p>
            <a:endParaRPr lang="en-US"/>
          </a:p>
        </p:txBody>
      </p:sp>
      <p:sp>
        <p:nvSpPr>
          <p:cNvPr id="27" name="Alliance selection circle"/>
          <p:cNvSpPr/>
          <p:nvPr/>
        </p:nvSpPr>
        <p:spPr>
          <a:xfrm>
            <a:off x="8402117" y="1691640"/>
            <a:ext cx="731520" cy="731520"/>
          </a:xfrm>
          <a:prstGeom prst="ellipse">
            <a:avLst/>
          </a:prstGeom>
          <a:solidFill>
            <a:srgbClr val="12B4AF"/>
          </a:solidFill>
          <a:ln w="12700">
            <a:solidFill>
              <a:srgbClr val="12B4AF"/>
            </a:solidFill>
            <a:prstDash val="solid"/>
          </a:ln>
        </p:spPr>
        <p:txBody>
          <a:bodyPr/>
          <a:lstStyle/>
          <a:p>
            <a:endParaRPr lang="en-US"/>
          </a:p>
        </p:txBody>
      </p:sp>
      <p:pic>
        <p:nvPicPr>
          <p:cNvPr id="28" name="Alliance selection" descr="Alliance selection"/>
          <p:cNvPicPr>
            <a:picLocks noChangeAspect="1"/>
          </p:cNvPicPr>
          <p:nvPr/>
        </p:nvPicPr>
        <p:blipFill>
          <a:blip r:embed="rId6"/>
          <a:stretch>
            <a:fillRect/>
          </a:stretch>
        </p:blipFill>
        <p:spPr>
          <a:xfrm>
            <a:off x="8577682" y="1867205"/>
            <a:ext cx="380390" cy="380390"/>
          </a:xfrm>
          <a:prstGeom prst="rect">
            <a:avLst/>
          </a:prstGeom>
        </p:spPr>
      </p:pic>
      <p:sp>
        <p:nvSpPr>
          <p:cNvPr id="29" name="Text 16"/>
          <p:cNvSpPr txBox="1"/>
          <p:nvPr/>
        </p:nvSpPr>
        <p:spPr>
          <a:xfrm>
            <a:off x="8402117" y="2606040"/>
            <a:ext cx="2966618" cy="457200"/>
          </a:xfrm>
          <a:prstGeom prst="rect">
            <a:avLst/>
          </a:prstGeom>
          <a:noFill/>
          <a:ln/>
        </p:spPr>
        <p:txBody>
          <a:bodyPr wrap="square" lIns="0" tIns="0" rIns="0" bIns="0" rtlCol="0" anchor="t"/>
          <a:lstStyle/>
          <a:p>
            <a:pPr marL="0" indent="0">
              <a:buNone/>
            </a:pPr>
            <a:r>
              <a:rPr lang="en-US" sz="2000" b="1" dirty="0">
                <a:solidFill>
                  <a:schemeClr val="bg1"/>
                </a:solidFill>
                <a:latin typeface="+mj-lt" pitchFamily="34" charset="0"/>
                <a:ea typeface="+mj-lt" pitchFamily="34" charset="-122"/>
                <a:cs typeface="+mj-lt" pitchFamily="34" charset="-120"/>
              </a:rPr>
              <a:t>Alliance selection</a:t>
            </a:r>
            <a:endParaRPr lang="en-US" sz="2000" dirty="0"/>
          </a:p>
        </p:txBody>
      </p:sp>
      <p:pic>
        <p:nvPicPr>
          <p:cNvPr id="30" name="Check" descr="check"/>
          <p:cNvPicPr>
            <a:picLocks noChangeAspect="1"/>
          </p:cNvPicPr>
          <p:nvPr/>
        </p:nvPicPr>
        <p:blipFill>
          <a:blip r:embed="rId4"/>
          <a:stretch>
            <a:fillRect/>
          </a:stretch>
        </p:blipFill>
        <p:spPr>
          <a:xfrm>
            <a:off x="8402117" y="3246120"/>
            <a:ext cx="219456" cy="219456"/>
          </a:xfrm>
          <a:prstGeom prst="rect">
            <a:avLst/>
          </a:prstGeom>
        </p:spPr>
      </p:pic>
      <p:sp>
        <p:nvSpPr>
          <p:cNvPr id="31" name="Text 17"/>
          <p:cNvSpPr txBox="1"/>
          <p:nvPr/>
        </p:nvSpPr>
        <p:spPr>
          <a:xfrm>
            <a:off x="8767877" y="3200400"/>
            <a:ext cx="2600858" cy="658368"/>
          </a:xfrm>
          <a:prstGeom prst="rect">
            <a:avLst/>
          </a:prstGeom>
          <a:noFill/>
          <a:ln/>
        </p:spPr>
        <p:txBody>
          <a:bodyPr wrap="square" lIns="0" tIns="0" rIns="0" bIns="0" rtlCol="0" anchor="t"/>
          <a:lstStyle/>
          <a:p>
            <a:pPr marL="0" indent="0">
              <a:buNone/>
            </a:pPr>
            <a:r>
              <a:rPr lang="en-US" sz="1500" dirty="0">
                <a:solidFill>
                  <a:schemeClr val="bg1"/>
                </a:solidFill>
              </a:rPr>
              <a:t>Save, then Load Excel file… in the dashboard</a:t>
            </a:r>
            <a:endParaRPr lang="en-US" sz="1500" dirty="0"/>
          </a:p>
        </p:txBody>
      </p:sp>
      <p:pic>
        <p:nvPicPr>
          <p:cNvPr id="32" name="Check" descr="check"/>
          <p:cNvPicPr>
            <a:picLocks noChangeAspect="1"/>
          </p:cNvPicPr>
          <p:nvPr/>
        </p:nvPicPr>
        <p:blipFill>
          <a:blip r:embed="rId4"/>
          <a:stretch>
            <a:fillRect/>
          </a:stretch>
        </p:blipFill>
        <p:spPr>
          <a:xfrm>
            <a:off x="8402117" y="3959352"/>
            <a:ext cx="219456" cy="219456"/>
          </a:xfrm>
          <a:prstGeom prst="rect">
            <a:avLst/>
          </a:prstGeom>
        </p:spPr>
      </p:pic>
      <p:sp>
        <p:nvSpPr>
          <p:cNvPr id="33" name="Text 18"/>
          <p:cNvSpPr txBox="1"/>
          <p:nvPr/>
        </p:nvSpPr>
        <p:spPr>
          <a:xfrm>
            <a:off x="8767877" y="3913632"/>
            <a:ext cx="2600858" cy="658368"/>
          </a:xfrm>
          <a:prstGeom prst="rect">
            <a:avLst/>
          </a:prstGeom>
          <a:noFill/>
          <a:ln/>
        </p:spPr>
        <p:txBody>
          <a:bodyPr wrap="square" lIns="0" tIns="0" rIns="0" bIns="0" rtlCol="0" anchor="t"/>
          <a:lstStyle/>
          <a:p>
            <a:pPr marL="0" indent="0">
              <a:buNone/>
            </a:pPr>
            <a:r>
              <a:rPr lang="en-US" sz="1500" dirty="0">
                <a:solidFill>
                  <a:schemeClr val="bg1"/>
                </a:solidFill>
              </a:rPr>
              <a:t>Pick a preset and adjust the sliders</a:t>
            </a:r>
            <a:endParaRPr lang="en-US" sz="1500" dirty="0"/>
          </a:p>
        </p:txBody>
      </p:sp>
      <p:pic>
        <p:nvPicPr>
          <p:cNvPr id="34" name="Check" descr="check"/>
          <p:cNvPicPr>
            <a:picLocks noChangeAspect="1"/>
          </p:cNvPicPr>
          <p:nvPr/>
        </p:nvPicPr>
        <p:blipFill>
          <a:blip r:embed="rId4"/>
          <a:stretch>
            <a:fillRect/>
          </a:stretch>
        </p:blipFill>
        <p:spPr>
          <a:xfrm>
            <a:off x="8402117" y="4672584"/>
            <a:ext cx="219456" cy="219456"/>
          </a:xfrm>
          <a:prstGeom prst="rect">
            <a:avLst/>
          </a:prstGeom>
        </p:spPr>
      </p:pic>
      <p:sp>
        <p:nvSpPr>
          <p:cNvPr id="35" name="Text 19"/>
          <p:cNvSpPr txBox="1"/>
          <p:nvPr/>
        </p:nvSpPr>
        <p:spPr>
          <a:xfrm>
            <a:off x="8767877" y="4626864"/>
            <a:ext cx="2600858" cy="658368"/>
          </a:xfrm>
          <a:prstGeom prst="rect">
            <a:avLst/>
          </a:prstGeom>
          <a:noFill/>
          <a:ln/>
        </p:spPr>
        <p:txBody>
          <a:bodyPr wrap="square" lIns="0" tIns="0" rIns="0" bIns="0" rtlCol="0" anchor="t"/>
          <a:lstStyle/>
          <a:p>
            <a:pPr marL="0" indent="0">
              <a:buNone/>
            </a:pPr>
            <a:r>
              <a:rPr lang="en-US" sz="1500" dirty="0">
                <a:solidFill>
                  <a:schemeClr val="bg1"/>
                </a:solidFill>
              </a:rPr>
              <a:t>Mark teams ✓ or ✕ as they get picked</a:t>
            </a:r>
            <a:endParaRPr lang="en-US" sz="15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1"/>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DERT Scouting">
  <a:themeElements>
    <a:clrScheme name="DERT Scouting">
      <a:dk1>
        <a:srgbClr val="1C1C1C"/>
      </a:dk1>
      <a:lt1>
        <a:srgbClr val="FFFFFF"/>
      </a:lt1>
      <a:dk2>
        <a:srgbClr val="4F5D5D"/>
      </a:dk2>
      <a:lt2>
        <a:srgbClr val="E8F5F4"/>
      </a:lt2>
      <a:accent1>
        <a:srgbClr val="12B4AF"/>
      </a:accent1>
      <a:accent2>
        <a:srgbClr val="0E8F8B"/>
      </a:accent2>
      <a:accent3>
        <a:srgbClr val="F5A623"/>
      </a:accent3>
      <a:accent4>
        <a:srgbClr val="D63A3A"/>
      </a:accent4>
      <a:accent5>
        <a:srgbClr val="1F6FD1"/>
      </a:accent5>
      <a:accent6>
        <a:srgbClr val="1E7145"/>
      </a:accent6>
      <a:hlink>
        <a:srgbClr val="0E8F8B"/>
      </a:hlink>
      <a:folHlink>
        <a:srgbClr val="0B6B68"/>
      </a:folHlink>
    </a:clrScheme>
    <a:fontScheme name="DERT Scou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4318</Words>
  <Application>Microsoft Office PowerPoint</Application>
  <PresentationFormat>Widescreen</PresentationFormat>
  <Paragraphs>825</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Consolas</vt:lpstr>
      <vt:lpstr>DERT Scouting</vt:lpstr>
      <vt:lpstr>Scouting: from the stands to the pick list</vt:lpstr>
      <vt:lpstr>How our scouting works</vt:lpstr>
      <vt:lpstr>The scouting form</vt:lpstr>
      <vt:lpstr>Put the form on your phone</vt:lpstr>
      <vt:lpstr>Before the match starts</vt:lpstr>
      <vt:lpstr>How the buttons work</vt:lpstr>
      <vt:lpstr>During the match: watch only your robot</vt:lpstr>
      <vt:lpstr>After the match: rate it and add notes</vt:lpstr>
      <vt:lpstr>Submit and show your QR code</vt:lpstr>
      <vt:lpstr>Scout do's and don'ts</vt:lpstr>
      <vt:lpstr>Scanning into Excel</vt:lpstr>
      <vt:lpstr>What the Strategy Lead needs</vt:lpstr>
      <vt:lpstr>Excel in 60 seconds</vt:lpstr>
      <vt:lpstr>Set up Excel once, before the event</vt:lpstr>
      <vt:lpstr>Test the scanner in Notepad</vt:lpstr>
      <vt:lpstr>Scan a QR code into Excel</vt:lpstr>
      <vt:lpstr>Fixing mistakes</vt:lpstr>
      <vt:lpstr>See the results in Excel</vt:lpstr>
      <vt:lpstr>From scans to a pick list</vt:lpstr>
      <vt:lpstr>Update the dashboard</vt:lpstr>
      <vt:lpstr>Read the pick list</vt:lpstr>
      <vt:lpstr>Look closer at one team</vt:lpstr>
      <vt:lpstr>Troubleshooting</vt:lpstr>
      <vt:lpstr>Event-day checklist</vt:lpstr>
    </vt:vector>
  </TitlesOfParts>
  <Company>DERT #2040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DERT #2040 Scouting Training</dc:title>
  <dc:subject>How to use the scouting form, scan QR codes into Excel and update the dashboard</dc:subject>
  <dc:creator>DERT #2040</dc:creator>
  <cp:lastModifiedBy>Johan Dahlin</cp:lastModifiedBy>
  <cp:revision>2</cp:revision>
  <dcterms:created xsi:type="dcterms:W3CDTF">2026-10-20T23:56:38Z</dcterms:created>
  <dcterms:modified xsi:type="dcterms:W3CDTF">2026-10-21T00:03:32Z</dcterms:modified>
</cp:coreProperties>
</file>